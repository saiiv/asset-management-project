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49381df2cf4fb1" /><Relationship Type="http://schemas.openxmlformats.org/officeDocument/2006/relationships/extended-properties" Target="/docProps/app.xml" Id="R26a37843c85a45dd" /><Relationship Type="http://schemas.openxmlformats.org/officeDocument/2006/relationships/officeDocument" Target="/ppt/presentation.xml" Id="Re3cafc3312904e9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2d21a9f909b47d6"/>
  </p:sldMasterIdLst>
  <p:notesMasterIdLst>
    <p:notesMasterId xmlns:r="http://schemas.openxmlformats.org/officeDocument/2006/relationships" r:id="Rdacce2dd650a45ce"/>
  </p:notesMasterIdLst>
  <p:sldIdLst>
    <p:sldId xmlns:r="http://schemas.openxmlformats.org/officeDocument/2006/relationships" id="256" r:id="R1fd6903629e94ea3"/>
    <p:sldId xmlns:r="http://schemas.openxmlformats.org/officeDocument/2006/relationships" id="257" r:id="R35858e7b939248be"/>
    <p:sldId xmlns:r="http://schemas.openxmlformats.org/officeDocument/2006/relationships" id="258" r:id="Ra9d6ee8e3c4445c3"/>
    <p:sldId xmlns:r="http://schemas.openxmlformats.org/officeDocument/2006/relationships" id="259" r:id="Rbbd10c520c5546d4"/>
    <p:sldId xmlns:r="http://schemas.openxmlformats.org/officeDocument/2006/relationships" id="260" r:id="R45ae79ccd1474dbe"/>
    <p:sldId xmlns:r="http://schemas.openxmlformats.org/officeDocument/2006/relationships" id="261" r:id="Re79489c5ac62406e"/>
    <p:sldId xmlns:r="http://schemas.openxmlformats.org/officeDocument/2006/relationships" id="262" r:id="Reda8cce19a214dbd"/>
    <p:sldId xmlns:r="http://schemas.openxmlformats.org/officeDocument/2006/relationships" id="263" r:id="R7aeb629e0a754b8d"/>
    <p:sldId xmlns:r="http://schemas.openxmlformats.org/officeDocument/2006/relationships" id="264" r:id="R1281cc7b6b8343b0"/>
    <p:sldId xmlns:r="http://schemas.openxmlformats.org/officeDocument/2006/relationships" id="265" r:id="Rb4438d5c4ead411b"/>
    <p:sldId xmlns:r="http://schemas.openxmlformats.org/officeDocument/2006/relationships" id="266" r:id="R855dcb529f2a42d6"/>
    <p:sldId xmlns:r="http://schemas.openxmlformats.org/officeDocument/2006/relationships" id="267" r:id="R3d05e8a7e4124b3f"/>
  </p:sldIdLst>
  <p:sldSz cx="12192000" cy="6858000"/>
  <p:notesSz cx="6858000" cy="9144000"/>
  <p:embeddedFontLst>
    <p:embeddedFont>
      <p:font typeface="Inter"/>
      <p:regular xmlns:r="http://schemas.openxmlformats.org/officeDocument/2006/relationships" r:id="R6fd9523cba5c4a01"/>
      <p:bold xmlns:r="http://schemas.openxmlformats.org/officeDocument/2006/relationships" r:id="R81dddb75d04a4dd1"/>
    </p:embeddedFont>
    <p:embeddedFont>
      <p:font typeface="Inter Medium"/>
      <p:regular xmlns:r="http://schemas.openxmlformats.org/officeDocument/2006/relationships" r:id="Rfbea4762124e46e8"/>
    </p:embeddedFont>
    <p:embeddedFont>
      <p:font typeface="Inter SemiBold"/>
      <p:regular xmlns:r="http://schemas.openxmlformats.org/officeDocument/2006/relationships" r:id="Rbc005659f96e4eff"/>
      <p:bold xmlns:r="http://schemas.openxmlformats.org/officeDocument/2006/relationships" r:id="Re586fdecaea140e4"/>
    </p:embeddedFont>
    <p:embeddedFont>
      <p:font typeface="OpenAI Sans"/>
      <p:regular xmlns:r="http://schemas.openxmlformats.org/officeDocument/2006/relationships" r:id="Rff0ccebba5a54e2e"/>
      <p:bold xmlns:r="http://schemas.openxmlformats.org/officeDocument/2006/relationships" r:id="R511fa8a8463f4e84"/>
      <p:italic xmlns:r="http://schemas.openxmlformats.org/officeDocument/2006/relationships" r:id="Rf3de7fdb49d540ca"/>
      <p:boldItalic xmlns:r="http://schemas.openxmlformats.org/officeDocument/2006/relationships" r:id="R5ad8b250bea146d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d195c6add19427c" /><Relationship Type="http://schemas.openxmlformats.org/officeDocument/2006/relationships/slideMaster" Target="/ppt/slideMasters/slideMaster1.xml" Id="R32d21a9f909b47d6" /><Relationship Type="http://schemas.openxmlformats.org/officeDocument/2006/relationships/notesMaster" Target="/ppt/notesMasters/notesMaster1.xml" Id="Rdacce2dd650a45ce" /><Relationship Type="http://schemas.openxmlformats.org/officeDocument/2006/relationships/presProps" Target="/ppt/presProps.xml" Id="Ra586317f79b74811" /><Relationship Type="http://schemas.openxmlformats.org/officeDocument/2006/relationships/viewProps" Target="/ppt/viewProps.xml" Id="R723114153f3e4816" /><Relationship Type="http://schemas.openxmlformats.org/officeDocument/2006/relationships/tableStyles" Target="/ppt/tableStyles.xml" Id="Re75cf1f8653c4405" /><Relationship Type="http://schemas.openxmlformats.org/officeDocument/2006/relationships/font" Target="/ppt/fonts/font.dat" Id="R6fd9523cba5c4a01" /><Relationship Type="http://schemas.openxmlformats.org/officeDocument/2006/relationships/font" Target="/ppt/fonts/font2.dat" Id="R81dddb75d04a4dd1" /><Relationship Type="http://schemas.openxmlformats.org/officeDocument/2006/relationships/font" Target="/ppt/fonts/font3.dat" Id="Rfbea4762124e46e8" /><Relationship Type="http://schemas.openxmlformats.org/officeDocument/2006/relationships/font" Target="/ppt/fonts/font4.dat" Id="Rbc005659f96e4eff" /><Relationship Type="http://schemas.openxmlformats.org/officeDocument/2006/relationships/font" Target="/ppt/fonts/font5.dat" Id="Re586fdecaea140e4" /><Relationship Type="http://schemas.openxmlformats.org/officeDocument/2006/relationships/font" Target="/ppt/fonts/font6.dat" Id="Rff0ccebba5a54e2e" /><Relationship Type="http://schemas.openxmlformats.org/officeDocument/2006/relationships/font" Target="/ppt/fonts/font7.dat" Id="R511fa8a8463f4e84" /><Relationship Type="http://schemas.openxmlformats.org/officeDocument/2006/relationships/font" Target="/ppt/fonts/font8.dat" Id="Rf3de7fdb49d540ca" /><Relationship Type="http://schemas.openxmlformats.org/officeDocument/2006/relationships/font" Target="/ppt/fonts/font9.dat" Id="R5ad8b250bea146d8" /><Relationship Type="http://schemas.openxmlformats.org/officeDocument/2006/relationships/slide" Target="/ppt/slides/slide1.xml" Id="R1fd6903629e94ea3" /><Relationship Type="http://schemas.openxmlformats.org/officeDocument/2006/relationships/slide" Target="/ppt/slides/slide2.xml" Id="R35858e7b939248be" /><Relationship Type="http://schemas.openxmlformats.org/officeDocument/2006/relationships/slide" Target="/ppt/slides/slide3.xml" Id="Ra9d6ee8e3c4445c3" /><Relationship Type="http://schemas.openxmlformats.org/officeDocument/2006/relationships/slide" Target="/ppt/slides/slide4.xml" Id="Rbbd10c520c5546d4" /><Relationship Type="http://schemas.openxmlformats.org/officeDocument/2006/relationships/slide" Target="/ppt/slides/slide5.xml" Id="R45ae79ccd1474dbe" /><Relationship Type="http://schemas.openxmlformats.org/officeDocument/2006/relationships/slide" Target="/ppt/slides/slide6.xml" Id="Re79489c5ac62406e" /><Relationship Type="http://schemas.openxmlformats.org/officeDocument/2006/relationships/slide" Target="/ppt/slides/slide7.xml" Id="Reda8cce19a214dbd" /><Relationship Type="http://schemas.openxmlformats.org/officeDocument/2006/relationships/slide" Target="/ppt/slides/slide8.xml" Id="R7aeb629e0a754b8d" /><Relationship Type="http://schemas.openxmlformats.org/officeDocument/2006/relationships/slide" Target="/ppt/slides/slide9.xml" Id="R1281cc7b6b8343b0" /><Relationship Type="http://schemas.openxmlformats.org/officeDocument/2006/relationships/slide" Target="/ppt/slides/slide10.xml" Id="Rb4438d5c4ead411b" /><Relationship Type="http://schemas.openxmlformats.org/officeDocument/2006/relationships/slide" Target="/ppt/slides/slide11.xml" Id="R855dcb529f2a42d6" /><Relationship Type="http://schemas.openxmlformats.org/officeDocument/2006/relationships/slide" Target="/ppt/slides/slide12.xml" Id="R3d05e8a7e4124b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57ca3d51b14b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27523301f34f37" /><Relationship Type="http://schemas.openxmlformats.org/officeDocument/2006/relationships/notesMaster" Target="/ppt/notesMasters/notesMaster1.xml" Id="Rcdc4985d0b6e45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9712c84db14e35" /><Relationship Type="http://schemas.openxmlformats.org/officeDocument/2006/relationships/notesMaster" Target="/ppt/notesMasters/notesMaster1.xml" Id="R7238ae8ab6664d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5ba26f7d9f4a59" /><Relationship Type="http://schemas.openxmlformats.org/officeDocument/2006/relationships/notesMaster" Target="/ppt/notesMasters/notesMaster1.xml" Id="R52f34ebf62e041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df96d40f14439b" /><Relationship Type="http://schemas.openxmlformats.org/officeDocument/2006/relationships/notesMaster" Target="/ppt/notesMasters/notesMaster1.xml" Id="R2468ebf30b0d4c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a7578061164ded" /><Relationship Type="http://schemas.openxmlformats.org/officeDocument/2006/relationships/notesMaster" Target="/ppt/notesMasters/notesMaster1.xml" Id="R621cc428507e41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2d11527d37465a" /><Relationship Type="http://schemas.openxmlformats.org/officeDocument/2006/relationships/notesMaster" Target="/ppt/notesMasters/notesMaster1.xml" Id="R3ac25c0765bf46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c2c49697084ba5" /><Relationship Type="http://schemas.openxmlformats.org/officeDocument/2006/relationships/notesMaster" Target="/ppt/notesMasters/notesMaster1.xml" Id="Re8c38ad2d1f04f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c2556cd6bf455b" /><Relationship Type="http://schemas.openxmlformats.org/officeDocument/2006/relationships/notesMaster" Target="/ppt/notesMasters/notesMaster1.xml" Id="Ra57b3d596b7b43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03773625ef44a6" /><Relationship Type="http://schemas.openxmlformats.org/officeDocument/2006/relationships/notesMaster" Target="/ppt/notesMasters/notesMaster1.xml" Id="R932aa1cc1b8b49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635b5cf4074530" /><Relationship Type="http://schemas.openxmlformats.org/officeDocument/2006/relationships/notesMaster" Target="/ppt/notesMasters/notesMaster1.xml" Id="R15012a9760304e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bf7afd8b1a4f6d" /><Relationship Type="http://schemas.openxmlformats.org/officeDocument/2006/relationships/notesMaster" Target="/ppt/notesMasters/notesMaster1.xml" Id="R0e9f943a48034e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84972330274afe" /><Relationship Type="http://schemas.openxmlformats.org/officeDocument/2006/relationships/notesMaster" Target="/ppt/notesMasters/notesMaster1.xml" Id="R84326090478648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SAEED ALKAABI</a:t>
            </a:r>
            <a:endParaRPr/>
          </a:p>
          <a:p xmlns:a="http://schemas.openxmlformats.org/drawingml/2006/main">
            <a:r>
              <a:t/>
            </a:r>
            <a:endParaRPr/>
          </a:p>
          <a:p xmlns:a="http://schemas.openxmlformats.org/drawingml/2006/main">
            <a:r>
              <a:t>Our project proposes an internal campus platform that helps departments reuse available assets and track their life cycle. We will combine standard asset records and approval workflows with AI recommendations. This is our initial Phase 1 proposal. The requirements and task allocation still need group and instructor review. Today we explain the problem, our proposed scope, how we will gather requirements, and how we plan to evaluate the prototype.</a:t>
            </a:r>
            <a:endParaRPr/>
          </a:p>
          <a:p xmlns:a="http://schemas.openxmlformats.org/drawingml/2006/main">
            <a:r>
              <a:t/>
            </a:r>
            <a:endParaRPr/>
          </a:p>
          <a:p xmlns:a="http://schemas.openxmlformats.org/drawingml/2006/main">
            <a:r>
              <a:t>Sources:</a:t>
            </a:r>
            <a:endParaRPr/>
          </a:p>
          <a:p xmlns:a="http://schemas.openxmlformats.org/drawingml/2006/main">
            <a:r>
              <a:t>Project-September2026.pdf, pp. 1–3</a:t>
            </a:r>
            <a:endParaRPr/>
          </a:p>
          <a:p xmlns:a="http://schemas.openxmlformats.org/drawingml/2006/main">
            <a:r>
              <a:t>Phase 1 Report Presentation announcement supplied by Saeed</a:t>
            </a:r>
            <a:endParaRPr/>
          </a:p>
          <a:p xmlns:a="http://schemas.openxmlformats.org/drawingml/2006/main">
            <a:r>
              <a:t>Team names and student IDs supplied by Saeed on 14 September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SAEED ALKAABI</a:t>
            </a:r>
          </a:p>
          <a:p xmlns:a="http://schemas.openxmlformats.org/drawingml/2006/main">
            <a:r>
              <a:t/>
            </a:r>
          </a:p>
          <a:p xmlns:a="http://schemas.openxmlformats.org/drawingml/2006/main">
            <a:r>
              <a:t>The brief describes a visibility and coordination problem: a university may buy new equipment while suitable equipment remains unused elsewhere. We have not yet verified how Khalifa University currently handles these activities. Our working hypothesis is that departments identify surplus items, check records, contact others, and obtain approval through separate steps. We need to validate that process. Our objectives are better visibility, accountable transfers, and traceable reuse benefits. For example, a department that needs a monitor could discover a suitable spare in another department before considering a purchase.</a:t>
            </a:r>
          </a:p>
          <a:p xmlns:a="http://schemas.openxmlformats.org/drawingml/2006/main">
            <a:r>
              <a:t/>
            </a:r>
          </a:p>
          <a:p xmlns:a="http://schemas.openxmlformats.org/drawingml/2006/main">
            <a:r>
              <a:t>Sources:</a:t>
            </a:r>
          </a:p>
          <a:p xmlns:a="http://schemas.openxmlformats.org/drawingml/2006/main">
            <a:r>
              <a:t>Project-September2026.pdf, pp. 1–3,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SAEED ALKAABI</a:t>
            </a:r>
          </a:p>
          <a:p xmlns:a="http://schemas.openxmlformats.org/drawingml/2006/main">
            <a:r>
              <a:t/>
            </a:r>
          </a:p>
          <a:p xmlns:a="http://schemas.openxmlformats.org/drawingml/2006/main">
            <a:r>
              <a:t>The proposed product is a campus web application. Staff would list available assets and requests, approve transfers, and maintain records after delivery or repair. The baseline gives a reliable workflow. AI adds classification, matching across different wording, explanations, recommended life-cycle actions, an assistant, and narrative reports. The full brief includes all of these wider objectives. We propose starting with sample data rather than assuming access to live university systems. The technology and AI provider remain undecided. Public trading, payments and automatic procurement are outside our proposed prototype boundary, subject to instructor agreement. Scope priority does not mean we may omit required features.</a:t>
            </a:r>
          </a:p>
          <a:p xmlns:a="http://schemas.openxmlformats.org/drawingml/2006/main">
            <a:r>
              <a:t/>
            </a:r>
          </a:p>
          <a:p xmlns:a="http://schemas.openxmlformats.org/drawingml/2006/main">
            <a:r>
              <a:t>Sources:</a:t>
            </a:r>
          </a:p>
          <a:p xmlns:a="http://schemas.openxmlformats.org/drawingml/2006/main">
            <a:r>
              <a:t>Project-September2026.pdf, pp. 3–5, 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SAEED ALKAABI</a:t>
            </a:r>
          </a:p>
          <a:p xmlns:a="http://schemas.openxmlformats.org/drawingml/2006/main">
            <a:r>
              <a:t/>
            </a:r>
          </a:p>
          <a:p xmlns:a="http://schemas.openxmlformats.org/drawingml/2006/main">
            <a:r>
              <a:t>Consider a department with a spare monitor and another that needs one. A custodian publishes the monitor with its specifications and condition. The requester enters the required size, connections and timing. The system checks constraints and ranks suitable listings. The requester reviews the explanation and the designated approver authorizes the transfer. After release and receipt, the system updates custody and location and keeps the event history. A later repair or retirement extends that same history. A rejected request leaves ownership unchanged. The recommendation itself never counts as approval. Exact campus approval roles still need validation.</a:t>
            </a:r>
          </a:p>
          <a:p xmlns:a="http://schemas.openxmlformats.org/drawingml/2006/main">
            <a:r>
              <a:t/>
            </a:r>
          </a:p>
          <a:p xmlns:a="http://schemas.openxmlformats.org/drawingml/2006/main">
            <a:r>
              <a:t>Sources:</a:t>
            </a:r>
          </a:p>
          <a:p xmlns:a="http://schemas.openxmlformats.org/drawingml/2006/main">
            <a:r>
              <a:t>Project-September2026.pdf, pp. 3–5, 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ALI ALAWADHI</a:t>
            </a:r>
          </a:p>
          <a:p xmlns:a="http://schemas.openxmlformats.org/drawingml/2006/main">
            <a:r>
              <a:t/>
            </a:r>
          </a:p>
          <a:p xmlns:a="http://schemas.openxmlformats.org/drawingml/2006/main">
            <a:r>
              <a:t>Different users need different permissions. A requester should not be able to approve their own request merely because they can submit it. Custodians maintain assigned assets, approvers authorize actions, and maintenance staff record repairs and condition changes. Procurement and finance help establish defensible replacement-cost assumptions. Sustainability staff interpret impact estimates. The system administrator manages access, but we do not assume that technical administration grants business approval authority. In the detailed requirements, we will map who can view, create, change and approve each type of record. These are proposed responsibilities, not verified university policy.</a:t>
            </a:r>
          </a:p>
          <a:p xmlns:a="http://schemas.openxmlformats.org/drawingml/2006/main">
            <a:r>
              <a:t/>
            </a:r>
          </a:p>
          <a:p xmlns:a="http://schemas.openxmlformats.org/drawingml/2006/main">
            <a:r>
              <a:t>Sources:</a:t>
            </a:r>
          </a:p>
          <a:p xmlns:a="http://schemas.openxmlformats.org/drawingml/2006/main">
            <a:r>
              <a:t>Project-September2026.pdf, pp. 3–4, 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ALI ALAWADHI</a:t>
            </a:r>
          </a:p>
          <a:p xmlns:a="http://schemas.openxmlformats.org/drawingml/2006/main">
            <a:r>
              <a:t/>
            </a:r>
          </a:p>
          <a:p xmlns:a="http://schemas.openxmlformats.org/drawingml/2006/main">
            <a:r>
              <a:t>We used the complete project description and the Phase 1 slides to derive initial requirements. Next, we propose instructor consultation and a short interview with a custodian or an instructor-approved proxy if actual staff are unavailable. We will use a scenario walkthrough to expose missing steps and permission rules. Each finding should record its source, the requirement it supports, and any unresolved assumption. We will prioritize what is necessary for the first working workflow while retaining the full required project scope. We should not present anticipated answers as interview findings. The appendix FR/NFR exercise needs its own deadline and relationship to Phase 1 confirmed.</a:t>
            </a:r>
          </a:p>
          <a:p xmlns:a="http://schemas.openxmlformats.org/drawingml/2006/main">
            <a:r>
              <a:t/>
            </a:r>
          </a:p>
          <a:p xmlns:a="http://schemas.openxmlformats.org/drawingml/2006/main">
            <a:r>
              <a:t>Sources:</a:t>
            </a:r>
          </a:p>
          <a:p xmlns:a="http://schemas.openxmlformats.org/drawingml/2006/main">
            <a:r>
              <a:t>Project-September2026.pdf, pp. 7–8, 10–12</a:t>
            </a:r>
          </a:p>
          <a:p xmlns:a="http://schemas.openxmlformats.org/drawingml/2006/main">
            <a:r>
              <a:t>COSC336_Circular_Campus_Project_Fall2026.pdf, pp. 7, 9–10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ALI ALAWADHI</a:t>
            </a:r>
          </a:p>
          <a:p xmlns:a="http://schemas.openxmlformats.org/drawingml/2006/main">
            <a:r>
              <a:t/>
            </a:r>
          </a:p>
          <a:p xmlns:a="http://schemas.openxmlformats.org/drawingml/2006/main">
            <a:r>
              <a:t>A functional requirement describes what the system must do. These six summaries cover the standard workflow. For example, FR-04 can be refined into a testable rule: when an authorized receiver confirms receipt of an approved transfer, the system shall update custody, location and the audit record together. It shall reject receipt confirmation by an unauthorized user. We will similarly specify mandatory fields, invalid input, reservation conflicts and rejected requests. High priority means necessary to establish the first end-to-end workflow. Medium means a later implementation step, not optional scope. Notifications and operational reports remain part of the minimum prototype.</a:t>
            </a:r>
          </a:p>
          <a:p xmlns:a="http://schemas.openxmlformats.org/drawingml/2006/main">
            <a:r>
              <a:t/>
            </a:r>
          </a:p>
          <a:p xmlns:a="http://schemas.openxmlformats.org/drawingml/2006/main">
            <a:r>
              <a:t>Sources:</a:t>
            </a:r>
          </a:p>
          <a:p xmlns:a="http://schemas.openxmlformats.org/drawingml/2006/main">
            <a:r>
              <a:t>Project-September2026.pdf, pp. 3–4, 8–9, 17–19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ALI ALAWADHI</a:t>
            </a:r>
          </a:p>
          <a:p xmlns:a="http://schemas.openxmlformats.org/drawingml/2006/main">
            <a:r>
              <a:t/>
            </a:r>
          </a:p>
          <a:p xmlns:a="http://schemas.openxmlformats.org/drawingml/2006/main">
            <a:r>
              <a:t>Standard search uses explicit filters and exact fields. Semantic matching can connect different descriptions with the same purpose, but it must still respect hard constraints such as availability and technical compatibility. AI-02 should include reasons, uncertain or missing inputs, and user review. We will compare recommendations against a keyword/filter baseline on the same labelled sample requests. Generated reporting should summarize stored facts and disclose estimation assumptions. AI-03 and AI-04 appear in the full project objectives even though they are not named in the Phase 6 minimum list. We need to confirm their implementation depth with the instructor. Human approval and a usable fallback are essential.</a:t>
            </a:r>
          </a:p>
          <a:p xmlns:a="http://schemas.openxmlformats.org/drawingml/2006/main">
            <a:r>
              <a:t/>
            </a:r>
          </a:p>
          <a:p xmlns:a="http://schemas.openxmlformats.org/drawingml/2006/main">
            <a:r>
              <a:t>Sources:</a:t>
            </a:r>
          </a:p>
          <a:p xmlns:a="http://schemas.openxmlformats.org/drawingml/2006/main">
            <a:r>
              <a:t>Project-September2026.pdf, pp. 4–5, 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HUMAID AL ALI</a:t>
            </a:r>
          </a:p>
          <a:p xmlns:a="http://schemas.openxmlformats.org/drawingml/2006/main">
            <a:r>
              <a:t/>
            </a:r>
          </a:p>
          <a:p xmlns:a="http://schemas.openxmlformats.org/drawingml/2006/main">
            <a:r>
              <a:t>These targets are proposals for the prototype, not instructor-prescribed numbers or results already achieved. Agree the core scenarios and permission matrix before testing. Document the hardware and dataset for performance testing. For usability, disclose whether testers are actual staff or student proxies and acknowledge the small sample. For matching, prepare 20 requests with at least one compatible sample asset and have the team review suitability labels before evaluation. This target does not imply general model accuracy. Impact tests will check reuse counts, repaired assets, avoided-purchase estimates and diverted mass. Estimated net savings equal avoided replacement cost minus transfer and repair costs for eligible confirmed exchanges. Count each event once. Carbon estimates require a sourced factor and a documented comparison, otherwise leave them unresolved. No campus-wide savings or waste-reduction percentage is claimed.</a:t>
            </a:r>
          </a:p>
          <a:p xmlns:a="http://schemas.openxmlformats.org/drawingml/2006/main">
            <a:r>
              <a:t/>
            </a:r>
          </a:p>
          <a:p xmlns:a="http://schemas.openxmlformats.org/drawingml/2006/main">
            <a:r>
              <a:t>Sources:</a:t>
            </a:r>
          </a:p>
          <a:p xmlns:a="http://schemas.openxmlformats.org/drawingml/2006/main">
            <a:r>
              <a:t>Project-September2026.pdf, pp. 6–9, 18–19</a:t>
            </a:r>
          </a:p>
          <a:p xmlns:a="http://schemas.openxmlformats.org/drawingml/2006/main">
            <a:r>
              <a:t>COSC336_Circular_Campus_Project_Fall2026.pdf, p. 8</a:t>
            </a:r>
          </a:p>
          <a:p xmlns:a="http://schemas.openxmlformats.org/drawingml/2006/main">
            <a:r>
              <a:t>All numerical thresholds are proposed targets for group and instructor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HUMAID AL ALI</a:t>
            </a:r>
          </a:p>
          <a:p xmlns:a="http://schemas.openxmlformats.org/drawingml/2006/main">
            <a:r>
              <a:t/>
            </a:r>
          </a:p>
          <a:p xmlns:a="http://schemas.openxmlformats.org/drawingml/2006/main">
            <a:r>
              <a:t>A three-person team needs to keep the work manageable without silently dropping required functions. We propose short iterations aligned with the course phases and a peer review before merging each task. Data access, staff availability, AI service cost and deployment resources are dependencies. We have not selected a technology stack or confirmed a paid budget. The initial feasibility study should compare implementation options and costs. Sample data allows development without claiming that the prototype represents live university records. Financial and environmental estimates need explicit assumptions. Shared review and clear task ownership reduce integration and attribution problems.</a:t>
            </a:r>
          </a:p>
          <a:p xmlns:a="http://schemas.openxmlformats.org/drawingml/2006/main">
            <a:r>
              <a:t/>
            </a:r>
          </a:p>
          <a:p xmlns:a="http://schemas.openxmlformats.org/drawingml/2006/main">
            <a:r>
              <a:t>Sources:</a:t>
            </a:r>
          </a:p>
          <a:p xmlns:a="http://schemas.openxmlformats.org/drawingml/2006/main">
            <a:r>
              <a:t>Project-September2026.pdf, pp. 5–9</a:t>
            </a:r>
          </a:p>
          <a:p xmlns:a="http://schemas.openxmlformats.org/drawingml/2006/main">
            <a:r>
              <a:t>COSC336_Circular_Campus_Project_Fall2026.pdf, pp. 8–10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HUMAID AL ALI</a:t>
            </a:r>
          </a:p>
          <a:p xmlns:a="http://schemas.openxmlformats.org/drawingml/2006/main">
            <a:r>
              <a:t/>
            </a:r>
          </a:p>
          <a:p xmlns:a="http://schemas.openxmlformats.org/drawingml/2006/main">
            <a:r>
              <a:t>This is a proposed allocation rather than a record of completed work. Saeed would lead the overview and repository coordination. Ali would lead stakeholder analysis and requirements. Humaid would lead evaluation criteria, risks and the plan. We can change the allocation after discussing skills and workload. Everyone should review the full document, understand the full system and commit their own section changes. Coordination does not mean one person uploads everybody’s work. We propose a short group review after each section draft and another before the presentation. The speaking split gives each member four slides, approximately two to three minutes.</a:t>
            </a:r>
          </a:p>
          <a:p xmlns:a="http://schemas.openxmlformats.org/drawingml/2006/main">
            <a:r>
              <a:t/>
            </a:r>
          </a:p>
          <a:p xmlns:a="http://schemas.openxmlformats.org/drawingml/2006/main">
            <a:r>
              <a:t>Sources:</a:t>
            </a:r>
          </a:p>
          <a:p xmlns:a="http://schemas.openxmlformats.org/drawingml/2006/main">
            <a:r>
              <a:t>Team names and IDs supplied by Saeed on 14 September 2026</a:t>
            </a:r>
          </a:p>
          <a:p xmlns:a="http://schemas.openxmlformats.org/drawingml/2006/main">
            <a:r>
              <a:t>Task and speaking allocation is a proposal</a:t>
            </a:r>
          </a:p>
          <a:p xmlns:a="http://schemas.openxmlformats.org/drawingml/2006/main">
            <a:r>
              <a:t>Project-September2026.pdf, pp. 9–10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presenter: HUMAID AL ALI</a:t>
            </a:r>
          </a:p>
          <a:p xmlns:a="http://schemas.openxmlformats.org/drawingml/2006/main">
            <a:r>
              <a:t/>
            </a:r>
          </a:p>
          <a:p xmlns:a="http://schemas.openxmlformats.org/drawingml/2006/main">
            <a:r>
              <a:t>The September project description labels these lab-week dates tentative. It differs from the earlier slides. The announcement asks for a Phase 1 presentation, while Saeed reports later notice, so the exact presentation date and Blackboard deadline remain to be confirmed. The presentation supports the report and does not replace it. The required report sections are title page, introduction, project overview, stakeholder analysis, requirements gathering, initial requirements specification and initial project plan. The repository setup, README and teammate collaborator additions were reported completed in the conversation. We have no completed interview or implementation evidence yet. The group should confirm roles and scope, gather initial feedback, finish the report, and rehearse. The instructor and lab engineer collaborator requirement is still 15 September in both source briefs, so confirm that access once the usernames are available. Confirm whether the appendix FR/NFR exercise is part of Phase 1 or a separate submission. Subsequent phases will also require presentations according to the announcement.</a:t>
            </a:r>
          </a:p>
          <a:p xmlns:a="http://schemas.openxmlformats.org/drawingml/2006/main">
            <a:r>
              <a:t/>
            </a:r>
          </a:p>
          <a:p xmlns:a="http://schemas.openxmlformats.org/drawingml/2006/main">
            <a:r>
              <a:t>Sources:</a:t>
            </a:r>
          </a:p>
          <a:p xmlns:a="http://schemas.openxmlformats.org/drawingml/2006/main">
            <a:r>
              <a:t>Project-September2026.pdf, pp. 7–12</a:t>
            </a:r>
          </a:p>
          <a:p xmlns:a="http://schemas.openxmlformats.org/drawingml/2006/main">
            <a:r>
              <a:t>COSC336_Circular_Campus_Project_Fall2026.pdf, pp. 9–11</a:t>
            </a:r>
          </a:p>
          <a:p xmlns:a="http://schemas.openxmlformats.org/drawingml/2006/main">
            <a:r>
              <a:t>Phase 1 Report Presentation announcement supplied by Saeed</a:t>
            </a:r>
          </a:p>
          <a:p xmlns:a="http://schemas.openxmlformats.org/drawingml/2006/main">
            <a:r>
              <a:t>Presentation timing to be confirmed following Saeed’s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01eef3520143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12648373df48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0fe2c637634f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b0992a85864a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f6ba6094d54f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78161e5a6f4e1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cb5e944fb97486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5486326c0024d46"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b981c8e0cc4cd0" /><Relationship Type="http://schemas.openxmlformats.org/officeDocument/2006/relationships/slideLayout" Target="/ppt/slideLayouts/slideLayout1.xml" Id="R89a40e663b334b02" /><Relationship Type="http://schemas.openxmlformats.org/officeDocument/2006/relationships/slideLayout" Target="/ppt/slideLayouts/slideLayout2.xml" Id="R55b6f6611fb2445e" /><Relationship Type="http://schemas.openxmlformats.org/officeDocument/2006/relationships/slideLayout" Target="/ppt/slideLayouts/slideLayout3.xml" Id="R30c792bcb7e54882" /><Relationship Type="http://schemas.openxmlformats.org/officeDocument/2006/relationships/slideLayout" Target="/ppt/slideLayouts/slideLayout4.xml" Id="R4ef2693734cc468a" /><Relationship Type="http://schemas.openxmlformats.org/officeDocument/2006/relationships/slideLayout" Target="/ppt/slideLayouts/slideLayout5.xml" Id="R9668cd91878c4cae" /><Relationship Type="http://schemas.openxmlformats.org/officeDocument/2006/relationships/slideLayout" Target="/ppt/slideLayouts/slideLayout6.xml" Id="R2cd4fdcc46e347be" /><Relationship Type="http://schemas.openxmlformats.org/officeDocument/2006/relationships/slideLayout" Target="/ppt/slideLayouts/slideLayout7.xml" Id="R13d2a679bb3949ed" /><Relationship Type="http://schemas.openxmlformats.org/officeDocument/2006/relationships/slideLayout" Target="/ppt/slideLayouts/slideLayout8.xml" Id="R1b2be21fe8284a69"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89a40e663b334b02"/>
    <p:sldLayoutId xmlns:r="http://schemas.openxmlformats.org/officeDocument/2006/relationships" id="2147483650" r:id="R55b6f6611fb2445e"/>
    <p:sldLayoutId xmlns:r="http://schemas.openxmlformats.org/officeDocument/2006/relationships" id="2147483651" r:id="R30c792bcb7e54882"/>
    <p:sldLayoutId xmlns:r="http://schemas.openxmlformats.org/officeDocument/2006/relationships" id="2147483652" r:id="R4ef2693734cc468a"/>
    <p:sldLayoutId xmlns:r="http://schemas.openxmlformats.org/officeDocument/2006/relationships" id="2147483653" r:id="R9668cd91878c4cae"/>
    <p:sldLayoutId xmlns:r="http://schemas.openxmlformats.org/officeDocument/2006/relationships" id="2147483654" r:id="R2cd4fdcc46e347be"/>
    <p:sldLayoutId xmlns:r="http://schemas.openxmlformats.org/officeDocument/2006/relationships" id="2147483655" r:id="R13d2a679bb3949ed"/>
    <p:sldLayoutId xmlns:r="http://schemas.openxmlformats.org/officeDocument/2006/relationships" id="2147483656" r:id="R1b2be21fe8284a69"/>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82190fa26c4bf3" /><Relationship Type="http://schemas.openxmlformats.org/officeDocument/2006/relationships/notesSlide" Target="/ppt/notesSlides/notesSlide1.xml" Id="R507aa01e3e4749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206172a284407f" /><Relationship Type="http://schemas.openxmlformats.org/officeDocument/2006/relationships/notesSlide" Target="/ppt/notesSlides/notesSlide2.xml" Id="R3b31d191819740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0c3478d68e45ac" /><Relationship Type="http://schemas.openxmlformats.org/officeDocument/2006/relationships/notesSlide" Target="/ppt/notesSlides/notesSlide3.xml" Id="Re18d935732364e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fca128df1254e1b" /><Relationship Type="http://schemas.openxmlformats.org/officeDocument/2006/relationships/notesSlide" Target="/ppt/notesSlides/notesSlide4.xml" Id="Rac2bc2b064cd41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c85ed1516e4e23" /><Relationship Type="http://schemas.openxmlformats.org/officeDocument/2006/relationships/notesSlide" Target="/ppt/notesSlides/notesSlide5.xml" Id="Ra8629b52b2a544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4ebbc7029647a2" /><Relationship Type="http://schemas.openxmlformats.org/officeDocument/2006/relationships/notesSlide" Target="/ppt/notesSlides/notesSlide6.xml" Id="R6c8d61b5ef694d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5a138d9929946a1" /><Relationship Type="http://schemas.openxmlformats.org/officeDocument/2006/relationships/notesSlide" Target="/ppt/notesSlides/notesSlide7.xml" Id="Rd89b1504d93442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e99c4a94314556" /><Relationship Type="http://schemas.openxmlformats.org/officeDocument/2006/relationships/notesSlide" Target="/ppt/notesSlides/notesSlide8.xml" Id="R87b857cb7dc64e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11f554dd5134462" /><Relationship Type="http://schemas.openxmlformats.org/officeDocument/2006/relationships/notesSlide" Target="/ppt/notesSlides/notesSlide9.xml" Id="R7a0a9b0f725045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4f3b0371eba4d0b" /><Relationship Type="http://schemas.openxmlformats.org/officeDocument/2006/relationships/notesSlide" Target="/ppt/notesSlides/notesSlide10.xml" Id="R37e953d83ae241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d42aa9c6eec4f82" /><Relationship Type="http://schemas.openxmlformats.org/officeDocument/2006/relationships/notesSlide" Target="/ppt/notesSlides/notesSlide11.xml" Id="Re27dbdebcb8642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c341c4929d94cb2" /><Relationship Type="http://schemas.openxmlformats.org/officeDocument/2006/relationships/notesSlide" Target="/ppt/notesSlides/notesSlide12.xml" Id="R12608c1fa06b49e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1809750"/>
            <a:ext cx="9448800" cy="1866900"/>
          </a:xfrm>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5700" b="0">
                <a:solidFill>
                  <a:srgbClr val="BCEF59"/>
                </a:solidFill>
                <a:latin typeface="Inter"/>
                <a:ea typeface="Inter"/>
                <a:cs typeface="Inter"/>
              </a:defRPr>
            </a:pPr>
            <a:r>
              <a:rPr sz="5700" b="0">
                <a:solidFill>
                  <a:srgbClr val="BCEF59"/>
                </a:solidFill>
                <a:latin typeface="Inter"/>
                <a:ea typeface="Inter"/>
                <a:cs typeface="Inter"/>
              </a:rPr>
              <a:t>Circular Campus</a:t>
            </a:r>
          </a:p>
          <a:p xmlns:a="http://schemas.openxmlformats.org/drawingml/2006/main">
            <a:pPr algn="ctr">
              <a:buNone/>
              <a:defRPr sz="5700" b="0">
                <a:solidFill>
                  <a:srgbClr val="BCEF59"/>
                </a:solidFill>
                <a:latin typeface="Inter"/>
                <a:ea typeface="Inter"/>
                <a:cs typeface="Inter"/>
              </a:defRPr>
            </a:pPr>
            <a:r>
              <a:rPr sz="5700" b="0">
                <a:solidFill>
                  <a:srgbClr val="BCEF59"/>
                </a:solidFill>
                <a:latin typeface="Inter"/>
                <a:ea typeface="Inter"/>
                <a:cs typeface="Inter"/>
              </a:rPr>
              <a:t>Resource Exchange</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1238250" y="3962400"/>
            <a:ext cx="9715500" cy="809625"/>
          </a:xfrm>
          <a:prstGeom xmlns:a="http://schemas.openxmlformats.org/drawingml/2006/main" prst="rect">
            <a:avLst/>
          </a:prstGeom>
        </p:spPr>
        <p:txBody>
          <a:bodyPr xmlns:a="http://schemas.openxmlformats.org/drawingml/2006/main" vert="horz" wrap="square"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defRPr sz="1950" b="0">
                <a:solidFill>
                  <a:srgbClr val="FFFFFF"/>
                </a:solidFill>
                <a:latin typeface="Inter"/>
                <a:ea typeface="Inter"/>
                <a:cs typeface="Inter"/>
              </a:defRPr>
            </a:pPr>
            <a:r>
              <a:rPr sz="1950" b="0">
                <a:solidFill>
                  <a:srgbClr val="FFFFFF"/>
                </a:solidFill>
                <a:latin typeface="Inter"/>
                <a:ea typeface="Inter"/>
                <a:cs typeface="Inter"/>
              </a:rPr>
              <a:t>Intelligent, AI-Powered Circular Campus Resource Exchange and Asset Life Cycle Management System</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6" y="866775"/>
            <a:ext cx="2604040" cy="488823"/>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725" b="1">
                <a:solidFill>
                  <a:srgbClr val="FFFFFF"/>
                </a:solidFill>
                <a:latin typeface="Inter"/>
                <a:ea typeface="Inter"/>
                <a:cs typeface="Inter"/>
              </a:defRPr>
            </a:pPr>
            <a:r>
              <a:rPr sz="1725" b="1">
                <a:solidFill>
                  <a:srgbClr val="FFFFFF"/>
                </a:solidFill>
                <a:latin typeface="Inter"/>
                <a:ea typeface="Inter"/>
                <a:cs typeface="Inter"/>
              </a:rPr>
              <a:t>Phase 1 proposal</a:t>
            </a:r>
          </a:p>
        </p:txBody>
      </p:sp>
      <p:sp>
        <p:nvSpPr>
          <p:cNvPr id="7" name="member-0">
            <a:extLst xmlns:a="http://schemas.openxmlformats.org/drawingml/2006/main">
              <a:ext uri="{FF2B5EF4-FFF2-40B4-BE49-F238E27FC236}">
                <a16:creationId xmlns:a16="http://schemas.microsoft.com/office/drawing/2014/main" id="{5C9742AB-4D93-41F6-88CB-B47BDAF092B9}"/>
              </a:ext>
            </a:extLst>
          </p:cNvPr>
          <p:cNvSpPr>
            <a:spLocks xmlns:a="http://schemas.openxmlformats.org/drawingml/2006/main" noGrp="1"/>
          </p:cNvSpPr>
          <p:nvPr/>
        </p:nvSpPr>
        <p:spPr>
          <a:xfrm xmlns:a="http://schemas.openxmlformats.org/drawingml/2006/main">
            <a:off x="714375" y="52387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FFFFF"/>
                </a:solidFill>
                <a:latin typeface="Inter"/>
                <a:ea typeface="Inter"/>
                <a:cs typeface="Inter"/>
              </a:defRPr>
            </a:pPr>
            <a:r>
              <a:rPr sz="1800" b="1">
                <a:solidFill>
                  <a:srgbClr val="FFFFFF"/>
                </a:solidFill>
                <a:latin typeface="Inter"/>
                <a:ea typeface="Inter"/>
                <a:cs typeface="Inter"/>
              </a:rPr>
              <a:t>SAEED ALKAABI</a:t>
            </a:r>
          </a:p>
        </p:txBody>
      </p:sp>
      <p:sp>
        <p:nvSpPr>
          <p:cNvPr id="8" name="id-0">
            <a:extLst xmlns:a="http://schemas.openxmlformats.org/drawingml/2006/main">
              <a:ext uri="{FF2B5EF4-FFF2-40B4-BE49-F238E27FC236}">
                <a16:creationId xmlns:a16="http://schemas.microsoft.com/office/drawing/2014/main" id="{6C57F2A0-D755-4FFB-A070-FCD50EB97D92}"/>
              </a:ext>
            </a:extLst>
          </p:cNvPr>
          <p:cNvSpPr>
            <a:spLocks xmlns:a="http://schemas.openxmlformats.org/drawingml/2006/main" noGrp="1"/>
          </p:cNvSpPr>
          <p:nvPr/>
        </p:nvSpPr>
        <p:spPr>
          <a:xfrm xmlns:a="http://schemas.openxmlformats.org/drawingml/2006/main">
            <a:off x="714375" y="5629275"/>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BCEF59"/>
                </a:solidFill>
                <a:latin typeface="Inter"/>
                <a:ea typeface="Inter"/>
                <a:cs typeface="Inter"/>
              </a:defRPr>
            </a:pPr>
            <a:r>
              <a:rPr sz="1725" b="0">
                <a:solidFill>
                  <a:srgbClr val="BCEF59"/>
                </a:solidFill>
                <a:latin typeface="Inter"/>
                <a:ea typeface="Inter"/>
                <a:cs typeface="Inter"/>
              </a:rPr>
              <a:t>100063100</a:t>
            </a:r>
          </a:p>
        </p:txBody>
      </p:sp>
      <p:sp>
        <p:nvSpPr>
          <p:cNvPr id="9" name="member-1">
            <a:extLst xmlns:a="http://schemas.openxmlformats.org/drawingml/2006/main">
              <a:ext uri="{FF2B5EF4-FFF2-40B4-BE49-F238E27FC236}">
                <a16:creationId xmlns:a16="http://schemas.microsoft.com/office/drawing/2014/main" id="{F0C754DA-E1FE-4370-B977-09FBB724FF33}"/>
              </a:ext>
            </a:extLst>
          </p:cNvPr>
          <p:cNvSpPr>
            <a:spLocks xmlns:a="http://schemas.openxmlformats.org/drawingml/2006/main" noGrp="1"/>
          </p:cNvSpPr>
          <p:nvPr/>
        </p:nvSpPr>
        <p:spPr>
          <a:xfrm xmlns:a="http://schemas.openxmlformats.org/drawingml/2006/main">
            <a:off x="4438650" y="52387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FFFFF"/>
                </a:solidFill>
                <a:latin typeface="Inter"/>
                <a:ea typeface="Inter"/>
                <a:cs typeface="Inter"/>
              </a:defRPr>
            </a:pPr>
            <a:r>
              <a:rPr sz="1800" b="1">
                <a:solidFill>
                  <a:srgbClr val="FFFFFF"/>
                </a:solidFill>
                <a:latin typeface="Inter"/>
                <a:ea typeface="Inter"/>
                <a:cs typeface="Inter"/>
              </a:rPr>
              <a:t>ALI ALAWADHI</a:t>
            </a:r>
          </a:p>
        </p:txBody>
      </p:sp>
      <p:sp>
        <p:nvSpPr>
          <p:cNvPr id="10" name="id-1">
            <a:extLst xmlns:a="http://schemas.openxmlformats.org/drawingml/2006/main">
              <a:ext uri="{FF2B5EF4-FFF2-40B4-BE49-F238E27FC236}">
                <a16:creationId xmlns:a16="http://schemas.microsoft.com/office/drawing/2014/main" id="{3BB720AA-C646-47AA-B16F-E5C4ECED173B}"/>
              </a:ext>
            </a:extLst>
          </p:cNvPr>
          <p:cNvSpPr>
            <a:spLocks xmlns:a="http://schemas.openxmlformats.org/drawingml/2006/main" noGrp="1"/>
          </p:cNvSpPr>
          <p:nvPr/>
        </p:nvSpPr>
        <p:spPr>
          <a:xfrm xmlns:a="http://schemas.openxmlformats.org/drawingml/2006/main">
            <a:off x="4438650" y="5629275"/>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BCEF59"/>
                </a:solidFill>
                <a:latin typeface="Inter"/>
                <a:ea typeface="Inter"/>
                <a:cs typeface="Inter"/>
              </a:defRPr>
            </a:pPr>
            <a:r>
              <a:rPr sz="1725" b="0">
                <a:solidFill>
                  <a:srgbClr val="BCEF59"/>
                </a:solidFill>
                <a:latin typeface="Inter"/>
                <a:ea typeface="Inter"/>
                <a:cs typeface="Inter"/>
              </a:rPr>
              <a:t>100063186</a:t>
            </a:r>
          </a:p>
        </p:txBody>
      </p:sp>
      <p:sp>
        <p:nvSpPr>
          <p:cNvPr id="11" name="member-2">
            <a:extLst xmlns:a="http://schemas.openxmlformats.org/drawingml/2006/main">
              <a:ext uri="{FF2B5EF4-FFF2-40B4-BE49-F238E27FC236}">
                <a16:creationId xmlns:a16="http://schemas.microsoft.com/office/drawing/2014/main" id="{6D5DC318-2A61-4351-B300-20A469E15765}"/>
              </a:ext>
            </a:extLst>
          </p:cNvPr>
          <p:cNvSpPr>
            <a:spLocks xmlns:a="http://schemas.openxmlformats.org/drawingml/2006/main" noGrp="1"/>
          </p:cNvSpPr>
          <p:nvPr/>
        </p:nvSpPr>
        <p:spPr>
          <a:xfrm xmlns:a="http://schemas.openxmlformats.org/drawingml/2006/main">
            <a:off x="8162925" y="52387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FFFFFF"/>
                </a:solidFill>
                <a:latin typeface="Inter"/>
                <a:ea typeface="Inter"/>
                <a:cs typeface="Inter"/>
              </a:defRPr>
            </a:pPr>
            <a:r>
              <a:rPr sz="1800" b="1">
                <a:solidFill>
                  <a:srgbClr val="FFFFFF"/>
                </a:solidFill>
                <a:latin typeface="Inter"/>
                <a:ea typeface="Inter"/>
                <a:cs typeface="Inter"/>
              </a:rPr>
              <a:t>HUMAID AL ALI</a:t>
            </a:r>
          </a:p>
        </p:txBody>
      </p:sp>
      <p:sp>
        <p:nvSpPr>
          <p:cNvPr id="12" name="id-2">
            <a:extLst xmlns:a="http://schemas.openxmlformats.org/drawingml/2006/main">
              <a:ext uri="{FF2B5EF4-FFF2-40B4-BE49-F238E27FC236}">
                <a16:creationId xmlns:a16="http://schemas.microsoft.com/office/drawing/2014/main" id="{6681EB82-85C9-406F-8290-5C71E08389BB}"/>
              </a:ext>
            </a:extLst>
          </p:cNvPr>
          <p:cNvSpPr>
            <a:spLocks xmlns:a="http://schemas.openxmlformats.org/drawingml/2006/main" noGrp="1"/>
          </p:cNvSpPr>
          <p:nvPr/>
        </p:nvSpPr>
        <p:spPr>
          <a:xfrm xmlns:a="http://schemas.openxmlformats.org/drawingml/2006/main">
            <a:off x="8162925" y="5629275"/>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BCEF59"/>
                </a:solidFill>
                <a:latin typeface="Inter"/>
                <a:ea typeface="Inter"/>
                <a:cs typeface="Inter"/>
              </a:defRPr>
            </a:pPr>
            <a:r>
              <a:rPr sz="1725" b="0">
                <a:solidFill>
                  <a:srgbClr val="BCEF59"/>
                </a:solidFill>
                <a:latin typeface="Inter"/>
                <a:ea typeface="Inter"/>
                <a:cs typeface="Inter"/>
              </a:rPr>
              <a:t>100062914</a:t>
            </a:r>
          </a:p>
        </p:txBody>
      </p:sp>
      <p:sp>
        <p:nvSpPr>
          <p:cNvPr id="13" name="course">
            <a:extLst xmlns:a="http://schemas.openxmlformats.org/drawingml/2006/main">
              <a:ext uri="{FF2B5EF4-FFF2-40B4-BE49-F238E27FC236}">
                <a16:creationId xmlns:a16="http://schemas.microsoft.com/office/drawing/2014/main" id="{CCC84424-324D-4F64-AE9D-4CFC4C1C9900}"/>
              </a:ext>
            </a:extLst>
          </p:cNvPr>
          <p:cNvSpPr>
            <a:spLocks xmlns:a="http://schemas.openxmlformats.org/drawingml/2006/main" noGrp="1"/>
          </p:cNvSpPr>
          <p:nvPr/>
        </p:nvSpPr>
        <p:spPr>
          <a:xfrm xmlns:a="http://schemas.openxmlformats.org/drawingml/2006/main">
            <a:off x="1524000" y="6210300"/>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0">
                <a:solidFill>
                  <a:srgbClr val="FFFFFF"/>
                </a:solidFill>
                <a:latin typeface="Inter"/>
                <a:ea typeface="Inter"/>
                <a:cs typeface="Inter"/>
              </a:defRPr>
            </a:pPr>
            <a:r>
              <a:rPr sz="1425" b="0">
                <a:solidFill>
                  <a:srgbClr val="FFFFFF"/>
                </a:solidFill>
                <a:latin typeface="Inter"/>
                <a:ea typeface="Inter"/>
                <a:cs typeface="Inter"/>
              </a:rPr>
              <a:t>COSC 336 - Initial Plan and Requirement Gathering</a:t>
            </a:r>
          </a:p>
        </p:txBody>
      </p:sp>
      <p:sp>
        <p:nvSpPr>
          <p:cNvPr id="14" name="draft-date">
            <a:extLst xmlns:a="http://schemas.openxmlformats.org/drawingml/2006/main">
              <a:ext uri="{FF2B5EF4-FFF2-40B4-BE49-F238E27FC236}">
                <a16:creationId xmlns:a16="http://schemas.microsoft.com/office/drawing/2014/main" id="{29E4078C-A1C6-466C-9777-554AB88F2F10}"/>
              </a:ext>
            </a:extLst>
          </p:cNvPr>
          <p:cNvSpPr>
            <a:spLocks xmlns:a="http://schemas.openxmlformats.org/drawingml/2006/main" noGrp="1"/>
          </p:cNvSpPr>
          <p:nvPr/>
        </p:nvSpPr>
        <p:spPr>
          <a:xfrm xmlns:a="http://schemas.openxmlformats.org/drawingml/2006/main">
            <a:off x="3714750" y="6505575"/>
            <a:ext cx="476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A9C1B6"/>
                </a:solidFill>
                <a:latin typeface="Inter"/>
                <a:ea typeface="Inter"/>
                <a:cs typeface="Inter"/>
              </a:defRPr>
            </a:pPr>
            <a:r>
              <a:rPr sz="1275" b="0">
                <a:solidFill>
                  <a:srgbClr val="A9C1B6"/>
                </a:solidFill>
                <a:latin typeface="Inter"/>
                <a:ea typeface="Inter"/>
                <a:cs typeface="Inter"/>
              </a:rPr>
              <a:t>Draft: 14 September 2026</a:t>
            </a:r>
          </a:p>
        </p:txBody>
      </p:sp>
    </p:spTree>
    <p:extLst>
      <p:ext uri="{BB962C8B-B14F-4D97-AF65-F5344CB8AC3E}">
        <p14:creationId xmlns:p14="http://schemas.microsoft.com/office/powerpoint/2010/main" val="117717912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7"/>
                </a:solidFill>
                <a:latin typeface="Inter"/>
                <a:ea typeface="Inter"/>
                <a:cs typeface="Inter"/>
              </a:defRPr>
            </a:pPr>
            <a:r>
              <a:rPr sz="1350" b="0">
                <a:solidFill>
                  <a:srgbClr val="BDD0C7"/>
                </a:solidFill>
                <a:latin typeface="Inter"/>
                <a:ea typeface="Inter"/>
                <a:cs typeface="Inter"/>
              </a:rPr>
              <a:t>The problem comes from the brief. The current-process steps are a working hypothesis.</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E2598689-54C9-18A7-3A19-ED76AA08988F}" type="slidenum">
              <a:rPr sz="1050" b="0">
                <a:solidFill>
                  <a:srgbClr val="FFFFFF"/>
                </a:solidFill>
                <a:latin typeface="Inter"/>
                <a:ea typeface="Inter"/>
                <a:cs typeface="Inter"/>
              </a:rPr>
              <a:t>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The campus resource problem</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668" y="2031968"/>
            <a:ext cx="5537168" cy="3838575"/>
          </a:xfrm>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2200"/>
              </a:spcAft>
              <a:defRPr sz="1950" b="0">
                <a:solidFill>
                  <a:srgbClr val="FFFFFF"/>
                </a:solidFill>
                <a:latin typeface="Inter"/>
                <a:ea typeface="Inter"/>
                <a:cs typeface="Inter"/>
              </a:defRPr>
            </a:pPr>
            <a:r>
              <a:rPr sz="1950" b="0">
                <a:solidFill>
                  <a:srgbClr val="FFFFFF"/>
                </a:solidFill>
                <a:latin typeface="Inter"/>
                <a:ea typeface="Inter"/>
                <a:cs typeface="Inter"/>
              </a:rPr>
              <a:t>Current process to validate</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Departments identify surplus items locally.</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Staff check records and contact other departments.</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Approvals, transfers and maintenance may use separate records.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592" y="2031968"/>
            <a:ext cx="5537168" cy="3838575"/>
          </a:xfrm>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2200"/>
              </a:spcAft>
              <a:defRPr sz="1950" b="0">
                <a:solidFill>
                  <a:srgbClr val="FFFFFF"/>
                </a:solidFill>
                <a:latin typeface="Inter"/>
                <a:ea typeface="Inter"/>
                <a:cs typeface="Inter"/>
              </a:defRPr>
            </a:pPr>
            <a:r>
              <a:rPr sz="1950" b="0">
                <a:solidFill>
                  <a:srgbClr val="FFFFFF"/>
                </a:solidFill>
                <a:latin typeface="Inter"/>
                <a:ea typeface="Inter"/>
                <a:cs typeface="Inter"/>
              </a:rPr>
              <a:t>Proposed outcomes</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Make available assets easier to discover.</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Coordinate reuse and maintain a shared asset history.</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Estimate avoided purchases and waste diversion.</a:t>
            </a:r>
          </a:p>
        </p:txBody>
      </p:sp>
      <p:sp>
        <p:nvSpPr>
          <p:cNvPr id="12" name="lead">
            <a:extLst xmlns:a="http://schemas.openxmlformats.org/drawingml/2006/main">
              <a:ext uri="{FF2B5EF4-FFF2-40B4-BE49-F238E27FC236}">
                <a16:creationId xmlns:a16="http://schemas.microsoft.com/office/drawing/2014/main" id="{58EB2184-6784-4E94-B9F5-EE1106B7CC88}"/>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Usable assets can remain idle while another department needs similar items.</a:t>
            </a:r>
          </a:p>
        </p:txBody>
      </p:sp>
    </p:spTree>
    <p:extLst>
      <p:ext uri="{BB962C8B-B14F-4D97-AF65-F5344CB8AC3E}">
        <p14:creationId xmlns:p14="http://schemas.microsoft.com/office/powerpoint/2010/main" val="112486109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7"/>
                </a:solidFill>
                <a:latin typeface="Inter"/>
                <a:ea typeface="Inter"/>
                <a:cs typeface="Inter"/>
              </a:defRPr>
            </a:pPr>
            <a:r>
              <a:rPr sz="1350" b="0">
                <a:solidFill>
                  <a:srgbClr val="BDD0C7"/>
                </a:solidFill>
                <a:latin typeface="Inter"/>
                <a:ea typeface="Inter"/>
                <a:cs typeface="Inter"/>
              </a:rPr>
              <a:t>Working boundary: sample data and internal exchanges. Live campus integrations need feasibility review.</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202359C0-8A7A-196E-DD58-8E6569619F09}" type="slidenum">
              <a:rPr sz="1050" b="0">
                <a:solidFill>
                  <a:srgbClr val="FFFFFF"/>
                </a:solidFill>
                <a:latin typeface="Inter"/>
                <a:ea typeface="Inter"/>
                <a:cs typeface="Inter"/>
              </a:rPr>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Proposed scope</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668" y="2031968"/>
            <a:ext cx="5537168" cy="3838575"/>
          </a:xfrm>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2200"/>
              </a:spcAft>
              <a:defRPr sz="1950" b="0">
                <a:solidFill>
                  <a:srgbClr val="FFFFFF"/>
                </a:solidFill>
                <a:latin typeface="Inter"/>
                <a:ea typeface="Inter"/>
                <a:cs typeface="Inter"/>
              </a:defRPr>
            </a:pPr>
            <a:r>
              <a:rPr sz="1950" b="0">
                <a:solidFill>
                  <a:srgbClr val="FFFFFF"/>
                </a:solidFill>
                <a:latin typeface="Inter"/>
                <a:ea typeface="Inter"/>
                <a:cs typeface="Inter"/>
              </a:rPr>
              <a:t>Standard functions</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Accounts, roles and departments</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Asset listings, requests and reservations</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Approvals, transfers and maintenance history</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Notifications, reports and sustainability dashboard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592" y="2031968"/>
            <a:ext cx="5537168" cy="3838575"/>
          </a:xfrm>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2200"/>
              </a:spcAft>
              <a:defRPr sz="1950" b="0">
                <a:solidFill>
                  <a:srgbClr val="FFFFFF"/>
                </a:solidFill>
                <a:latin typeface="Inter"/>
                <a:ea typeface="Inter"/>
                <a:cs typeface="Inter"/>
              </a:defRPr>
            </a:pPr>
            <a:r>
              <a:rPr sz="1950" b="0">
                <a:solidFill>
                  <a:srgbClr val="FFFFFF"/>
                </a:solidFill>
                <a:latin typeface="Inter"/>
                <a:ea typeface="Inter"/>
                <a:cs typeface="Inter"/>
              </a:rPr>
              <a:t>AI functions</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Asset classification and semantic matching</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Ranking with explanations and user review</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Sustainable-action recommendations</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Natural-language assistant and generated reports</a:t>
            </a:r>
          </a:p>
        </p:txBody>
      </p:sp>
      <p:sp>
        <p:nvSpPr>
          <p:cNvPr id="12" name="lead">
            <a:extLst xmlns:a="http://schemas.openxmlformats.org/drawingml/2006/main">
              <a:ext uri="{FF2B5EF4-FFF2-40B4-BE49-F238E27FC236}">
                <a16:creationId xmlns:a16="http://schemas.microsoft.com/office/drawing/2014/main" id="{D79CAFDC-09A8-4DFF-80D9-4BA5B15AD274}"/>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An internal web prototype for authorized campus users.</a:t>
            </a:r>
          </a:p>
        </p:txBody>
      </p:sp>
    </p:spTree>
    <p:extLst>
      <p:ext uri="{BB962C8B-B14F-4D97-AF65-F5344CB8AC3E}">
        <p14:creationId xmlns:p14="http://schemas.microsoft.com/office/powerpoint/2010/main" val="151371538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7"/>
                </a:solidFill>
                <a:latin typeface="Inter"/>
                <a:ea typeface="Inter"/>
                <a:cs typeface="Inter"/>
              </a:defRPr>
            </a:pPr>
            <a:r>
              <a:rPr sz="1350" b="0">
                <a:solidFill>
                  <a:srgbClr val="BDD0C7"/>
                </a:solidFill>
                <a:latin typeface="Inter"/>
                <a:ea typeface="Inter"/>
                <a:cs typeface="Inter"/>
              </a:rPr>
              <a:t>AI recommends. Authorized staff approve transfers and other consequential actions.</a:t>
            </a:r>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EFD6AB9A-5F9E-5F59-51AB-3C8734130965}" type="slidenum">
              <a:rPr sz="1050" b="0">
                <a:solidFill>
                  <a:srgbClr val="FFFFFF"/>
                </a:solidFill>
                <a:latin typeface="Inter"/>
                <a:ea typeface="Inter"/>
                <a:cs typeface="Inter"/>
              </a:rPr>
              <a:t>4</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Example: reusing a spare monitor</a:t>
            </a:r>
          </a:p>
        </p:txBody>
      </p:sp>
      <p:graphicFrame>
        <p:nvGraphicFramePr>
          <p:cNvPr id="11" name="Table 3"/>
          <p:cNvGraphicFramePr/>
          <p:nvPr/>
        </p:nvGraphicFramePr>
        <p:xfrm>
          <a:off xmlns:a="http://schemas.openxmlformats.org/drawingml/2006/main" x="393700" y="1666875"/>
          <a:ext xmlns:a="http://schemas.openxmlformats.org/drawingml/2006/main" cx="11404600" cy="4286250"/>
        </p:xfrm>
        <a:graphic xmlns:a="http://schemas.openxmlformats.org/drawingml/2006/main">
          <a:graphicData uri="http://schemas.openxmlformats.org/drawingml/2006/table">
            <a:tbl>
              <a:tblPr firstRow="1" bandRow="1">
                <a:tableStyleId>{5C22544A-7EE6-4342-B048-85BDC9FD1C3A}</a:tableStyleId>
              </a:tblPr>
              <a:tblGrid>
                <a:gridCol w="2240189"/>
                <a:gridCol w="6313261"/>
                <a:gridCol w="2851150"/>
              </a:tblGrid>
              <a:tr h="419100">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Step</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System behavior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Responsible user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1. Publish</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Record specifications, condition and availability.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Asset custodian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2. Request</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Record the required monitor and suggest matches.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Requester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3. Review</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Show compatibility factors and request approval.</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Requester and approver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4. Transfer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Confirm release and receipt. Update custody and location.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Releasing and receiving users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5. Track</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Record reuse, later repairs and eventual retirement.</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Authorized staff</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bl>
          </a:graphicData>
        </a:graphic>
      </p:graphicFrame>
      <p:sp>
        <p:nvSpPr>
          <p:cNvPr id="7" name="lead">
            <a:extLst xmlns:a="http://schemas.openxmlformats.org/drawingml/2006/main">
              <a:ext uri="{FF2B5EF4-FFF2-40B4-BE49-F238E27FC236}">
                <a16:creationId xmlns:a16="http://schemas.microsoft.com/office/drawing/2014/main" id="{BC287CC3-9049-4FE5-8252-6EF66BC746CC}"/>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Illustrative workflow for a compatible, available item.</a:t>
            </a:r>
          </a:p>
        </p:txBody>
      </p:sp>
    </p:spTree>
    <p:extLst>
      <p:ext uri="{BB962C8B-B14F-4D97-AF65-F5344CB8AC3E}">
        <p14:creationId xmlns:p14="http://schemas.microsoft.com/office/powerpoint/2010/main" val="174674633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r>
              <a:t/>
            </a:r>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EE5B3003-2C54-13C6-9832-7637201064DE}" type="slidenum">
              <a:rPr sz="1050" b="0">
                <a:solidFill>
                  <a:srgbClr val="FFFFFF"/>
                </a:solidFill>
                <a:latin typeface="Inter"/>
                <a:ea typeface="Inter"/>
                <a:cs typeface="Inter"/>
              </a:rPr>
              <a:t>5</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Stakeholders and permissions</a:t>
            </a:r>
          </a:p>
        </p:txBody>
      </p:sp>
      <p:graphicFrame>
        <p:nvGraphicFramePr>
          <p:cNvPr id="11" name="Table 3"/>
          <p:cNvGraphicFramePr/>
          <p:nvPr/>
        </p:nvGraphicFramePr>
        <p:xfrm>
          <a:off xmlns:a="http://schemas.openxmlformats.org/drawingml/2006/main" x="393700" y="1666875"/>
          <a:ext xmlns:a="http://schemas.openxmlformats.org/drawingml/2006/main" cx="11404600" cy="4286250"/>
        </p:xfrm>
        <a:graphic xmlns:a="http://schemas.openxmlformats.org/drawingml/2006/main">
          <a:graphicData uri="http://schemas.openxmlformats.org/drawingml/2006/table">
            <a:tbl>
              <a:tblPr firstRow="1" bandRow="1">
                <a:tableStyleId>{5C22544A-7EE6-4342-B048-85BDC9FD1C3A}</a:tableStyleId>
              </a:tblPr>
              <a:tblGrid>
                <a:gridCol w="3258457"/>
                <a:gridCol w="4480379"/>
                <a:gridCol w="3665764"/>
              </a:tblGrid>
              <a:tr h="419100">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Stakeholder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Main responsibility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Data or authority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Department requester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Submit needs and review suitable assets.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Listings and own requests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Asset custodian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Maintain asset details and availability.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Assigned asset records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Designated approver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Approve releases and life-cycle actions.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Approval records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Maintenance staff</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Inspect assets and record repair work.</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Condition, costs and service history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Procurement / finance / sustainability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Review value assumptions and impact.</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Cost and impact reports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System administrator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Manage accounts, roles and audit access.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Access configuration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bl>
          </a:graphicData>
        </a:graphic>
      </p:graphicFrame>
      <p:sp>
        <p:nvSpPr>
          <p:cNvPr id="7" name="lead">
            <a:extLst xmlns:a="http://schemas.openxmlformats.org/drawingml/2006/main">
              <a:ext uri="{FF2B5EF4-FFF2-40B4-BE49-F238E27FC236}">
                <a16:creationId xmlns:a16="http://schemas.microsoft.com/office/drawing/2014/main" id="{14A24339-6683-4541-BFA8-C0286034819F}"/>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Proposed role map, to confirm against campus policy.</a:t>
            </a:r>
          </a:p>
        </p:txBody>
      </p:sp>
    </p:spTree>
    <p:extLst>
      <p:ext uri="{BB962C8B-B14F-4D97-AF65-F5344CB8AC3E}">
        <p14:creationId xmlns:p14="http://schemas.microsoft.com/office/powerpoint/2010/main" val="61581726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7"/>
                </a:solidFill>
                <a:latin typeface="Inter"/>
                <a:ea typeface="Inter"/>
                <a:cs typeface="Inter"/>
              </a:defRPr>
            </a:pPr>
            <a:r>
              <a:rPr sz="1350" b="0">
                <a:solidFill>
                  <a:srgbClr val="BDD0C7"/>
                </a:solidFill>
                <a:latin typeface="Inter"/>
                <a:ea typeface="Inter"/>
                <a:cs typeface="Inter"/>
              </a:rPr>
              <a:t>Stakeholder interviews and usability tests are planned. No results are claimed yet.</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8C630A04-5A25-9E0C-9436-126091DB86B3}" type="slidenum">
              <a:rPr sz="1050" b="0">
                <a:solidFill>
                  <a:srgbClr val="FFFFFF"/>
                </a:solidFill>
                <a:latin typeface="Inter"/>
                <a:ea typeface="Inter"/>
                <a:cs typeface="Inter"/>
              </a:rPr>
              <a:t>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Requirements gathering</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668" y="2031968"/>
            <a:ext cx="5537168" cy="3838575"/>
          </a:xfrm>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2200"/>
              </a:spcAft>
              <a:defRPr sz="1950" b="0">
                <a:solidFill>
                  <a:srgbClr val="FFFFFF"/>
                </a:solidFill>
                <a:latin typeface="Inter"/>
                <a:ea typeface="Inter"/>
                <a:cs typeface="Inter"/>
              </a:defRPr>
            </a:pPr>
            <a:r>
              <a:rPr sz="1950" b="0">
                <a:solidFill>
                  <a:srgbClr val="FFFFFF"/>
                </a:solidFill>
                <a:latin typeface="Inter"/>
                <a:ea typeface="Inter"/>
                <a:cs typeface="Inter"/>
              </a:rPr>
              <a:t>Next validation steps</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Discuss scope and approval rules with the instructor.</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Interview a custodian or an approved proxy user.</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Walk through one request, transfer and repair scenario.</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Record findings, priorities and unresolved questions.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592" y="2031968"/>
            <a:ext cx="5537168" cy="3838575"/>
          </a:xfrm>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2200"/>
              </a:spcAft>
              <a:defRPr sz="1950" b="0">
                <a:solidFill>
                  <a:srgbClr val="FFFFFF"/>
                </a:solidFill>
                <a:latin typeface="Inter"/>
                <a:ea typeface="Inter"/>
                <a:cs typeface="Inter"/>
              </a:defRPr>
            </a:pPr>
            <a:r>
              <a:rPr sz="1950" b="0">
                <a:solidFill>
                  <a:srgbClr val="FFFFFF"/>
                </a:solidFill>
                <a:latin typeface="Inter"/>
                <a:ea typeface="Inter"/>
                <a:cs typeface="Inter"/>
              </a:rPr>
              <a:t>Questions to resolve</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Who authorizes each action?</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Which asset details are mandatory?</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What makes a match unacceptable?</a:t>
            </a:r>
          </a:p>
          <a:p xmlns:a="http://schemas.openxmlformats.org/drawingml/2006/main">
            <a:pPr algn="l">
              <a:spcAft>
                <a:spcPts val="1500"/>
              </a:spcAft>
              <a:defRPr sz="1950" b="0">
                <a:solidFill>
                  <a:srgbClr val="FFFFFF"/>
                </a:solidFill>
                <a:latin typeface="Inter"/>
                <a:ea typeface="Inter"/>
                <a:cs typeface="Inter"/>
              </a:defRPr>
            </a:pPr>
            <a:r>
              <a:rPr sz="1950" b="0">
                <a:solidFill>
                  <a:srgbClr val="FFFFFF"/>
                </a:solidFill>
                <a:latin typeface="Inter"/>
                <a:ea typeface="Inter"/>
                <a:cs typeface="Inter"/>
              </a:rPr>
              <a:t>Which records support savings and impact estimates?</a:t>
            </a:r>
          </a:p>
        </p:txBody>
      </p:sp>
      <p:sp>
        <p:nvSpPr>
          <p:cNvPr id="12" name="lead">
            <a:extLst xmlns:a="http://schemas.openxmlformats.org/drawingml/2006/main">
              <a:ext uri="{FF2B5EF4-FFF2-40B4-BE49-F238E27FC236}">
                <a16:creationId xmlns:a16="http://schemas.microsoft.com/office/drawing/2014/main" id="{A6D83889-2D75-43E3-BAA0-DDBC8F9C95F4}"/>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The initial draft comes from the course documents.</a:t>
            </a:r>
          </a:p>
        </p:txBody>
      </p:sp>
    </p:spTree>
    <p:extLst>
      <p:ext uri="{BB962C8B-B14F-4D97-AF65-F5344CB8AC3E}">
        <p14:creationId xmlns:p14="http://schemas.microsoft.com/office/powerpoint/2010/main" val="143993963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7"/>
                </a:solidFill>
                <a:latin typeface="Inter"/>
                <a:ea typeface="Inter"/>
                <a:cs typeface="Inter"/>
              </a:defRPr>
            </a:pPr>
            <a:r>
              <a:rPr sz="1350" b="0">
                <a:solidFill>
                  <a:srgbClr val="BDD0C7"/>
                </a:solidFill>
                <a:latin typeface="Inter"/>
                <a:ea typeface="Inter"/>
                <a:cs typeface="Inter"/>
              </a:rPr>
              <a:t>These feature summaries need detailed acceptance rules. Medium priority still belongs in the prototype.</a:t>
            </a:r>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D3D7D1C8-AE23-AA48-DF65-C742588DBE47}" type="slidenum">
              <a:rPr sz="1050" b="0">
                <a:solidFill>
                  <a:srgbClr val="FFFFFF"/>
                </a:solidFill>
                <a:latin typeface="Inter"/>
                <a:ea typeface="Inter"/>
                <a:cs typeface="Inter"/>
              </a:rPr>
              <a:t>7</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Initial functional requirements</a:t>
            </a:r>
          </a:p>
        </p:txBody>
      </p:sp>
      <p:graphicFrame>
        <p:nvGraphicFramePr>
          <p:cNvPr id="11" name="Table 3"/>
          <p:cNvGraphicFramePr/>
          <p:nvPr/>
        </p:nvGraphicFramePr>
        <p:xfrm>
          <a:off xmlns:a="http://schemas.openxmlformats.org/drawingml/2006/main" x="393700" y="1666875"/>
          <a:ext xmlns:a="http://schemas.openxmlformats.org/drawingml/2006/main" cx="11404600" cy="4286250"/>
        </p:xfrm>
        <a:graphic xmlns:a="http://schemas.openxmlformats.org/drawingml/2006/main">
          <a:graphicData uri="http://schemas.openxmlformats.org/drawingml/2006/table">
            <a:tbl>
              <a:tblPr firstRow="1" bandRow="1">
                <a:tableStyleId>{5C22544A-7EE6-4342-B048-85BDC9FD1C3A}</a:tableStyleId>
              </a:tblPr>
              <a:tblGrid>
                <a:gridCol w="1221921"/>
                <a:gridCol w="8655277"/>
                <a:gridCol w="1527402"/>
              </a:tblGrid>
              <a:tr h="419100">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ID</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Requirement</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Priority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FR-01</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Authenticate users and restrict actions by role and department.</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High</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FR-02</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Allow custodians to register assets and publish availability.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High</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FR-03</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Support search, resource requests, reservations and status tracking.</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High</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FR-04</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Require approval and receipt before completing a transfer.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High</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FR-05</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Retain custody, repair, donation, recycling and disposal history.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High</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FR-06</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Notify users of status changes and produce operational reports.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Medium</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bl>
          </a:graphicData>
        </a:graphic>
      </p:graphicFrame>
      <p:sp>
        <p:nvSpPr>
          <p:cNvPr id="7" name="lead">
            <a:extLst xmlns:a="http://schemas.openxmlformats.org/drawingml/2006/main">
              <a:ext uri="{FF2B5EF4-FFF2-40B4-BE49-F238E27FC236}">
                <a16:creationId xmlns:a16="http://schemas.microsoft.com/office/drawing/2014/main" id="{D0E4CE0B-A524-4342-9328-99423C559FF4}"/>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Proposed priorities describe implementation order.</a:t>
            </a:r>
          </a:p>
        </p:txBody>
      </p:sp>
    </p:spTree>
    <p:extLst>
      <p:ext uri="{BB962C8B-B14F-4D97-AF65-F5344CB8AC3E}">
        <p14:creationId xmlns:p14="http://schemas.microsoft.com/office/powerpoint/2010/main" val="6071686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7"/>
                </a:solidFill>
                <a:latin typeface="Inter"/>
                <a:ea typeface="Inter"/>
                <a:cs typeface="Inter"/>
              </a:defRPr>
            </a:pPr>
            <a:r>
              <a:rPr sz="1350" b="0">
                <a:solidFill>
                  <a:srgbClr val="BDD0C7"/>
                </a:solidFill>
                <a:latin typeface="Inter"/>
                <a:ea typeface="Inter"/>
                <a:cs typeface="Inter"/>
              </a:rPr>
              <a:t>Users can reject suggestions. Standard search remains available if AI fails.</a:t>
            </a:r>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BA58DA2A-B818-18A9-29C1-B697728D5BCE}" type="slidenum">
              <a:rPr sz="1050" b="0">
                <a:solidFill>
                  <a:srgbClr val="FFFFFF"/>
                </a:solidFill>
                <a:latin typeface="Inter"/>
                <a:ea typeface="Inter"/>
                <a:cs typeface="Inter"/>
              </a:rPr>
              <a:t>8</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AI requirements and human review</a:t>
            </a:r>
          </a:p>
        </p:txBody>
      </p:sp>
      <p:graphicFrame>
        <p:nvGraphicFramePr>
          <p:cNvPr id="11" name="Table 3"/>
          <p:cNvGraphicFramePr/>
          <p:nvPr/>
        </p:nvGraphicFramePr>
        <p:xfrm>
          <a:off xmlns:a="http://schemas.openxmlformats.org/drawingml/2006/main" x="393700" y="1666875"/>
          <a:ext xmlns:a="http://schemas.openxmlformats.org/drawingml/2006/main" cx="11404600" cy="4286250"/>
        </p:xfrm>
        <a:graphic xmlns:a="http://schemas.openxmlformats.org/drawingml/2006/main">
          <a:graphicData uri="http://schemas.openxmlformats.org/drawingml/2006/table">
            <a:tbl>
              <a:tblPr firstRow="1" bandRow="1">
                <a:tableStyleId>{5C22544A-7EE6-4342-B048-85BDC9FD1C3A}</a:tableStyleId>
              </a:tblPr>
              <a:tblGrid>
                <a:gridCol w="1221921"/>
                <a:gridCol w="8655277"/>
                <a:gridCol w="1527402"/>
              </a:tblGrid>
              <a:tr h="419100">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ID</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Proposed behavior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Priority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AI-01</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Suggest categories and tags for new asset records.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High</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AI-02</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Rank compatible assets and explain the main matching factors.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High</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AI-03</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Recommend reuse, repair or other sustainable life-cycle actions.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Medium</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AI-04</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Assist with search, request submission and status questions.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Medium</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AI-05</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Summarize recorded activity and traceable impact estimates.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Medium</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bl>
          </a:graphicData>
        </a:graphic>
      </p:graphicFrame>
      <p:sp>
        <p:nvSpPr>
          <p:cNvPr id="7" name="lead">
            <a:extLst xmlns:a="http://schemas.openxmlformats.org/drawingml/2006/main">
              <a:ext uri="{FF2B5EF4-FFF2-40B4-BE49-F238E27FC236}">
                <a16:creationId xmlns:a16="http://schemas.microsoft.com/office/drawing/2014/main" id="{D4367877-0A40-42B8-A4D7-BEA447C59F46}"/>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AI output must remain explainable and reviewable.</a:t>
            </a:r>
          </a:p>
        </p:txBody>
      </p:sp>
    </p:spTree>
    <p:extLst>
      <p:ext uri="{BB962C8B-B14F-4D97-AF65-F5344CB8AC3E}">
        <p14:creationId xmlns:p14="http://schemas.microsoft.com/office/powerpoint/2010/main" val="18429055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r>
              <a:t/>
            </a:r>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388657AE-30A1-5A7A-6A7F-315D84436430}" type="slidenum">
              <a:rPr sz="1050" b="0">
                <a:solidFill>
                  <a:srgbClr val="FFFFFF"/>
                </a:solidFill>
                <a:latin typeface="Inter"/>
                <a:ea typeface="Inter"/>
                <a:cs typeface="Inter"/>
              </a:rPr>
              <a:t>9</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Quality requirements and success criteria</a:t>
            </a:r>
          </a:p>
        </p:txBody>
      </p:sp>
      <p:graphicFrame>
        <p:nvGraphicFramePr>
          <p:cNvPr id="11" name="Table 3"/>
          <p:cNvGraphicFramePr/>
          <p:nvPr/>
        </p:nvGraphicFramePr>
        <p:xfrm>
          <a:off xmlns:a="http://schemas.openxmlformats.org/drawingml/2006/main" x="393700" y="1666875"/>
          <a:ext xmlns:a="http://schemas.openxmlformats.org/drawingml/2006/main" cx="11404600" cy="4286250"/>
        </p:xfrm>
        <a:graphic xmlns:a="http://schemas.openxmlformats.org/drawingml/2006/main">
          <a:graphicData uri="http://schemas.openxmlformats.org/drawingml/2006/table">
            <a:tbl>
              <a:tblPr firstRow="1" bandRow="1">
                <a:tableStyleId>{5C22544A-7EE6-4342-B048-85BDC9FD1C3A}</a:tableStyleId>
              </a:tblPr>
              <a:tblGrid>
                <a:gridCol w="2392929"/>
                <a:gridCol w="5905954"/>
                <a:gridCol w="3105717"/>
              </a:tblGrid>
              <a:tr h="419100">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Area</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Acceptance target</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Planned evidence</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Core workflow</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Pass 10 agreed end-to-end scenarios.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Recorded test cases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Access control</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Reject every unauthorized action in the agreed test matrix.</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Positive and negative role tests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Search performance</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95% within 2 seconds, using 500 assets and 10 concurrent users.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Repeatable load test</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User acceptance</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4 of 5 testers complete key tasks without help.</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Observed task checklist</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Match usefulness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An acceptable asset in the top 3 for 16 of 20 feasible requests.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Reviewed labels and baseline comparison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Impact calculations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Reproduce expected values for 10 reuse and repair cases.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Independent calculation checks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bl>
          </a:graphicData>
        </a:graphic>
      </p:graphicFrame>
      <p:sp>
        <p:nvSpPr>
          <p:cNvPr id="7" name="lead">
            <a:extLst xmlns:a="http://schemas.openxmlformats.org/drawingml/2006/main">
              <a:ext uri="{FF2B5EF4-FFF2-40B4-BE49-F238E27FC236}">
                <a16:creationId xmlns:a16="http://schemas.microsoft.com/office/drawing/2014/main" id="{9EEB5A21-AD0C-435F-9068-C6FF2565DC09}"/>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Proposed prototype targets. Testing has not started.</a:t>
            </a:r>
          </a:p>
        </p:txBody>
      </p:sp>
    </p:spTree>
    <p:extLst>
      <p:ext uri="{BB962C8B-B14F-4D97-AF65-F5344CB8AC3E}">
        <p14:creationId xmlns:p14="http://schemas.microsoft.com/office/powerpoint/2010/main" val="83662854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7"/>
                </a:solidFill>
                <a:latin typeface="Inter"/>
                <a:ea typeface="Inter"/>
                <a:cs typeface="Inter"/>
              </a:defRPr>
            </a:pPr>
            <a:r>
              <a:rPr sz="1350" b="0">
                <a:solidFill>
                  <a:srgbClr val="BDD0C7"/>
                </a:solidFill>
                <a:latin typeface="Inter"/>
                <a:ea typeface="Inter"/>
                <a:cs typeface="Inter"/>
              </a:rPr>
              <a:t>Framework, database, AI provider, hosting and budget remain to be agreed during feasibility work.</a:t>
            </a:r>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DB7BEEEC-A170-5376-2B6E-CB54687B0CB1}" type="slidenum">
              <a:rPr sz="1050" b="0">
                <a:solidFill>
                  <a:srgbClr val="FFFFFF"/>
                </a:solidFill>
                <a:latin typeface="Inter"/>
                <a:ea typeface="Inter"/>
                <a:cs typeface="Inter"/>
              </a:rPr>
              <a:t>10</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Resources, assumptions and risks</a:t>
            </a:r>
          </a:p>
        </p:txBody>
      </p:sp>
      <p:graphicFrame>
        <p:nvGraphicFramePr>
          <p:cNvPr id="11" name="Table 3"/>
          <p:cNvGraphicFramePr/>
          <p:nvPr/>
        </p:nvGraphicFramePr>
        <p:xfrm>
          <a:off xmlns:a="http://schemas.openxmlformats.org/drawingml/2006/main" x="393700" y="1666875"/>
          <a:ext xmlns:a="http://schemas.openxmlformats.org/drawingml/2006/main" cx="11404600" cy="4286250"/>
        </p:xfrm>
        <a:graphic xmlns:a="http://schemas.openxmlformats.org/drawingml/2006/main">
          <a:graphicData uri="http://schemas.openxmlformats.org/drawingml/2006/table">
            <a:tbl>
              <a:tblPr firstRow="1" bandRow="1">
                <a:tableStyleId>{5C22544A-7EE6-4342-B048-85BDC9FD1C3A}</a:tableStyleId>
              </a:tblPr>
              <a:tblGrid>
                <a:gridCol w="4378552"/>
                <a:gridCol w="7026048"/>
              </a:tblGrid>
              <a:tr h="419100">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Risk or dependency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Planned response</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Limited staff access or asset data</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Use clearly labelled sample data and approved proxy feedback.</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Too much scope for one semester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Build in increments and confirm the depth of each required feature.</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AI cost, outage or poor results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Assess free/low-cost options, cap usage and keep standard search usable.</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Weak cost or emissions assumptions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Record sources and calculation assumptions. Flag uncertain estimates.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77343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Conflicting edits or unclear ownership</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Use task branches, peer review and each member’s own commits.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bl>
          </a:graphicData>
        </a:graphic>
      </p:graphicFrame>
      <p:sp>
        <p:nvSpPr>
          <p:cNvPr id="7" name="lead">
            <a:extLst xmlns:a="http://schemas.openxmlformats.org/drawingml/2006/main">
              <a:ext uri="{FF2B5EF4-FFF2-40B4-BE49-F238E27FC236}">
                <a16:creationId xmlns:a16="http://schemas.microsoft.com/office/drawing/2014/main" id="{12894202-D112-4BEF-B389-EFA835CE35EA}"/>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Proposed resources: three students, GitHub, VS Code and a sample dataset.</a:t>
            </a:r>
          </a:p>
        </p:txBody>
      </p:sp>
    </p:spTree>
    <p:extLst>
      <p:ext uri="{BB962C8B-B14F-4D97-AF65-F5344CB8AC3E}">
        <p14:creationId xmlns:p14="http://schemas.microsoft.com/office/powerpoint/2010/main" val="123688803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7"/>
                </a:solidFill>
                <a:latin typeface="Inter"/>
                <a:ea typeface="Inter"/>
                <a:cs typeface="Inter"/>
              </a:defRPr>
            </a:pPr>
            <a:r>
              <a:rPr sz="1350" b="0">
                <a:solidFill>
                  <a:srgbClr val="BDD0C7"/>
                </a:solidFill>
                <a:latin typeface="Inter"/>
                <a:ea typeface="Inter"/>
                <a:cs typeface="Inter"/>
              </a:rPr>
              <a:t>All members review the full report and record their own contributions in GitHub.</a:t>
            </a:r>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30394428-F1DC-E5F6-DB0C-7DE31F3D8A23}" type="slidenum">
              <a:rPr sz="1050" b="0">
                <a:solidFill>
                  <a:srgbClr val="FFFFFF"/>
                </a:solidFill>
                <a:latin typeface="Inter"/>
                <a:ea typeface="Inter"/>
                <a:cs typeface="Inter"/>
              </a:rPr>
              <a:t>11</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Proposed Phase 1 responsibilities</a:t>
            </a:r>
          </a:p>
        </p:txBody>
      </p:sp>
      <p:graphicFrame>
        <p:nvGraphicFramePr>
          <p:cNvPr id="11" name="Table 3"/>
          <p:cNvGraphicFramePr/>
          <p:nvPr/>
        </p:nvGraphicFramePr>
        <p:xfrm>
          <a:off xmlns:a="http://schemas.openxmlformats.org/drawingml/2006/main" x="393700" y="1666875"/>
          <a:ext xmlns:a="http://schemas.openxmlformats.org/drawingml/2006/main" cx="11404600" cy="3524250"/>
        </p:xfrm>
        <a:graphic xmlns:a="http://schemas.openxmlformats.org/drawingml/2006/main">
          <a:graphicData uri="http://schemas.openxmlformats.org/drawingml/2006/table">
            <a:tbl>
              <a:tblPr firstRow="1" bandRow="1">
                <a:tableStyleId>{5C22544A-7EE6-4342-B048-85BDC9FD1C3A}</a:tableStyleId>
              </a:tblPr>
              <a:tblGrid>
                <a:gridCol w="3462111"/>
                <a:gridCol w="6007780"/>
                <a:gridCol w="1934709"/>
              </a:tblGrid>
              <a:tr h="419100">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Member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Proposed lead responsibility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Presentation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103505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SAEED ALKAABI</a:t>
                      </a:r>
                    </a:p>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100063100</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Problem, scope, example workflow and repository coordination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Slides 1–4</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103505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ALI ALAWADHI</a:t>
                      </a:r>
                    </a:p>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100063186</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Stakeholders, requirements gathering and initial requirements</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Slides 5–8</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1035050">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HUMAID AL ALI</a:t>
                      </a:r>
                    </a:p>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100062914</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Success criteria, resources, risks and project plan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Slides 9–12</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bl>
          </a:graphicData>
        </a:graphic>
      </p:graphicFrame>
      <p:sp>
        <p:nvSpPr>
          <p:cNvPr id="7" name="lead">
            <a:extLst xmlns:a="http://schemas.openxmlformats.org/drawingml/2006/main">
              <a:ext uri="{FF2B5EF4-FFF2-40B4-BE49-F238E27FC236}">
                <a16:creationId xmlns:a16="http://schemas.microsoft.com/office/drawing/2014/main" id="{E2E2B7FB-292A-40D8-B7E4-BC9054785AD2}"/>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The group will confirm this split before starting the assigned sections.</a:t>
            </a:r>
          </a:p>
        </p:txBody>
      </p:sp>
    </p:spTree>
    <p:extLst>
      <p:ext uri="{BB962C8B-B14F-4D97-AF65-F5344CB8AC3E}">
        <p14:creationId xmlns:p14="http://schemas.microsoft.com/office/powerpoint/2010/main" val="63292153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D2FC4FC7-396D-BE8D-1F0E-C849A74CA5DD}"/>
              </a:ext>
            </a:extLst>
          </p:cNvPr>
          <p:cNvSpPr>
            <a:spLocks xmlns:a="http://schemas.openxmlformats.org/drawingml/2006/main" noGrp="1"/>
          </p:cNvSpPr>
          <p:nvPr>
            <p:ph type="ftr" idx="3"/>
          </p:nvPr>
        </p:nvSpPr>
        <p:spPr>
          <a:xfrm xmlns:a="http://schemas.openxmlformats.org/drawingml/2006/main">
            <a:off x="393668" y="6229350"/>
            <a:ext cx="10620375" cy="41910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7"/>
                </a:solidFill>
                <a:latin typeface="Inter"/>
                <a:ea typeface="Inter"/>
                <a:cs typeface="Inter"/>
              </a:defRPr>
            </a:pPr>
            <a:r>
              <a:rPr sz="1350" b="0">
                <a:solidFill>
                  <a:srgbClr val="BDD0C7"/>
                </a:solidFill>
                <a:latin typeface="Inter"/>
                <a:ea typeface="Inter"/>
                <a:cs typeface="Inter"/>
              </a:rPr>
              <a:t>Next: confirm roles, validate requirements, complete the report and rehearse together.</a:t>
            </a:r>
            <a:endParaRPr/>
          </a:p>
        </p:txBody>
      </p:sp>
      <p:sp>
        <p:nvSpPr>
          <p:cNvPr id="2" name="Slide Number Placeholder 1">
            <a:extLst xmlns:a="http://schemas.openxmlformats.org/drawingml/2006/main">
              <a:ext uri="{FF2B5EF4-FFF2-40B4-BE49-F238E27FC236}">
                <a16:creationId xmlns:a16="http://schemas.microsoft.com/office/drawing/2014/main" id="{B3BD1300-E71C-732F-134B-B7EE0492A9B7}"/>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FFFFFF"/>
                </a:solidFill>
                <a:latin typeface="Inter"/>
                <a:ea typeface="Inter"/>
                <a:cs typeface="Inter"/>
              </a:defRPr>
            </a:pPr>
            <a:fld id="{4DB16885-0D3F-A391-B669-3211DB3B26E8}" type="slidenum">
              <a:rPr sz="1050" b="0">
                <a:solidFill>
                  <a:srgbClr val="FFFFFF"/>
                </a:solidFill>
                <a:latin typeface="Inter"/>
                <a:ea typeface="Inter"/>
                <a:cs typeface="Inter"/>
              </a:rPr>
              <a:t>12</a:t>
            </a:fld>
            <a:endParaRPr/>
          </a:p>
        </p:txBody>
      </p:sp>
      <p:sp>
        <p:nvSpPr>
          <p:cNvPr id="3" name="Title 2">
            <a:extLst xmlns:a="http://schemas.openxmlformats.org/drawingml/2006/main">
              <a:ext uri="{FF2B5EF4-FFF2-40B4-BE49-F238E27FC236}">
                <a16:creationId xmlns:a16="http://schemas.microsoft.com/office/drawing/2014/main" id="{FC59BB80-DF6A-0532-F91A-4A78B8E5820E}"/>
              </a:ext>
            </a:extLst>
          </p:cNvPr>
          <p:cNvSpPr>
            <a:spLocks xmlns:a="http://schemas.openxmlformats.org/drawingml/2006/main" noGrp="1"/>
          </p:cNvSpPr>
          <p:nvPr>
            <p:ph type="title" idx="0"/>
          </p:nvPr>
        </p:nvSpPr>
        <p:spPr>
          <a:xfrm xmlns:a="http://schemas.openxmlformats.org/drawingml/2006/main">
            <a:off x="393668" y="344043"/>
            <a:ext cx="11404568" cy="628650"/>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BCEF59"/>
                </a:solidFill>
                <a:latin typeface="Inter"/>
                <a:ea typeface="Inter"/>
                <a:cs typeface="Inter"/>
              </a:defRPr>
            </a:pPr>
            <a:r>
              <a:rPr sz="3150" b="0">
                <a:solidFill>
                  <a:srgbClr val="BCEF59"/>
                </a:solidFill>
                <a:latin typeface="Inter"/>
                <a:ea typeface="Inter"/>
                <a:cs typeface="Inter"/>
              </a:rPr>
              <a:t>Milestones and immediate next steps</a:t>
            </a:r>
          </a:p>
        </p:txBody>
      </p:sp>
      <p:graphicFrame>
        <p:nvGraphicFramePr>
          <p:cNvPr id="11" name="Table 3"/>
          <p:cNvGraphicFramePr/>
          <p:nvPr/>
        </p:nvGraphicFramePr>
        <p:xfrm>
          <a:off xmlns:a="http://schemas.openxmlformats.org/drawingml/2006/main" x="393700" y="1666875"/>
          <a:ext xmlns:a="http://schemas.openxmlformats.org/drawingml/2006/main" cx="11404600" cy="4286250"/>
        </p:xfrm>
        <a:graphic xmlns:a="http://schemas.openxmlformats.org/drawingml/2006/main">
          <a:graphicData uri="http://schemas.openxmlformats.org/drawingml/2006/table">
            <a:tbl>
              <a:tblPr firstRow="1" bandRow="1">
                <a:tableStyleId>{5C22544A-7EE6-4342-B048-85BDC9FD1C3A}</a:tableStyleId>
              </a:tblPr>
              <a:tblGrid>
                <a:gridCol w="1476488"/>
                <a:gridCol w="7026048"/>
                <a:gridCol w="2902063"/>
              </a:tblGrid>
              <a:tr h="419100">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Phase</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Deliverable</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650" b="1" i="0" u="none" cap="none" spc="0">
                          <a:ln>
                            <a:noFill/>
                          </a:ln>
                          <a:solidFill>
                            <a:srgbClr val="BCEF59"/>
                          </a:solidFill>
                          <a:latin typeface="Inter"/>
                          <a:ea typeface="Inter"/>
                          <a:cs typeface="Inter"/>
                        </a:rPr>
                        <a:t>Tentative lab week</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1</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Initial plan and requirements gathering</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20 September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2</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Feasibility study</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4 October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3</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Requirements specification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18 October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4–5</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Architecture and detailed design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1 November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6</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Draft implementation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22 November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r h="644525">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BCEF59"/>
                          </a:solidFill>
                          <a:latin typeface="Inter"/>
                          <a:ea typeface="Inter"/>
                          <a:cs typeface="Inter"/>
                        </a:rPr>
                        <a:t>7–8</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Test cases, final project and demonstration</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c>
                  <a:txBody>
                    <a:bodyPr wrap="square">
                      <a:noAutofit/>
                    </a:bodyPr>
                    <a:lstStyle/>
                    <a:p>
                      <a:pPr marL="0" marR="0" lvl="0" indent="0" algn="l" defTabSz="914400">
                        <a:lnSpc>
                          <a:spcPct val="100000"/>
                        </a:lnSpc>
                        <a:spcBef>
                          <a:spcPts val="0"/>
                        </a:spcBef>
                        <a:spcAft>
                          <a:spcPts val="0"/>
                        </a:spcAft>
                        <a:buClrTx/>
                        <a:buSzTx/>
                        <a:buFontTx/>
                        <a:buNone/>
                      </a:pPr>
                      <a:r>
                        <a:rPr sz="1800" b="0" i="0" u="none" cap="none" spc="0">
                          <a:ln>
                            <a:noFill/>
                          </a:ln>
                          <a:solidFill>
                            <a:srgbClr val="FFFFFF"/>
                          </a:solidFill>
                          <a:latin typeface="Inter"/>
                          <a:ea typeface="Inter"/>
                          <a:cs typeface="Inter"/>
                        </a:rPr>
                        <a:t>6 December</a:t>
                      </a:r>
                    </a:p>
                  </a:txBody>
                  <a:tcPr marL="0" marR="190500" marT="38100" marB="38100" anchor="ctr">
                    <a:lnL w="12700" cmpd="sng">
                      <a:noFill/>
                    </a:lnL>
                    <a:lnR w="12700" cmpd="sng">
                      <a:noFill/>
                    </a:lnR>
                    <a:lnT w="12700" cmpd="sng">
                      <a:noFill/>
                    </a:lnT>
                    <a:lnB w="12700" cmpd="sng">
                      <a:noFill/>
                      <a:prstDash val="solid"/>
                    </a:lnB>
                    <a:lnTlToBr w="12700" cmpd="sng">
                      <a:noFill/>
                      <a:prstDash val="solid"/>
                    </a:lnTlToBr>
                    <a:lnBlToTr w="12700" cmpd="sng">
                      <a:noFill/>
                      <a:prstDash val="solid"/>
                    </a:lnBlToTr>
                    <a:noFill/>
                  </a:tcPr>
                </a:tc>
              </a:tr>
            </a:tbl>
          </a:graphicData>
        </a:graphic>
      </p:graphicFrame>
      <p:sp>
        <p:nvSpPr>
          <p:cNvPr id="7" name="lead">
            <a:extLst xmlns:a="http://schemas.openxmlformats.org/drawingml/2006/main">
              <a:ext uri="{FF2B5EF4-FFF2-40B4-BE49-F238E27FC236}">
                <a16:creationId xmlns:a16="http://schemas.microsoft.com/office/drawing/2014/main" id="{D53A94B8-2697-48DE-8099-3B559F58500D}"/>
              </a:ext>
            </a:extLst>
          </p:cNvPr>
          <p:cNvSpPr>
            <a:spLocks xmlns:a="http://schemas.openxmlformats.org/drawingml/2006/main" noGrp="1"/>
          </p:cNvSpPr>
          <p:nvPr/>
        </p:nvSpPr>
        <p:spPr>
          <a:xfrm xmlns:a="http://schemas.openxmlformats.org/drawingml/2006/main">
            <a:off x="393668" y="1143000"/>
            <a:ext cx="1119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Inter"/>
                <a:ea typeface="Inter"/>
                <a:cs typeface="Inter"/>
              </a:defRPr>
            </a:pPr>
            <a:r>
              <a:rPr sz="1875" b="0">
                <a:solidFill>
                  <a:srgbClr val="FFFFFF"/>
                </a:solidFill>
                <a:latin typeface="Inter"/>
                <a:ea typeface="Inter"/>
                <a:cs typeface="Inter"/>
              </a:rPr>
              <a:t>Short iterations within the course phases, with peer review before each handoff.</a:t>
            </a:r>
          </a:p>
        </p:txBody>
      </p:sp>
    </p:spTree>
    <p:extLst>
      <p:ext uri="{BB962C8B-B14F-4D97-AF65-F5344CB8AC3E}">
        <p14:creationId xmlns:p14="http://schemas.microsoft.com/office/powerpoint/2010/main" val="342062320"/>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2026-09-14T12:39:30.5480000Z</dcterms:created>
  <dcterms:modified xsi:type="dcterms:W3CDTF">2026-09-14T12:39:30.5480000Z</dcterms:modified>
</coreProperties>
</file>