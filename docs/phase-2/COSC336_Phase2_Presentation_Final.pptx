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8693bc6de84c1d" /><Relationship Type="http://schemas.openxmlformats.org/officeDocument/2006/relationships/extended-properties" Target="/docProps/app.xml" Id="R3623ebc289b14d03" /><Relationship Type="http://schemas.openxmlformats.org/officeDocument/2006/relationships/officeDocument" Target="/ppt/presentation.xml" Id="R46adb23b6ada4722" /></Relationships>
</file>

<file path=ppt/presentation.xml><?xml version="1.0" encoding="utf-8"?>
<p:presentation xmlns:p="http://schemas.openxmlformats.org/presentationml/2006/main">
  <p:sldMasterIdLst>
    <p:sldMasterId xmlns:r="http://schemas.openxmlformats.org/officeDocument/2006/relationships" id="2147483648" r:id="R02bde38f0591485f"/>
  </p:sldMasterIdLst>
  <p:notesMasterIdLst>
    <p:notesMasterId xmlns:r="http://schemas.openxmlformats.org/officeDocument/2006/relationships" r:id="R348475faec0448ca"/>
  </p:notesMasterIdLst>
  <p:sldIdLst>
    <p:sldId xmlns:r="http://schemas.openxmlformats.org/officeDocument/2006/relationships" id="256" r:id="Rbb7aa180485440aa"/>
    <p:sldId xmlns:r="http://schemas.openxmlformats.org/officeDocument/2006/relationships" id="257" r:id="Rb80510f2324645f4"/>
    <p:sldId xmlns:r="http://schemas.openxmlformats.org/officeDocument/2006/relationships" id="258" r:id="R0f1fedb048a9452c"/>
    <p:sldId xmlns:r="http://schemas.openxmlformats.org/officeDocument/2006/relationships" id="259" r:id="Rf94783b7e88d4ab3"/>
    <p:sldId xmlns:r="http://schemas.openxmlformats.org/officeDocument/2006/relationships" id="260" r:id="Rca78541c1882463a"/>
    <p:sldId xmlns:r="http://schemas.openxmlformats.org/officeDocument/2006/relationships" id="261" r:id="Re64c6b24388b4c9e"/>
    <p:sldId xmlns:r="http://schemas.openxmlformats.org/officeDocument/2006/relationships" id="262" r:id="R31de0fdfcdc644bf"/>
    <p:sldId xmlns:r="http://schemas.openxmlformats.org/officeDocument/2006/relationships" id="263" r:id="R03975c4bef094535"/>
    <p:sldId xmlns:r="http://schemas.openxmlformats.org/officeDocument/2006/relationships" id="264" r:id="R9e9c64655cc04d55"/>
    <p:sldId xmlns:r="http://schemas.openxmlformats.org/officeDocument/2006/relationships" id="265" r:id="R68e038347fc44bdb"/>
    <p:sldId xmlns:r="http://schemas.openxmlformats.org/officeDocument/2006/relationships" id="266" r:id="R58ee105d74a74649"/>
    <p:sldId xmlns:r="http://schemas.openxmlformats.org/officeDocument/2006/relationships" id="267" r:id="R7f2550da0410409c"/>
    <p:sldId xmlns:r="http://schemas.openxmlformats.org/officeDocument/2006/relationships" id="268" r:id="Rdf9e0c262d3e4c42"/>
    <p:sldId xmlns:r="http://schemas.openxmlformats.org/officeDocument/2006/relationships" id="269" r:id="R40553a0720914692"/>
    <p:sldId xmlns:r="http://schemas.openxmlformats.org/officeDocument/2006/relationships" id="270" r:id="R738a451f63954083"/>
    <p:sldId xmlns:r="http://schemas.openxmlformats.org/officeDocument/2006/relationships" id="271" r:id="Rf25e4cf9ddc7406e"/>
    <p:sldId xmlns:r="http://schemas.openxmlformats.org/officeDocument/2006/relationships" id="272" r:id="R24502a527a864063"/>
    <p:sldId xmlns:r="http://schemas.openxmlformats.org/officeDocument/2006/relationships" id="273" r:id="Ra596e3f55b044efd"/>
    <p:sldId xmlns:r="http://schemas.openxmlformats.org/officeDocument/2006/relationships" id="274" r:id="Rf3001662b9c04d42"/>
    <p:sldId xmlns:r="http://schemas.openxmlformats.org/officeDocument/2006/relationships" id="275" r:id="R7fe3faf3c2f14290"/>
    <p:sldId xmlns:r="http://schemas.openxmlformats.org/officeDocument/2006/relationships" id="276" r:id="Ra6961071c81b4381"/>
    <p:sldId xmlns:r="http://schemas.openxmlformats.org/officeDocument/2006/relationships" id="277" r:id="Rb4ab662a1f2d4e85"/>
    <p:sldId xmlns:r="http://schemas.openxmlformats.org/officeDocument/2006/relationships" id="278" r:id="R1601c49dd7ae4e63"/>
    <p:sldId xmlns:r="http://schemas.openxmlformats.org/officeDocument/2006/relationships" id="279" r:id="R070ef2cd409740ec"/>
    <p:sldId xmlns:r="http://schemas.openxmlformats.org/officeDocument/2006/relationships" id="280" r:id="Rcb82aa30e08e440d"/>
    <p:sldId xmlns:r="http://schemas.openxmlformats.org/officeDocument/2006/relationships" id="281" r:id="R36389fb6ee9e4c64"/>
    <p:sldId xmlns:r="http://schemas.openxmlformats.org/officeDocument/2006/relationships" id="282" r:id="Rac6034b2ffe64903"/>
    <p:sldId xmlns:r="http://schemas.openxmlformats.org/officeDocument/2006/relationships" id="283" r:id="Raf0c60e5bed44cc7"/>
    <p:sldId xmlns:r="http://schemas.openxmlformats.org/officeDocument/2006/relationships" id="284" r:id="R8fec1cb128c84bd3"/>
    <p:sldId xmlns:r="http://schemas.openxmlformats.org/officeDocument/2006/relationships" id="285" r:id="R93b1f11224134ba0"/>
    <p:sldId xmlns:r="http://schemas.openxmlformats.org/officeDocument/2006/relationships" id="286" r:id="R72968423f5b84c1f"/>
    <p:sldId xmlns:r="http://schemas.openxmlformats.org/officeDocument/2006/relationships" id="287" r:id="R4b944cc639d442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54a084cb1a4801" /><Relationship Type="http://schemas.openxmlformats.org/officeDocument/2006/relationships/slideMaster" Target="/ppt/slideMasters/slideMaster1.xml" Id="R02bde38f0591485f" /><Relationship Type="http://schemas.openxmlformats.org/officeDocument/2006/relationships/notesMaster" Target="/ppt/notesMasters/notesMaster1.xml" Id="R348475faec0448ca" /><Relationship Type="http://schemas.openxmlformats.org/officeDocument/2006/relationships/presProps" Target="/ppt/presProps.xml" Id="R4fdbaee469fe4780" /><Relationship Type="http://schemas.openxmlformats.org/officeDocument/2006/relationships/tableStyles" Target="/ppt/tableStyles.xml" Id="R6da8a77f56594226" /><Relationship Type="http://schemas.openxmlformats.org/officeDocument/2006/relationships/slide" Target="/ppt/slides/slide1.xml" Id="Rbb7aa180485440aa" /><Relationship Type="http://schemas.openxmlformats.org/officeDocument/2006/relationships/slide" Target="/ppt/slides/slide2.xml" Id="Rb80510f2324645f4" /><Relationship Type="http://schemas.openxmlformats.org/officeDocument/2006/relationships/slide" Target="/ppt/slides/slide3.xml" Id="R0f1fedb048a9452c" /><Relationship Type="http://schemas.openxmlformats.org/officeDocument/2006/relationships/slide" Target="/ppt/slides/slide4.xml" Id="Rf94783b7e88d4ab3" /><Relationship Type="http://schemas.openxmlformats.org/officeDocument/2006/relationships/slide" Target="/ppt/slides/slide5.xml" Id="Rca78541c1882463a" /><Relationship Type="http://schemas.openxmlformats.org/officeDocument/2006/relationships/slide" Target="/ppt/slides/slide6.xml" Id="Re64c6b24388b4c9e" /><Relationship Type="http://schemas.openxmlformats.org/officeDocument/2006/relationships/slide" Target="/ppt/slides/slide7.xml" Id="R31de0fdfcdc644bf" /><Relationship Type="http://schemas.openxmlformats.org/officeDocument/2006/relationships/slide" Target="/ppt/slides/slide8.xml" Id="R03975c4bef094535" /><Relationship Type="http://schemas.openxmlformats.org/officeDocument/2006/relationships/slide" Target="/ppt/slides/slide9.xml" Id="R9e9c64655cc04d55" /><Relationship Type="http://schemas.openxmlformats.org/officeDocument/2006/relationships/slide" Target="/ppt/slides/slide10.xml" Id="R68e038347fc44bdb" /><Relationship Type="http://schemas.openxmlformats.org/officeDocument/2006/relationships/slide" Target="/ppt/slides/slide11.xml" Id="R58ee105d74a74649" /><Relationship Type="http://schemas.openxmlformats.org/officeDocument/2006/relationships/slide" Target="/ppt/slides/slide12.xml" Id="R7f2550da0410409c" /><Relationship Type="http://schemas.openxmlformats.org/officeDocument/2006/relationships/slide" Target="/ppt/slides/slide13.xml" Id="Rdf9e0c262d3e4c42" /><Relationship Type="http://schemas.openxmlformats.org/officeDocument/2006/relationships/slide" Target="/ppt/slides/slide14.xml" Id="R40553a0720914692" /><Relationship Type="http://schemas.openxmlformats.org/officeDocument/2006/relationships/slide" Target="/ppt/slides/slide15.xml" Id="R738a451f63954083" /><Relationship Type="http://schemas.openxmlformats.org/officeDocument/2006/relationships/slide" Target="/ppt/slides/slide16.xml" Id="Rf25e4cf9ddc7406e" /><Relationship Type="http://schemas.openxmlformats.org/officeDocument/2006/relationships/slide" Target="/ppt/slides/slide17.xml" Id="R24502a527a864063" /><Relationship Type="http://schemas.openxmlformats.org/officeDocument/2006/relationships/slide" Target="/ppt/slides/slide18.xml" Id="Ra596e3f55b044efd" /><Relationship Type="http://schemas.openxmlformats.org/officeDocument/2006/relationships/slide" Target="/ppt/slides/slide19.xml" Id="Rf3001662b9c04d42" /><Relationship Type="http://schemas.openxmlformats.org/officeDocument/2006/relationships/slide" Target="/ppt/slides/slide20.xml" Id="R7fe3faf3c2f14290" /><Relationship Type="http://schemas.openxmlformats.org/officeDocument/2006/relationships/slide" Target="/ppt/slides/slide21.xml" Id="Ra6961071c81b4381" /><Relationship Type="http://schemas.openxmlformats.org/officeDocument/2006/relationships/slide" Target="/ppt/slides/slide22.xml" Id="Rb4ab662a1f2d4e85" /><Relationship Type="http://schemas.openxmlformats.org/officeDocument/2006/relationships/slide" Target="/ppt/slides/slide23.xml" Id="R1601c49dd7ae4e63" /><Relationship Type="http://schemas.openxmlformats.org/officeDocument/2006/relationships/slide" Target="/ppt/slides/slide24.xml" Id="R070ef2cd409740ec" /><Relationship Type="http://schemas.openxmlformats.org/officeDocument/2006/relationships/slide" Target="/ppt/slides/slide25.xml" Id="Rcb82aa30e08e440d" /><Relationship Type="http://schemas.openxmlformats.org/officeDocument/2006/relationships/slide" Target="/ppt/slides/slide26.xml" Id="R36389fb6ee9e4c64" /><Relationship Type="http://schemas.openxmlformats.org/officeDocument/2006/relationships/slide" Target="/ppt/slides/slide27.xml" Id="Rac6034b2ffe64903" /><Relationship Type="http://schemas.openxmlformats.org/officeDocument/2006/relationships/slide" Target="/ppt/slides/slide28.xml" Id="Raf0c60e5bed44cc7" /><Relationship Type="http://schemas.openxmlformats.org/officeDocument/2006/relationships/slide" Target="/ppt/slides/slide29.xml" Id="R8fec1cb128c84bd3" /><Relationship Type="http://schemas.openxmlformats.org/officeDocument/2006/relationships/slide" Target="/ppt/slides/slide30.xml" Id="R93b1f11224134ba0" /><Relationship Type="http://schemas.openxmlformats.org/officeDocument/2006/relationships/slide" Target="/ppt/slides/slide31.xml" Id="R72968423f5b84c1f" /><Relationship Type="http://schemas.openxmlformats.org/officeDocument/2006/relationships/slide" Target="/ppt/slides/slide32.xml" Id="R4b944cc639d442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249cb05ec84b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2af47050f2429b" /><Relationship Type="http://schemas.openxmlformats.org/officeDocument/2006/relationships/notesMaster" Target="/ppt/notesMasters/notesMaster1.xml" Id="R754792727e7d44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1ec9466fc74517" /><Relationship Type="http://schemas.openxmlformats.org/officeDocument/2006/relationships/notesMaster" Target="/ppt/notesMasters/notesMaster1.xml" Id="R98600dcefda74b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a4a63dab904e53" /><Relationship Type="http://schemas.openxmlformats.org/officeDocument/2006/relationships/notesMaster" Target="/ppt/notesMasters/notesMaster1.xml" Id="Ra5381614c33844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8c218c1aad4337" /><Relationship Type="http://schemas.openxmlformats.org/officeDocument/2006/relationships/notesMaster" Target="/ppt/notesMasters/notesMaster1.xml" Id="Rd16be08e713f4b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c5929125bb4755" /><Relationship Type="http://schemas.openxmlformats.org/officeDocument/2006/relationships/notesMaster" Target="/ppt/notesMasters/notesMaster1.xml" Id="R13623f109b8f44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e699b654ae4a95" /><Relationship Type="http://schemas.openxmlformats.org/officeDocument/2006/relationships/notesMaster" Target="/ppt/notesMasters/notesMaster1.xml" Id="Ra08f8a8fceba4e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0d32f92eb9427e" /><Relationship Type="http://schemas.openxmlformats.org/officeDocument/2006/relationships/notesMaster" Target="/ppt/notesMasters/notesMaster1.xml" Id="Ra9530d79497b4c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89ad65816c49d2" /><Relationship Type="http://schemas.openxmlformats.org/officeDocument/2006/relationships/notesMaster" Target="/ppt/notesMasters/notesMaster1.xml" Id="R9abac1e532bc4d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763bb00c804046" /><Relationship Type="http://schemas.openxmlformats.org/officeDocument/2006/relationships/notesMaster" Target="/ppt/notesMasters/notesMaster1.xml" Id="R997fe801e0b14e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c98c0c40b44b63" /><Relationship Type="http://schemas.openxmlformats.org/officeDocument/2006/relationships/notesMaster" Target="/ppt/notesMasters/notesMaster1.xml" Id="R61d49eece6cb40e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5000aeea3214c3c" /><Relationship Type="http://schemas.openxmlformats.org/officeDocument/2006/relationships/notesMaster" Target="/ppt/notesMasters/notesMaster1.xml" Id="R05ed9df837564d0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788471149a4173" /><Relationship Type="http://schemas.openxmlformats.org/officeDocument/2006/relationships/notesMaster" Target="/ppt/notesMasters/notesMaster1.xml" Id="R9cb07db26d934f1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ff08e47f83a46ed" /><Relationship Type="http://schemas.openxmlformats.org/officeDocument/2006/relationships/notesMaster" Target="/ppt/notesMasters/notesMaster1.xml" Id="R3127cf0234e64c8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b83a1dd8b7a4ab2" /><Relationship Type="http://schemas.openxmlformats.org/officeDocument/2006/relationships/notesMaster" Target="/ppt/notesMasters/notesMaster1.xml" Id="Rf9ce2222afb74a4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70a7af8f87b43ab" /><Relationship Type="http://schemas.openxmlformats.org/officeDocument/2006/relationships/notesMaster" Target="/ppt/notesMasters/notesMaster1.xml" Id="R0f07814d32eb4b2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5677f764dc74d4c" /><Relationship Type="http://schemas.openxmlformats.org/officeDocument/2006/relationships/notesMaster" Target="/ppt/notesMasters/notesMaster1.xml" Id="R5f7c8e2184c8443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22b8b932c214b2e" /><Relationship Type="http://schemas.openxmlformats.org/officeDocument/2006/relationships/notesMaster" Target="/ppt/notesMasters/notesMaster1.xml" Id="R30682750ad964ad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a7fa01855174baf" /><Relationship Type="http://schemas.openxmlformats.org/officeDocument/2006/relationships/notesMaster" Target="/ppt/notesMasters/notesMaster1.xml" Id="R765789ee13b447b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add6988a69548b6" /><Relationship Type="http://schemas.openxmlformats.org/officeDocument/2006/relationships/notesMaster" Target="/ppt/notesMasters/notesMaster1.xml" Id="R5c33877e47b4443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5e4fd36d6874ac5" /><Relationship Type="http://schemas.openxmlformats.org/officeDocument/2006/relationships/notesMaster" Target="/ppt/notesMasters/notesMaster1.xml" Id="Ref95e1cd620c45c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04094d037254985" /><Relationship Type="http://schemas.openxmlformats.org/officeDocument/2006/relationships/notesMaster" Target="/ppt/notesMasters/notesMaster1.xml" Id="Re6850ba7aae4499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c8e9a18b4fb47a8" /><Relationship Type="http://schemas.openxmlformats.org/officeDocument/2006/relationships/notesMaster" Target="/ppt/notesMasters/notesMaster1.xml" Id="R2ef99f4bb332491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94cec2745494909" /><Relationship Type="http://schemas.openxmlformats.org/officeDocument/2006/relationships/notesMaster" Target="/ppt/notesMasters/notesMaster1.xml" Id="R1597c65c58644d7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cc0fa23c6ff4487" /><Relationship Type="http://schemas.openxmlformats.org/officeDocument/2006/relationships/notesMaster" Target="/ppt/notesMasters/notesMaster1.xml" Id="R4b190ee24fa6447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9c17d736dcc4b00" /><Relationship Type="http://schemas.openxmlformats.org/officeDocument/2006/relationships/notesMaster" Target="/ppt/notesMasters/notesMaster1.xml" Id="R0fcec243dbbb43a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bf8e42a908b4bd6" /><Relationship Type="http://schemas.openxmlformats.org/officeDocument/2006/relationships/notesMaster" Target="/ppt/notesMasters/notesMaster1.xml" Id="R5e04187d0098471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10e29da52324b13" /><Relationship Type="http://schemas.openxmlformats.org/officeDocument/2006/relationships/notesMaster" Target="/ppt/notesMasters/notesMaster1.xml" Id="Raf193b2dfc804c6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7abc188ba8b4bf4" /><Relationship Type="http://schemas.openxmlformats.org/officeDocument/2006/relationships/notesMaster" Target="/ppt/notesMasters/notesMaster1.xml" Id="R40bd7845bc67476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812ddbdb83f4242" /><Relationship Type="http://schemas.openxmlformats.org/officeDocument/2006/relationships/notesMaster" Target="/ppt/notesMasters/notesMaster1.xml" Id="R1525fc717a8a4b6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033cb078b6d481d" /><Relationship Type="http://schemas.openxmlformats.org/officeDocument/2006/relationships/notesMaster" Target="/ppt/notesMasters/notesMaster1.xml" Id="R887b58a52edd411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f978237de3244b8" /><Relationship Type="http://schemas.openxmlformats.org/officeDocument/2006/relationships/notesMaster" Target="/ppt/notesMasters/notesMaster1.xml" Id="Rc76ff0d24eb948e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e78c36adea248af" /><Relationship Type="http://schemas.openxmlformats.org/officeDocument/2006/relationships/notesMaster" Target="/ppt/notesMasters/notesMaster1.xml" Id="Rcf8a08fd55b246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SAEED ALKAABI</a:t>
            </a:r>
          </a:p>
          <a:p xmlns:a="http://schemas.openxmlformats.org/drawingml/2006/main">
            <a:r>
              <a:t/>
            </a:r>
          </a:p>
          <a:p xmlns:a="http://schemas.openxmlformats.org/drawingml/2006/main">
            <a:r>
              <a:t>Executive Summary</a:t>
            </a:r>
          </a:p>
          <a:p xmlns:a="http://schemas.openxmlformats.org/drawingml/2006/main">
            <a:r>
              <a:t/>
            </a:r>
          </a:p>
          <a:p xmlns:a="http://schemas.openxmlformats.org/drawingml/2006/main">
            <a:r>
              <a:t>We recommend a conditional go for the Circular Campus educational prototype. The team will assess adapting an existing asset-management system before committing to a custom application. Either route must demonstrate resource discovery, controlled transfers, asset history and every required AI function. The recommendation depends on an early technical proof, sufficient team availability and synthetic operational data. No Khalifa University (KU) staff or potential-user interviews have been conducted as of 28 September 2026, so operational adoption and local demand are not established. This recommendation does not authorize deployment with live KU records.</a:t>
            </a:r>
          </a:p>
          <a:p xmlns:a="http://schemas.openxmlformats.org/drawingml/2006/main">
            <a:r>
              <a:t/>
            </a:r>
          </a:p>
          <a:p xmlns:a="http://schemas.openxmlformats.org/drawingml/2006/main">
            <a:r>
              <a:t>The original nine-week planning baseline assumes three students each contribute 8 hours per week, giving 216 person-hours against 180 hours of work and a 36-hour contingency allowance. From 28 September, eight scheduled weeks remain, equivalent to 192 hours under the same availability assumption; Section 8 distinguishes this remaining capacity from the original baseline. The proposed prototype cash ceiling is AED 300. These are planning assumptions, not approved spending or confirmed availability.</a:t>
            </a:r>
          </a:p>
          <a:p xmlns:a="http://schemas.openxmlformats.org/drawingml/2006/main">
            <a:r>
              <a:t/>
            </a:r>
          </a:p>
          <a:p xmlns:a="http://schemas.openxmlformats.org/drawingml/2006/main">
            <a:r>
              <a:t>The illustrative benefit estimate is AED 12,000 in net avoided purchasing cost over 12 months, assuming 20 qualifying transfers at AED 600 each after repair and transfer costs. After the AED 9,120 first-year economic cost, the model leaves AED 2,880 and a return on investment (ROI) of 31.6%. It breaks even at 16 qualifying transfers; only 10 would produce a loss. These are calculated scenarios, not measured KU savings or a demand forecast. The base case assumes existing hosting equipment. Section 5 shows the calculation and a paid-server sensitivity that raises first-year cost to AED 11,235.36 and break-even to 19 transfers.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SAEED ALKAABI</a:t>
            </a:r>
          </a:p>
          <a:p xmlns:a="http://schemas.openxmlformats.org/drawingml/2006/main">
            <a:r>
              <a:t/>
            </a:r>
          </a:p>
          <a:p xmlns:a="http://schemas.openxmlformats.org/drawingml/2006/main">
            <a:r>
              <a:t>Executive Summary</a:t>
            </a:r>
          </a:p>
          <a:p xmlns:a="http://schemas.openxmlformats.org/drawingml/2006/main">
            <a:r>
              <a:t/>
            </a:r>
          </a:p>
          <a:p xmlns:a="http://schemas.openxmlformats.org/drawingml/2006/main">
            <a:r>
              <a:t>We recommend a conditional go for the Circular Campus educational prototype. The team will assess adapting an existing asset-management system before committing to a custom application. Either route must demonstrate resource discovery, controlled transfers, asset history and every required AI function. The recommendation depends on an early technical proof, sufficient team availability and synthetic operational data. No Khalifa University (KU) staff or potential-user interviews have been conducted as of 28 September 2026, so operational adoption and local demand are not established. This recommendation does not authorize deployment with live KU records.</a:t>
            </a:r>
          </a:p>
          <a:p xmlns:a="http://schemas.openxmlformats.org/drawingml/2006/main">
            <a:r>
              <a:t/>
            </a:r>
          </a:p>
          <a:p xmlns:a="http://schemas.openxmlformats.org/drawingml/2006/main">
            <a:r>
              <a:t>The original nine-week planning baseline assumes three students each contribute 8 hours per week, giving 216 person-hours against 180 hours of work and a 36-hour contingency allowance. From 28 September, eight scheduled weeks remain, equivalent to 192 hours under the same availability assumption; Section 8 distinguishes this remaining capacity from the original baseline. The proposed prototype cash ceiling is AED 300. These are planning assumptions, not approved spending or confirmed availability.</a:t>
            </a:r>
          </a:p>
          <a:p xmlns:a="http://schemas.openxmlformats.org/drawingml/2006/main">
            <a:r>
              <a:t/>
            </a:r>
          </a:p>
          <a:p xmlns:a="http://schemas.openxmlformats.org/drawingml/2006/main">
            <a:r>
              <a:t>The illustrative benefit estimate is AED 12,000 in net avoided purchasing cost over 12 months, assuming 20 qualifying transfers at AED 600 each after repair and transfer costs. After the AED 9,120 first-year economic cost, the model leaves AED 2,880 and a return on investment (ROI) of 31.6%. It breaks even at 16 qualifying transfers; only 10 would produce a loss. These are calculated scenarios, not measured KU savings or a demand forecast. The base case assumes existing hosting equipment. Section 5 shows the calculation and a paid-server sensitivity that raises first-year cost to AED 11,235.36 and break-even to 19 transfers.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SAEED ALKAABI</a:t>
            </a:r>
          </a:p>
          <a:p xmlns:a="http://schemas.openxmlformats.org/drawingml/2006/main">
            <a:r>
              <a:t/>
            </a:r>
          </a:p>
          <a:p xmlns:a="http://schemas.openxmlformats.org/drawingml/2006/main">
            <a:r>
              <a:t>1 Project Scope and Objectives</a:t>
            </a:r>
          </a:p>
          <a:p xmlns:a="http://schemas.openxmlformats.org/drawingml/2006/main">
            <a:r>
              <a:t/>
            </a:r>
          </a:p>
          <a:p xmlns:a="http://schemas.openxmlformats.org/drawingml/2006/main">
            <a:r>
              <a:t>## Included scope and deliverables</a:t>
            </a:r>
          </a:p>
          <a:p xmlns:a="http://schemas.openxmlformats.org/drawingml/2006/main">
            <a:r>
              <a:t/>
            </a:r>
          </a:p>
          <a:p xmlns:a="http://schemas.openxmlformats.org/drawingml/2006/main">
            <a:r>
              <a:t>The Intelligent, AI-Powered Circular Campus Resource Exchange and Asset Life Cycle Management System will allow authorized departments to publish surplus assets, request suitable resources and document approvals, release and receipt. Each asset will retain its inspection, maintenance, repair and final disposition history. AI will assist users with classification, compatible-resource discovery, life-cycle recommendations, natural-language requests and reporting. People with the relevant authority will make approval and custody decisions.</a:t>
            </a:r>
          </a:p>
          <a:p xmlns:a="http://schemas.openxmlformats.org/drawingml/2006/main">
            <a:r>
              <a:t/>
            </a:r>
          </a:p>
          <a:p xmlns:a="http://schemas.openxmlformats.org/drawingml/2006/main">
            <a:r>
              <a:t>The semester deliverable is an educational web prototype, a labelled test dataset, source code, a requirements specification, design documentation and recorded test results. The initial test environment will contain 500 synthetic assets distributed across 5 fictional departments and support a workload of 10 concurrent users. These values define the evaluation environment, not the size of the university's inventory or its expected demand.</a:t>
            </a:r>
          </a:p>
          <a:p xmlns:a="http://schemas.openxmlformats.org/drawingml/2006/main">
            <a:r>
              <a:t/>
            </a:r>
          </a:p>
          <a:p xmlns:a="http://schemas.openxmlformats.org/drawingml/2006/main">
            <a:r>
              <a:t>| Requirement group | Prototype coverage | Completion evidence |</a:t>
            </a:r>
          </a:p>
          <a:p xmlns:a="http://schemas.openxmlformats.org/drawingml/2006/main">
            <a:r>
              <a:t>| --- | --- | --- |</a:t>
            </a:r>
          </a:p>
          <a:p xmlns:a="http://schemas.openxmlformats.org/drawingml/2006/main">
            <a:r>
              <a:t>| FR-01 and FR-02 | Accounts, department permissions, asset registration, validation and publication | Permitted users create valid listings; prohibited changes and invalid quantities are rejected |</a:t>
            </a:r>
          </a:p>
          <a:p xmlns:a="http://schemas.openxmlformats.org/drawingml/2006/main">
            <a:r>
              <a:t>| FR-03 and FR-04 | Search, requests, reservations, approvals, release and receipt | A request completes without overbooking; custody changes only after the authorized confirmations |</a:t>
            </a:r>
          </a:p>
          <a:p xmlns:a="http://schemas.openxmlformats.org/drawingml/2006/main">
            <a:r>
              <a:t>| FR-05 and FR-06 | Maintenance and life-cycle history, notifications and operational reports | Events remain traceable; notifications follow status changes; totals reconcile with stored records |</a:t>
            </a:r>
          </a:p>
          <a:p xmlns:a="http://schemas.openxmlformats.org/drawingml/2006/main">
            <a:r>
              <a:t>| AI-01 and AI-02 | Classification suggestions and ranked resource matches with explanations | Users can correct suggestions; incompatible assets are excluded before ranking |</a:t>
            </a:r>
          </a:p>
          <a:p xmlns:a="http://schemas.openxmlformats.org/drawingml/2006/main">
            <a:r>
              <a:t>| AI-03, AI-04 and AI-05 | Life-cycle advice, natural-language assistance and summaries of recorded activity | Advice uses available evidence; request submission requires confirmation; summaries do not invent numerical results |</a:t>
            </a:r>
          </a:p>
          <a:p xmlns:a="http://schemas.openxmlformats.org/drawingml/2006/main">
            <a:r>
              <a:t/>
            </a:r>
          </a:p>
          <a:p xmlns:a="http://schemas.openxmlformats.org/drawingml/2006/main">
            <a:r>
              <a:t>All five AI functions remain in scope. Their first implementation will use constrained inputs and a small evaluation dataset. Photographs and documents may accompany an asset. English text is the proposed initial input language. The feasibility study includes estimated pilot costs and benefits, but the semester deliverable remains a classroom prototype.</a:t>
            </a:r>
          </a:p>
          <a:p xmlns:a="http://schemas.openxmlformats.org/drawingml/2006/main">
            <a:r>
              <a:t/>
            </a:r>
          </a:p>
          <a:p xmlns:a="http://schemas.openxmlformats.org/drawingml/2006/main">
            <a:r>
              <a:t>## Excluded scope</a:t>
            </a:r>
          </a:p>
          <a:p xmlns:a="http://schemas.openxmlformats.org/drawingml/2006/main">
            <a:r>
              <a:t/>
            </a:r>
          </a:p>
          <a:p xmlns:a="http://schemas.openxmlformats.org/drawingml/2006/main">
            <a:r>
              <a:t>The prototype excludes live university deployment, automated purchasing, public trading, payment processing and direct integration with KU procurement or identity systems. It will not import confidential university records or authorize real transfers, donations or disposal. Automatic interpretation of every image or document format and support for additional languages are outside the initial evaluation. AI cannot approve an exchange or make an unreviewed custody decision. Any later pilot or scope expansion requires separate authorization and a revised effort estimate.</a:t>
            </a:r>
          </a:p>
          <a:p xmlns:a="http://schemas.openxmlformats.org/drawingml/2006/main">
            <a:r>
              <a:t/>
            </a:r>
          </a:p>
          <a:p xmlns:a="http://schemas.openxmlformats.org/drawingml/2006/main">
            <a:r>
              <a:t>## SMART objectives and success criteria</a:t>
            </a:r>
          </a:p>
          <a:p xmlns:a="http://schemas.openxmlformats.org/drawingml/2006/main">
            <a:r>
              <a:t/>
            </a:r>
          </a:p>
          <a:p xmlns:a="http://schemas.openxmlformats.org/drawingml/2006/main">
            <a:r>
              <a:t>The six criteria below retain the Phase 1 acceptance targets and identify the evidence and accountable student for each result. The internal completion target for every criterion is 22 November 2026, ahead of the final milestone week beginning 23 November. This is a team planning target, not an announced submission timestamp. Feasibility of the workload will be reviewed after the early technical proof; these targets are not results already achieved.</a:t>
            </a:r>
          </a:p>
          <a:p xmlns:a="http://schemas.openxmlformats.org/drawingml/2006/main">
            <a:r>
              <a:t/>
            </a:r>
          </a:p>
          <a:p xmlns:a="http://schemas.openxmlformats.org/drawingml/2006/main">
            <a:r>
              <a:t>| Objective | Pass condition and retained evidence | Task owner |</a:t>
            </a:r>
          </a:p>
          <a:p xmlns:a="http://schemas.openxmlformats.org/drawingml/2006/main">
            <a:r>
              <a:t>| --- | --- | --- |</a:t>
            </a:r>
          </a:p>
          <a:p xmlns:a="http://schemas.openxmlformats.org/drawingml/2006/main">
            <a:r>
              <a:t>| Complete the exchange workflow | Pass all 10 defined workflow scenarios, including request, approval, release and receipt. Retain inputs, expected outcomes and actual results. | Saeed Alkaabi |</a:t>
            </a:r>
          </a:p>
          <a:p xmlns:a="http://schemas.openxmlformats.org/drawingml/2006/main">
            <a:r>
              <a:t>| Enforce authorization | Reject every prohibited action in the defined role and department permission matrix. Record the attempted operation and rejection. | Ali Alawadhi |</a:t>
            </a:r>
          </a:p>
          <a:p xmlns:a="http://schemas.openxmlformats.org/drawingml/2006/main">
            <a:r>
              <a:t>| Meet search response time | At least 95% of structured searches (950 of 1,000) finish within 2 seconds after warm-up, with 500 assets and 10 concurrent users. Retain timing logs. | Humaid Al Ali |</a:t>
            </a:r>
          </a:p>
          <a:p xmlns:a="http://schemas.openxmlformats.org/drawingml/2006/main">
            <a:r>
              <a:t>| Demonstrate usability | After a 15-minute introduction, at least 4 of 5 testers independently search, submit a request and check its status. Retain task outcomes and observed errors. | Ali Alawadhi |</a:t>
            </a:r>
          </a:p>
          <a:p xmlns:a="http://schemas.openxmlformats.org/drawingml/2006/main">
            <a:r>
              <a:t>| Evaluate resource matching | At least 16 of 20 labelled feasible requests return an acceptable asset in the first 3 results. No negative eligibility case may pass the 10-case test set. Retain ranked outputs and labels. | Humaid Al Ali |</a:t>
            </a:r>
          </a:p>
          <a:p xmlns:a="http://schemas.openxmlformats.org/drawingml/2006/main">
            <a:r>
              <a:t>| Verify impact calculations | All 10 calculation cases reproduce their expected values. Retain the underlying inputs and reconciliation for each result. | Humaid Al Ali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SAEED ALKAABI</a:t>
            </a:r>
          </a:p>
          <a:p xmlns:a="http://schemas.openxmlformats.org/drawingml/2006/main">
            <a:r>
              <a:t/>
            </a:r>
          </a:p>
          <a:p xmlns:a="http://schemas.openxmlformats.org/drawingml/2006/main">
            <a:r>
              <a:t>1 Project Scope and Objectives</a:t>
            </a:r>
          </a:p>
          <a:p xmlns:a="http://schemas.openxmlformats.org/drawingml/2006/main">
            <a:r>
              <a:t/>
            </a:r>
          </a:p>
          <a:p xmlns:a="http://schemas.openxmlformats.org/drawingml/2006/main">
            <a:r>
              <a:t>## Included scope and deliverables</a:t>
            </a:r>
          </a:p>
          <a:p xmlns:a="http://schemas.openxmlformats.org/drawingml/2006/main">
            <a:r>
              <a:t/>
            </a:r>
          </a:p>
          <a:p xmlns:a="http://schemas.openxmlformats.org/drawingml/2006/main">
            <a:r>
              <a:t>The Intelligent, AI-Powered Circular Campus Resource Exchange and Asset Life Cycle Management System will allow authorized departments to publish surplus assets, request suitable resources and document approvals, release and receipt. Each asset will retain its inspection, maintenance, repair and final disposition history. AI will assist users with classification, compatible-resource discovery, life-cycle recommendations, natural-language requests and reporting. People with the relevant authority will make approval and custody decisions.</a:t>
            </a:r>
          </a:p>
          <a:p xmlns:a="http://schemas.openxmlformats.org/drawingml/2006/main">
            <a:r>
              <a:t/>
            </a:r>
          </a:p>
          <a:p xmlns:a="http://schemas.openxmlformats.org/drawingml/2006/main">
            <a:r>
              <a:t>The semester deliverable is an educational web prototype, a labelled test dataset, source code, a requirements specification, design documentation and recorded test results. The initial test environment will contain 500 synthetic assets distributed across 5 fictional departments and support a workload of 10 concurrent users. These values define the evaluation environment, not the size of the university's inventory or its expected demand.</a:t>
            </a:r>
          </a:p>
          <a:p xmlns:a="http://schemas.openxmlformats.org/drawingml/2006/main">
            <a:r>
              <a:t/>
            </a:r>
          </a:p>
          <a:p xmlns:a="http://schemas.openxmlformats.org/drawingml/2006/main">
            <a:r>
              <a:t>| Requirement group | Prototype coverage | Completion evidence |</a:t>
            </a:r>
          </a:p>
          <a:p xmlns:a="http://schemas.openxmlformats.org/drawingml/2006/main">
            <a:r>
              <a:t>| --- | --- | --- |</a:t>
            </a:r>
          </a:p>
          <a:p xmlns:a="http://schemas.openxmlformats.org/drawingml/2006/main">
            <a:r>
              <a:t>| FR-01 and FR-02 | Accounts, department permissions, asset registration, validation and publication | Permitted users create valid listings; prohibited changes and invalid quantities are rejected |</a:t>
            </a:r>
          </a:p>
          <a:p xmlns:a="http://schemas.openxmlformats.org/drawingml/2006/main">
            <a:r>
              <a:t>| FR-03 and FR-04 | Search, requests, reservations, approvals, release and receipt | A request completes without overbooking; custody changes only after the authorized confirmations |</a:t>
            </a:r>
          </a:p>
          <a:p xmlns:a="http://schemas.openxmlformats.org/drawingml/2006/main">
            <a:r>
              <a:t>| FR-05 and FR-06 | Maintenance and life-cycle history, notifications and operational reports | Events remain traceable; notifications follow status changes; totals reconcile with stored records |</a:t>
            </a:r>
          </a:p>
          <a:p xmlns:a="http://schemas.openxmlformats.org/drawingml/2006/main">
            <a:r>
              <a:t>| AI-01 and AI-02 | Classification suggestions and ranked resource matches with explanations | Users can correct suggestions; incompatible assets are excluded before ranking |</a:t>
            </a:r>
          </a:p>
          <a:p xmlns:a="http://schemas.openxmlformats.org/drawingml/2006/main">
            <a:r>
              <a:t>| AI-03, AI-04 and AI-05 | Life-cycle advice, natural-language assistance and summaries of recorded activity | Advice uses available evidence; request submission requires confirmation; summaries do not invent numerical results |</a:t>
            </a:r>
          </a:p>
          <a:p xmlns:a="http://schemas.openxmlformats.org/drawingml/2006/main">
            <a:r>
              <a:t/>
            </a:r>
          </a:p>
          <a:p xmlns:a="http://schemas.openxmlformats.org/drawingml/2006/main">
            <a:r>
              <a:t>All five AI functions remain in scope. Their first implementation will use constrained inputs and a small evaluation dataset. Photographs and documents may accompany an asset. English text is the proposed initial input language. The feasibility study includes estimated pilot costs and benefits, but the semester deliverable remains a classroom prototype.</a:t>
            </a:r>
          </a:p>
          <a:p xmlns:a="http://schemas.openxmlformats.org/drawingml/2006/main">
            <a:r>
              <a:t/>
            </a:r>
          </a:p>
          <a:p xmlns:a="http://schemas.openxmlformats.org/drawingml/2006/main">
            <a:r>
              <a:t>## Excluded scope</a:t>
            </a:r>
          </a:p>
          <a:p xmlns:a="http://schemas.openxmlformats.org/drawingml/2006/main">
            <a:r>
              <a:t/>
            </a:r>
          </a:p>
          <a:p xmlns:a="http://schemas.openxmlformats.org/drawingml/2006/main">
            <a:r>
              <a:t>The prototype excludes live university deployment, automated purchasing, public trading, payment processing and direct integration with KU procurement or identity systems. It will not import confidential university records or authorize real transfers, donations or disposal. Automatic interpretation of every image or document format and support for additional languages are outside the initial evaluation. AI cannot approve an exchange or make an unreviewed custody decision. Any later pilot or scope expansion requires separate authorization and a revised effort estimate.</a:t>
            </a:r>
          </a:p>
          <a:p xmlns:a="http://schemas.openxmlformats.org/drawingml/2006/main">
            <a:r>
              <a:t/>
            </a:r>
          </a:p>
          <a:p xmlns:a="http://schemas.openxmlformats.org/drawingml/2006/main">
            <a:r>
              <a:t>## SMART objectives and success criteria</a:t>
            </a:r>
          </a:p>
          <a:p xmlns:a="http://schemas.openxmlformats.org/drawingml/2006/main">
            <a:r>
              <a:t/>
            </a:r>
          </a:p>
          <a:p xmlns:a="http://schemas.openxmlformats.org/drawingml/2006/main">
            <a:r>
              <a:t>The six criteria below retain the Phase 1 acceptance targets and identify the evidence and accountable student for each result. The internal completion target for every criterion is 22 November 2026, ahead of the final milestone week beginning 23 November. This is a team planning target, not an announced submission timestamp. Feasibility of the workload will be reviewed after the early technical proof; these targets are not results already achieved.</a:t>
            </a:r>
          </a:p>
          <a:p xmlns:a="http://schemas.openxmlformats.org/drawingml/2006/main">
            <a:r>
              <a:t/>
            </a:r>
          </a:p>
          <a:p xmlns:a="http://schemas.openxmlformats.org/drawingml/2006/main">
            <a:r>
              <a:t>| Objective | Pass condition and retained evidence | Task owner |</a:t>
            </a:r>
          </a:p>
          <a:p xmlns:a="http://schemas.openxmlformats.org/drawingml/2006/main">
            <a:r>
              <a:t>| --- | --- | --- |</a:t>
            </a:r>
          </a:p>
          <a:p xmlns:a="http://schemas.openxmlformats.org/drawingml/2006/main">
            <a:r>
              <a:t>| Complete the exchange workflow | Pass all 10 defined workflow scenarios, including request, approval, release and receipt. Retain inputs, expected outcomes and actual results. | Saeed Alkaabi |</a:t>
            </a:r>
          </a:p>
          <a:p xmlns:a="http://schemas.openxmlformats.org/drawingml/2006/main">
            <a:r>
              <a:t>| Enforce authorization | Reject every prohibited action in the defined role and department permission matrix. Record the attempted operation and rejection. | Ali Alawadhi |</a:t>
            </a:r>
          </a:p>
          <a:p xmlns:a="http://schemas.openxmlformats.org/drawingml/2006/main">
            <a:r>
              <a:t>| Meet search response time | At least 95% of structured searches (950 of 1,000) finish within 2 seconds after warm-up, with 500 assets and 10 concurrent users. Retain timing logs. | Humaid Al Ali |</a:t>
            </a:r>
          </a:p>
          <a:p xmlns:a="http://schemas.openxmlformats.org/drawingml/2006/main">
            <a:r>
              <a:t>| Demonstrate usability | After a 15-minute introduction, at least 4 of 5 testers independently search, submit a request and check its status. Retain task outcomes and observed errors. | Ali Alawadhi |</a:t>
            </a:r>
          </a:p>
          <a:p xmlns:a="http://schemas.openxmlformats.org/drawingml/2006/main">
            <a:r>
              <a:t>| Evaluate resource matching | At least 16 of 20 labelled feasible requests return an acceptable asset in the first 3 results. No negative eligibility case may pass the 10-case test set. Retain ranked outputs and labels. | Humaid Al Ali |</a:t>
            </a:r>
          </a:p>
          <a:p xmlns:a="http://schemas.openxmlformats.org/drawingml/2006/main">
            <a:r>
              <a:t>| Verify impact calculations | All 10 calculation cases reproduce their expected values. Retain the underlying inputs and reconciliation for each result. | Humaid Al Ali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SAEED ALKAABI</a:t>
            </a:r>
          </a:p>
          <a:p xmlns:a="http://schemas.openxmlformats.org/drawingml/2006/main">
            <a:r>
              <a:t/>
            </a:r>
          </a:p>
          <a:p xmlns:a="http://schemas.openxmlformats.org/drawingml/2006/main">
            <a:r>
              <a:t>1 Project Scope and Objectives</a:t>
            </a:r>
          </a:p>
          <a:p xmlns:a="http://schemas.openxmlformats.org/drawingml/2006/main">
            <a:r>
              <a:t/>
            </a:r>
          </a:p>
          <a:p xmlns:a="http://schemas.openxmlformats.org/drawingml/2006/main">
            <a:r>
              <a:t>## Included scope and deliverables</a:t>
            </a:r>
          </a:p>
          <a:p xmlns:a="http://schemas.openxmlformats.org/drawingml/2006/main">
            <a:r>
              <a:t/>
            </a:r>
          </a:p>
          <a:p xmlns:a="http://schemas.openxmlformats.org/drawingml/2006/main">
            <a:r>
              <a:t>The Intelligent, AI-Powered Circular Campus Resource Exchange and Asset Life Cycle Management System will allow authorized departments to publish surplus assets, request suitable resources and document approvals, release and receipt. Each asset will retain its inspection, maintenance, repair and final disposition history. AI will assist users with classification, compatible-resource discovery, life-cycle recommendations, natural-language requests and reporting. People with the relevant authority will make approval and custody decisions.</a:t>
            </a:r>
          </a:p>
          <a:p xmlns:a="http://schemas.openxmlformats.org/drawingml/2006/main">
            <a:r>
              <a:t/>
            </a:r>
          </a:p>
          <a:p xmlns:a="http://schemas.openxmlformats.org/drawingml/2006/main">
            <a:r>
              <a:t>The semester deliverable is an educational web prototype, a labelled test dataset, source code, a requirements specification, design documentation and recorded test results. The initial test environment will contain 500 synthetic assets distributed across 5 fictional departments and support a workload of 10 concurrent users. These values define the evaluation environment, not the size of the university's inventory or its expected demand.</a:t>
            </a:r>
          </a:p>
          <a:p xmlns:a="http://schemas.openxmlformats.org/drawingml/2006/main">
            <a:r>
              <a:t/>
            </a:r>
          </a:p>
          <a:p xmlns:a="http://schemas.openxmlformats.org/drawingml/2006/main">
            <a:r>
              <a:t>| Requirement group | Prototype coverage | Completion evidence |</a:t>
            </a:r>
          </a:p>
          <a:p xmlns:a="http://schemas.openxmlformats.org/drawingml/2006/main">
            <a:r>
              <a:t>| --- | --- | --- |</a:t>
            </a:r>
          </a:p>
          <a:p xmlns:a="http://schemas.openxmlformats.org/drawingml/2006/main">
            <a:r>
              <a:t>| FR-01 and FR-02 | Accounts, department permissions, asset registration, validation and publication | Permitted users create valid listings; prohibited changes and invalid quantities are rejected |</a:t>
            </a:r>
          </a:p>
          <a:p xmlns:a="http://schemas.openxmlformats.org/drawingml/2006/main">
            <a:r>
              <a:t>| FR-03 and FR-04 | Search, requests, reservations, approvals, release and receipt | A request completes without overbooking; custody changes only after the authorized confirmations |</a:t>
            </a:r>
          </a:p>
          <a:p xmlns:a="http://schemas.openxmlformats.org/drawingml/2006/main">
            <a:r>
              <a:t>| FR-05 and FR-06 | Maintenance and life-cycle history, notifications and operational reports | Events remain traceable; notifications follow status changes; totals reconcile with stored records |</a:t>
            </a:r>
          </a:p>
          <a:p xmlns:a="http://schemas.openxmlformats.org/drawingml/2006/main">
            <a:r>
              <a:t>| AI-01 and AI-02 | Classification suggestions and ranked resource matches with explanations | Users can correct suggestions; incompatible assets are excluded before ranking |</a:t>
            </a:r>
          </a:p>
          <a:p xmlns:a="http://schemas.openxmlformats.org/drawingml/2006/main">
            <a:r>
              <a:t>| AI-03, AI-04 and AI-05 | Life-cycle advice, natural-language assistance and summaries of recorded activity | Advice uses available evidence; request submission requires confirmation; summaries do not invent numerical results |</a:t>
            </a:r>
          </a:p>
          <a:p xmlns:a="http://schemas.openxmlformats.org/drawingml/2006/main">
            <a:r>
              <a:t/>
            </a:r>
          </a:p>
          <a:p xmlns:a="http://schemas.openxmlformats.org/drawingml/2006/main">
            <a:r>
              <a:t>All five AI functions remain in scope. Their first implementation will use constrained inputs and a small evaluation dataset. Photographs and documents may accompany an asset. English text is the proposed initial input language. The feasibility study includes estimated pilot costs and benefits, but the semester deliverable remains a classroom prototype.</a:t>
            </a:r>
          </a:p>
          <a:p xmlns:a="http://schemas.openxmlformats.org/drawingml/2006/main">
            <a:r>
              <a:t/>
            </a:r>
          </a:p>
          <a:p xmlns:a="http://schemas.openxmlformats.org/drawingml/2006/main">
            <a:r>
              <a:t>## Excluded scope</a:t>
            </a:r>
          </a:p>
          <a:p xmlns:a="http://schemas.openxmlformats.org/drawingml/2006/main">
            <a:r>
              <a:t/>
            </a:r>
          </a:p>
          <a:p xmlns:a="http://schemas.openxmlformats.org/drawingml/2006/main">
            <a:r>
              <a:t>The prototype excludes live university deployment, automated purchasing, public trading, payment processing and direct integration with KU procurement or identity systems. It will not import confidential university records or authorize real transfers, donations or disposal. Automatic interpretation of every image or document format and support for additional languages are outside the initial evaluation. AI cannot approve an exchange or make an unreviewed custody decision. Any later pilot or scope expansion requires separate authorization and a revised effort estimate.</a:t>
            </a:r>
          </a:p>
          <a:p xmlns:a="http://schemas.openxmlformats.org/drawingml/2006/main">
            <a:r>
              <a:t/>
            </a:r>
          </a:p>
          <a:p xmlns:a="http://schemas.openxmlformats.org/drawingml/2006/main">
            <a:r>
              <a:t>## SMART objectives and success criteria</a:t>
            </a:r>
          </a:p>
          <a:p xmlns:a="http://schemas.openxmlformats.org/drawingml/2006/main">
            <a:r>
              <a:t/>
            </a:r>
          </a:p>
          <a:p xmlns:a="http://schemas.openxmlformats.org/drawingml/2006/main">
            <a:r>
              <a:t>The six criteria below retain the Phase 1 acceptance targets and identify the evidence and accountable student for each result. The internal completion target for every criterion is 22 November 2026, ahead of the final milestone week beginning 23 November. This is a team planning target, not an announced submission timestamp. Feasibility of the workload will be reviewed after the early technical proof; these targets are not results already achieved.</a:t>
            </a:r>
          </a:p>
          <a:p xmlns:a="http://schemas.openxmlformats.org/drawingml/2006/main">
            <a:r>
              <a:t/>
            </a:r>
          </a:p>
          <a:p xmlns:a="http://schemas.openxmlformats.org/drawingml/2006/main">
            <a:r>
              <a:t>| Objective | Pass condition and retained evidence | Task owner |</a:t>
            </a:r>
          </a:p>
          <a:p xmlns:a="http://schemas.openxmlformats.org/drawingml/2006/main">
            <a:r>
              <a:t>| --- | --- | --- |</a:t>
            </a:r>
          </a:p>
          <a:p xmlns:a="http://schemas.openxmlformats.org/drawingml/2006/main">
            <a:r>
              <a:t>| Complete the exchange workflow | Pass all 10 defined workflow scenarios, including request, approval, release and receipt. Retain inputs, expected outcomes and actual results. | Saeed Alkaabi |</a:t>
            </a:r>
          </a:p>
          <a:p xmlns:a="http://schemas.openxmlformats.org/drawingml/2006/main">
            <a:r>
              <a:t>| Enforce authorization | Reject every prohibited action in the defined role and department permission matrix. Record the attempted operation and rejection. | Ali Alawadhi |</a:t>
            </a:r>
          </a:p>
          <a:p xmlns:a="http://schemas.openxmlformats.org/drawingml/2006/main">
            <a:r>
              <a:t>| Meet search response time | At least 95% of structured searches (950 of 1,000) finish within 2 seconds after warm-up, with 500 assets and 10 concurrent users. Retain timing logs. | Humaid Al Ali |</a:t>
            </a:r>
          </a:p>
          <a:p xmlns:a="http://schemas.openxmlformats.org/drawingml/2006/main">
            <a:r>
              <a:t>| Demonstrate usability | After a 15-minute introduction, at least 4 of 5 testers independently search, submit a request and check its status. Retain task outcomes and observed errors. | Ali Alawadhi |</a:t>
            </a:r>
          </a:p>
          <a:p xmlns:a="http://schemas.openxmlformats.org/drawingml/2006/main">
            <a:r>
              <a:t>| Evaluate resource matching | At least 16 of 20 labelled feasible requests return an acceptable asset in the first 3 results. No negative eligibility case may pass the 10-case test set. Retain ranked outputs and labels. | Humaid Al Ali |</a:t>
            </a:r>
          </a:p>
          <a:p xmlns:a="http://schemas.openxmlformats.org/drawingml/2006/main">
            <a:r>
              <a:t>| Verify impact calculations | All 10 calculation cases reproduce their expected values. Retain the underlying inputs and reconciliation for each result. | Humaid Al Ali |</a:t>
            </a:r>
          </a:p>
          <a:p xmlns:a="http://schemas.openxmlformats.org/drawingml/2006/main">
            <a:r>
              <a:t/>
            </a:r>
          </a:p>
          <a:p xmlns:a="http://schemas.openxmlformats.org/drawingml/2006/main">
            <a:r>
              <a:t>4 Technical and Data Feasibility</a:t>
            </a:r>
          </a:p>
          <a:p xmlns:a="http://schemas.openxmlformats.org/drawingml/2006/main">
            <a:r>
              <a:t/>
            </a:r>
          </a:p>
          <a:p xmlns:a="http://schemas.openxmlformats.org/drawingml/2006/main">
            <a:r>
              <a:t>## Proposed implementation approach</a:t>
            </a:r>
          </a:p>
          <a:p xmlns:a="http://schemas.openxmlformats.org/drawingml/2006/main">
            <a:r>
              <a:t/>
            </a:r>
          </a:p>
          <a:p xmlns:a="http://schemas.openxmlformats.org/drawingml/2006/main">
            <a:r>
              <a:t>For the custom-development alternative, the reference stack is Python with Django, server-rendered HTML and CSS, PostgreSQL, and a locally executed sentence-embedding model. The team would implement accounts, forms and administration in Django and test department-level permissions and business approvals. PostgreSQL would store assets, requests, reservations, decisions, transfers, maintenance events and audit records. If adaptation is selected, the team will use the existing platform's supported configuration and interfaces; the Django and PostgreSQL design is not assumed to describe that platform. The technical proof will confirm the selected route, skills and operating environment.</a:t>
            </a:r>
          </a:p>
          <a:p xmlns:a="http://schemas.openxmlformats.org/drawingml/2006/main">
            <a:r>
              <a:t/>
            </a:r>
          </a:p>
          <a:p xmlns:a="http://schemas.openxmlformats.org/drawingml/2006/main">
            <a:r>
              <a:t>The custom alternative uses a single web application rather than separately deployed front-end and back-end services to limit interfaces and deployment components. Either implementation route must protect a transfer so custody, location and history change consistently. Reservation checks must also prevent two users from allocating the same remaining quantity. An adapted implementation must demonstrate those controls through its supported interfaces and tests rather than bypass them.</a:t>
            </a:r>
          </a:p>
          <a:p xmlns:a="http://schemas.openxmlformats.org/drawingml/2006/main">
            <a:r>
              <a:t/>
            </a:r>
          </a:p>
          <a:p xmlns:a="http://schemas.openxmlformats.org/drawingml/2006/main">
            <a:r>
              <a:t>| Component | Proposed resource or method | Feasibility check |</a:t>
            </a:r>
          </a:p>
          <a:p xmlns:a="http://schemas.openxmlformats.org/drawingml/2006/main">
            <a:r>
              <a:t>| --- | --- | --- |</a:t>
            </a:r>
          </a:p>
          <a:p xmlns:a="http://schemas.openxmlformats.org/drawingml/2006/main">
            <a:r>
              <a:t>| Development and demonstration | Existing computers; target 4 CPU cores, 8 GB RAM and 10 GB free storage; one machine hosts the local demonstration | Record actual specifications and run the representative workload; these values are planning targets, not measured minimum requirements |</a:t>
            </a:r>
          </a:p>
          <a:p xmlns:a="http://schemas.openxmlformats.org/drawingml/2006/main">
            <a:r>
              <a:t>| Application and database | Django and PostgreSQL for the custom route, or the selected platform configuration; local test accounts and department-scoped records | Two users cannot reserve the same final item; interrupted receipt leaves a consistent database |</a:t>
            </a:r>
          </a:p>
          <a:p xmlns:a="http://schemas.openxmlformats.org/drawingml/2006/main">
            <a:r>
              <a:t>| Semantic matching | Sentence Transformers all-MiniLM-L6-v2 with precomputed asset embeddings [3] | Filter mandatory specifications first; evaluate ranking on a fixed labelled request set |</a:t>
            </a:r>
          </a:p>
          <a:p xmlns:a="http://schemas.openxmlformats.org/drawingml/2006/main">
            <a:r>
              <a:t>| Classification and metadata | Compare asset text with defined category descriptions; present suggested labels for review | Custodian can accept, correct or reject each suggestion; required fields are never silently invented |</a:t>
            </a:r>
          </a:p>
          <a:p xmlns:a="http://schemas.openxmlformats.org/drawingml/2006/main">
            <a:r>
              <a:t>| Assistant and generated reports | One text-generation service behind a replaceable interface, using approved synthetic or non-sensitive inputs | Verify service terms, response validity and the AED 150 experimental allowance before selecting a provider |</a:t>
            </a:r>
          </a:p>
          <a:p xmlns:a="http://schemas.openxmlformats.org/drawingml/2006/main">
            <a:r>
              <a:t>| Operational reporting | Database queries calculate counts and totals; generated text explains those supplied results | Reconcile every reported number with a query result or recorded calculation |</a:t>
            </a:r>
          </a:p>
          <a:p xmlns:a="http://schemas.openxmlformats.org/drawingml/2006/main">
            <a:r>
              <a:t>| Files and backup | File-type and size checks, restricted storage, daily backup during active work and one restore test | Reject unsupported files and restore both records and their linked files |</a:t>
            </a:r>
          </a:p>
          <a:p xmlns:a="http://schemas.openxmlformats.org/drawingml/2006/main">
            <a:r>
              <a:t/>
            </a:r>
          </a:p>
          <a:p xmlns:a="http://schemas.openxmlformats.org/drawingml/2006/main">
            <a:r>
              <a:t>The proposed matching method will compare request embeddings with precomputed asset-description embeddings using cosine similarity. Its suitability for campus assets must be evaluated against the same labelled cases as conventional search. The selected model and eligibility rules remain subject to this evaluation.</a:t>
            </a:r>
          </a:p>
          <a:p xmlns:a="http://schemas.openxmlformats.org/drawingml/2006/main">
            <a:r>
              <a:t/>
            </a:r>
          </a:p>
          <a:p xmlns:a="http://schemas.openxmlformats.org/drawingml/2006/main">
            <a:r>
              <a:t>No dedicated GPU purchase is budgeted. If local inference cannot meet the required workload, the team will benchmark a smaller or optimized model before considering paid compute. A text-generation service remains a dependency: a canned report is a fallback for continuity, not evidence that the generative-AI requirement has been implemented.</a:t>
            </a:r>
          </a:p>
          <a:p xmlns:a="http://schemas.openxmlformats.org/drawingml/2006/main">
            <a:r>
              <a:t/>
            </a:r>
          </a:p>
          <a:p xmlns:a="http://schemas.openxmlformats.org/drawingml/2006/main">
            <a:r>
              <a:t>## Capacity and skills</a:t>
            </a:r>
          </a:p>
          <a:p xmlns:a="http://schemas.openxmlformats.org/drawingml/2006/main">
            <a:r>
              <a:t/>
            </a:r>
          </a:p>
          <a:p xmlns:a="http://schemas.openxmlformats.org/drawingml/2006/main">
            <a:r>
              <a:t>The proposed model produces 384 values per asset, and its documentation states that inputs longer than 256 word pieces are truncated by default [3]. Word pieces are model tokens, not necessarily complete words. Storing 500 embeddings as 32-bit values requires 500 × 384 × 4 = 768,000 bytes, approximately 0.73 MiB, before indexing and application overhead. This is the team's storage calculation, not a measured total memory requirement. Essential specifications will be stored in structured fields and checked separately so they cannot be lost through text truncation.</a:t>
            </a:r>
          </a:p>
          <a:p xmlns:a="http://schemas.openxmlformats.org/drawingml/2006/main">
            <a:r>
              <a:t/>
            </a:r>
          </a:p>
          <a:p xmlns:a="http://schemas.openxmlformats.org/drawingml/2006/main">
            <a:r>
              <a:t>For planning, one photograph capped at 1 MB and one document capped at 2 MB per asset could consume up to 1.5 GB for 500 assets, before backups, history and software. The 10 GB storage allowance must be checked against the installed environment and retained backup copies. Larger uploads require a revised storage estimate.</a:t>
            </a:r>
          </a:p>
          <a:p xmlns:a="http://schemas.openxmlformats.org/drawingml/2006/main">
            <a:r>
              <a:t/>
            </a:r>
          </a:p>
          <a:p xmlns:a="http://schemas.openxmlformats.org/drawingml/2006/main">
            <a:r>
              <a:t>Required skills for the custom route are Python web development, HTML forms, relational data modelling, Git collaboration, authorization testing and embedding-based retrieval. Adaptation additionally requires knowledge of the candidate platform's configuration, interfaces and extension mechanisms. Current proficiency is not assumed. The technical proof has a 12-team-hour limit within the first 40-hour work period and an internal target of 4 October 2026. On the candidate route it must demonstrate login, a valid listing, a departmental request, protected approval, release and receipt, plus ranked search over 20 sample assets. Failure to complete the proof within 12 hours will trigger a revised estimate before committing to the platform.</a:t>
            </a:r>
          </a:p>
          <a:p xmlns:a="http://schemas.openxmlformats.org/drawingml/2006/main">
            <a:r>
              <a:t/>
            </a:r>
          </a:p>
          <a:p xmlns:a="http://schemas.openxmlformats.org/drawingml/2006/main">
            <a:r>
              <a:t>The team may use Codex for coding assistance, as permitted by the TA. Each member must be able to explain the purpose, inputs, outputs, permission checks and error handling of code they contribute, and demonstrate its tests. Generated code will be reviewed in small changes before it is committed. AI assistance does not establish technical proficiency or replace the early proof and recorded test results.</a:t>
            </a:r>
          </a:p>
          <a:p xmlns:a="http://schemas.openxmlformats.org/drawingml/2006/main">
            <a:r>
              <a:t/>
            </a:r>
          </a:p>
          <a:p xmlns:a="http://schemas.openxmlformats.org/drawingml/2006/main">
            <a:r>
              <a:t>## Data quality and AI evaluation</a:t>
            </a:r>
          </a:p>
          <a:p xmlns:a="http://schemas.openxmlformats.org/drawingml/2006/main">
            <a:r>
              <a:t/>
            </a:r>
          </a:p>
          <a:p xmlns:a="http://schemas.openxmlformats.org/drawingml/2006/main">
            <a:r>
              <a:t>The 500 sample assets will include five categories: furniture, computers and monitors, laboratory equipment, books, and general supplies. Test records will use fictional people, departments and locations. All 500 must pass checks for unique identifiers, valid status, positive quantities and required publication fields. Units and categorical values will be normalized so, for example, an HDMI requirement cannot be satisfied solely by similar wording.</a:t>
            </a:r>
          </a:p>
          <a:p xmlns:a="http://schemas.openxmlformats.org/drawingml/2006/main">
            <a:r>
              <a:t/>
            </a:r>
          </a:p>
          <a:p xmlns:a="http://schemas.openxmlformats.org/drawingml/2006/main">
            <a:r>
              <a:t>The ranking benchmark will contain 20 feasible requests with acceptable assets labelled before evaluation. These requests will not be used to tune ranking weights. Conventional keyword or filter search and semantic ranking will use the same records and labels. The target is at least 16 requests with an acceptable item among the first 3 results. A score of 16/20 is an 80% success rate on that test set, not evidence of 80% general AI accuracy.</a:t>
            </a:r>
          </a:p>
          <a:p xmlns:a="http://schemas.openxmlformats.org/drawingml/2006/main">
            <a:r>
              <a:t/>
            </a:r>
          </a:p>
          <a:p xmlns:a="http://schemas.openxmlformats.org/drawingml/2006/main">
            <a:r>
              <a:t>An additional 10 negative cases will include unavailable assets, insufficient quantity, incompatible specifications and unacceptable condition. None may pass the eligibility filter. Asset descriptions and uploaded text will be treated as data, not instructions capable of changing permissions or issuing approvals. The assistant will display a proposed request for user confirmation and will not authorize transfers or confirm physical receipt.</a:t>
            </a:r>
          </a:p>
          <a:p xmlns:a="http://schemas.openxmlformats.org/drawingml/2006/main">
            <a:r>
              <a:t/>
            </a:r>
          </a:p>
          <a:p xmlns:a="http://schemas.openxmlformats.org/drawingml/2006/main">
            <a:r>
              <a:t>OWASP identifies prompt injection as a risk when applications mix untrusted text with model instructions, and recommends separation, least privilege and human oversight [4]. For this prototype, model output will not directly execute database updates. The application will independently validate the requested operation and the user's permission before any confirmed change. Five additional security tests will place instruction-like text in asset descriptions or assistant inputs and check that it cannot bypass approval, expose another department's protected records or alter custody. These tests supplement, rather than prove the completeness of, the security controls.</a:t>
            </a:r>
          </a:p>
          <a:p xmlns:a="http://schemas.openxmlformats.org/drawingml/2006/main">
            <a:r>
              <a:t/>
            </a:r>
          </a:p>
          <a:p xmlns:a="http://schemas.openxmlformats.org/drawingml/2006/main">
            <a:r>
              <a:t>Structured-search performance will be measured over 1,000 requests at 10 concurrent users after a documented warm-up, with at least 950 completing within 2 seconds. Usability, workflow and impact-calculation tests will retain the Phase 1 sample sizes. Numerical summaries will come from calculations outside the language model. Technical feasibility remains conditional until these tests and the early technical exercise produce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SAEED ALKAABI</a:t>
            </a:r>
          </a:p>
          <a:p xmlns:a="http://schemas.openxmlformats.org/drawingml/2006/main">
            <a:r>
              <a:t/>
            </a:r>
          </a:p>
          <a:p xmlns:a="http://schemas.openxmlformats.org/drawingml/2006/main">
            <a:r>
              <a:t>1 Project Scope and Objectives</a:t>
            </a:r>
          </a:p>
          <a:p xmlns:a="http://schemas.openxmlformats.org/drawingml/2006/main">
            <a:r>
              <a:t/>
            </a:r>
          </a:p>
          <a:p xmlns:a="http://schemas.openxmlformats.org/drawingml/2006/main">
            <a:r>
              <a:t>## Included scope and deliverables</a:t>
            </a:r>
          </a:p>
          <a:p xmlns:a="http://schemas.openxmlformats.org/drawingml/2006/main">
            <a:r>
              <a:t/>
            </a:r>
          </a:p>
          <a:p xmlns:a="http://schemas.openxmlformats.org/drawingml/2006/main">
            <a:r>
              <a:t>The Intelligent, AI-Powered Circular Campus Resource Exchange and Asset Life Cycle Management System will allow authorized departments to publish surplus assets, request suitable resources and document approvals, release and receipt. Each asset will retain its inspection, maintenance, repair and final disposition history. AI will assist users with classification, compatible-resource discovery, life-cycle recommendations, natural-language requests and reporting. People with the relevant authority will make approval and custody decisions.</a:t>
            </a:r>
          </a:p>
          <a:p xmlns:a="http://schemas.openxmlformats.org/drawingml/2006/main">
            <a:r>
              <a:t/>
            </a:r>
          </a:p>
          <a:p xmlns:a="http://schemas.openxmlformats.org/drawingml/2006/main">
            <a:r>
              <a:t>The semester deliverable is an educational web prototype, a labelled test dataset, source code, a requirements specification, design documentation and recorded test results. The initial test environment will contain 500 synthetic assets distributed across 5 fictional departments and support a workload of 10 concurrent users. These values define the evaluation environment, not the size of the university's inventory or its expected demand.</a:t>
            </a:r>
          </a:p>
          <a:p xmlns:a="http://schemas.openxmlformats.org/drawingml/2006/main">
            <a:r>
              <a:t/>
            </a:r>
          </a:p>
          <a:p xmlns:a="http://schemas.openxmlformats.org/drawingml/2006/main">
            <a:r>
              <a:t>| Requirement group | Prototype coverage | Completion evidence |</a:t>
            </a:r>
          </a:p>
          <a:p xmlns:a="http://schemas.openxmlformats.org/drawingml/2006/main">
            <a:r>
              <a:t>| --- | --- | --- |</a:t>
            </a:r>
          </a:p>
          <a:p xmlns:a="http://schemas.openxmlformats.org/drawingml/2006/main">
            <a:r>
              <a:t>| FR-01 and FR-02 | Accounts, department permissions, asset registration, validation and publication | Permitted users create valid listings; prohibited changes and invalid quantities are rejected |</a:t>
            </a:r>
          </a:p>
          <a:p xmlns:a="http://schemas.openxmlformats.org/drawingml/2006/main">
            <a:r>
              <a:t>| FR-03 and FR-04 | Search, requests, reservations, approvals, release and receipt | A request completes without overbooking; custody changes only after the authorized confirmations |</a:t>
            </a:r>
          </a:p>
          <a:p xmlns:a="http://schemas.openxmlformats.org/drawingml/2006/main">
            <a:r>
              <a:t>| FR-05 and FR-06 | Maintenance and life-cycle history, notifications and operational reports | Events remain traceable; notifications follow status changes; totals reconcile with stored records |</a:t>
            </a:r>
          </a:p>
          <a:p xmlns:a="http://schemas.openxmlformats.org/drawingml/2006/main">
            <a:r>
              <a:t>| AI-01 and AI-02 | Classification suggestions and ranked resource matches with explanations | Users can correct suggestions; incompatible assets are excluded before ranking |</a:t>
            </a:r>
          </a:p>
          <a:p xmlns:a="http://schemas.openxmlformats.org/drawingml/2006/main">
            <a:r>
              <a:t>| AI-03, AI-04 and AI-05 | Life-cycle advice, natural-language assistance and summaries of recorded activity | Advice uses available evidence; request submission requires confirmation; summaries do not invent numerical results |</a:t>
            </a:r>
          </a:p>
          <a:p xmlns:a="http://schemas.openxmlformats.org/drawingml/2006/main">
            <a:r>
              <a:t/>
            </a:r>
          </a:p>
          <a:p xmlns:a="http://schemas.openxmlformats.org/drawingml/2006/main">
            <a:r>
              <a:t>All five AI functions remain in scope. Their first implementation will use constrained inputs and a small evaluation dataset. Photographs and documents may accompany an asset. English text is the proposed initial input language. The feasibility study includes estimated pilot costs and benefits, but the semester deliverable remains a classroom prototype.</a:t>
            </a:r>
          </a:p>
          <a:p xmlns:a="http://schemas.openxmlformats.org/drawingml/2006/main">
            <a:r>
              <a:t/>
            </a:r>
          </a:p>
          <a:p xmlns:a="http://schemas.openxmlformats.org/drawingml/2006/main">
            <a:r>
              <a:t>## Excluded scope</a:t>
            </a:r>
          </a:p>
          <a:p xmlns:a="http://schemas.openxmlformats.org/drawingml/2006/main">
            <a:r>
              <a:t/>
            </a:r>
          </a:p>
          <a:p xmlns:a="http://schemas.openxmlformats.org/drawingml/2006/main">
            <a:r>
              <a:t>The prototype excludes live university deployment, automated purchasing, public trading, payment processing and direct integration with KU procurement or identity systems. It will not import confidential university records or authorize real transfers, donations or disposal. Automatic interpretation of every image or document format and support for additional languages are outside the initial evaluation. AI cannot approve an exchange or make an unreviewed custody decision. Any later pilot or scope expansion requires separate authorization and a revised effort estimate.</a:t>
            </a:r>
          </a:p>
          <a:p xmlns:a="http://schemas.openxmlformats.org/drawingml/2006/main">
            <a:r>
              <a:t/>
            </a:r>
          </a:p>
          <a:p xmlns:a="http://schemas.openxmlformats.org/drawingml/2006/main">
            <a:r>
              <a:t>## SMART objectives and success criteria</a:t>
            </a:r>
          </a:p>
          <a:p xmlns:a="http://schemas.openxmlformats.org/drawingml/2006/main">
            <a:r>
              <a:t/>
            </a:r>
          </a:p>
          <a:p xmlns:a="http://schemas.openxmlformats.org/drawingml/2006/main">
            <a:r>
              <a:t>The six criteria below retain the Phase 1 acceptance targets and identify the evidence and accountable student for each result. The internal completion target for every criterion is 22 November 2026, ahead of the final milestone week beginning 23 November. This is a team planning target, not an announced submission timestamp. Feasibility of the workload will be reviewed after the early technical proof; these targets are not results already achieved.</a:t>
            </a:r>
          </a:p>
          <a:p xmlns:a="http://schemas.openxmlformats.org/drawingml/2006/main">
            <a:r>
              <a:t/>
            </a:r>
          </a:p>
          <a:p xmlns:a="http://schemas.openxmlformats.org/drawingml/2006/main">
            <a:r>
              <a:t>| Objective | Pass condition and retained evidence | Task owner |</a:t>
            </a:r>
          </a:p>
          <a:p xmlns:a="http://schemas.openxmlformats.org/drawingml/2006/main">
            <a:r>
              <a:t>| --- | --- | --- |</a:t>
            </a:r>
          </a:p>
          <a:p xmlns:a="http://schemas.openxmlformats.org/drawingml/2006/main">
            <a:r>
              <a:t>| Complete the exchange workflow | Pass all 10 defined workflow scenarios, including request, approval, release and receipt. Retain inputs, expected outcomes and actual results. | Saeed Alkaabi |</a:t>
            </a:r>
          </a:p>
          <a:p xmlns:a="http://schemas.openxmlformats.org/drawingml/2006/main">
            <a:r>
              <a:t>| Enforce authorization | Reject every prohibited action in the defined role and department permission matrix. Record the attempted operation and rejection. | Ali Alawadhi |</a:t>
            </a:r>
          </a:p>
          <a:p xmlns:a="http://schemas.openxmlformats.org/drawingml/2006/main">
            <a:r>
              <a:t>| Meet search response time | At least 95% of structured searches (950 of 1,000) finish within 2 seconds after warm-up, with 500 assets and 10 concurrent users. Retain timing logs. | Humaid Al Ali |</a:t>
            </a:r>
          </a:p>
          <a:p xmlns:a="http://schemas.openxmlformats.org/drawingml/2006/main">
            <a:r>
              <a:t>| Demonstrate usability | After a 15-minute introduction, at least 4 of 5 testers independently search, submit a request and check its status. Retain task outcomes and observed errors. | Ali Alawadhi |</a:t>
            </a:r>
          </a:p>
          <a:p xmlns:a="http://schemas.openxmlformats.org/drawingml/2006/main">
            <a:r>
              <a:t>| Evaluate resource matching | At least 16 of 20 labelled feasible requests return an acceptable asset in the first 3 results. No negative eligibility case may pass the 10-case test set. Retain ranked outputs and labels. | Humaid Al Ali |</a:t>
            </a:r>
          </a:p>
          <a:p xmlns:a="http://schemas.openxmlformats.org/drawingml/2006/main">
            <a:r>
              <a:t>| Verify impact calculations | All 10 calculation cases reproduce their expected values. Retain the underlying inputs and reconciliation for each result. | Humaid Al Ali |</a:t>
            </a:r>
          </a:p>
          <a:p xmlns:a="http://schemas.openxmlformats.org/drawingml/2006/main">
            <a:r>
              <a:t/>
            </a:r>
          </a:p>
          <a:p xmlns:a="http://schemas.openxmlformats.org/drawingml/2006/main">
            <a:r>
              <a:t>4 Technical and Data Feasibility</a:t>
            </a:r>
          </a:p>
          <a:p xmlns:a="http://schemas.openxmlformats.org/drawingml/2006/main">
            <a:r>
              <a:t/>
            </a:r>
          </a:p>
          <a:p xmlns:a="http://schemas.openxmlformats.org/drawingml/2006/main">
            <a:r>
              <a:t>## Proposed implementation approach</a:t>
            </a:r>
          </a:p>
          <a:p xmlns:a="http://schemas.openxmlformats.org/drawingml/2006/main">
            <a:r>
              <a:t/>
            </a:r>
          </a:p>
          <a:p xmlns:a="http://schemas.openxmlformats.org/drawingml/2006/main">
            <a:r>
              <a:t>For the custom-development alternative, the reference stack is Python with Django, server-rendered HTML and CSS, PostgreSQL, and a locally executed sentence-embedding model. The team would implement accounts, forms and administration in Django and test department-level permissions and business approvals. PostgreSQL would store assets, requests, reservations, decisions, transfers, maintenance events and audit records. If adaptation is selected, the team will use the existing platform's supported configuration and interfaces; the Django and PostgreSQL design is not assumed to describe that platform. The technical proof will confirm the selected route, skills and operating environment.</a:t>
            </a:r>
          </a:p>
          <a:p xmlns:a="http://schemas.openxmlformats.org/drawingml/2006/main">
            <a:r>
              <a:t/>
            </a:r>
          </a:p>
          <a:p xmlns:a="http://schemas.openxmlformats.org/drawingml/2006/main">
            <a:r>
              <a:t>The custom alternative uses a single web application rather than separately deployed front-end and back-end services to limit interfaces and deployment components. Either implementation route must protect a transfer so custody, location and history change consistently. Reservation checks must also prevent two users from allocating the same remaining quantity. An adapted implementation must demonstrate those controls through its supported interfaces and tests rather than bypass them.</a:t>
            </a:r>
          </a:p>
          <a:p xmlns:a="http://schemas.openxmlformats.org/drawingml/2006/main">
            <a:r>
              <a:t/>
            </a:r>
          </a:p>
          <a:p xmlns:a="http://schemas.openxmlformats.org/drawingml/2006/main">
            <a:r>
              <a:t>| Component | Proposed resource or method | Feasibility check |</a:t>
            </a:r>
          </a:p>
          <a:p xmlns:a="http://schemas.openxmlformats.org/drawingml/2006/main">
            <a:r>
              <a:t>| --- | --- | --- |</a:t>
            </a:r>
          </a:p>
          <a:p xmlns:a="http://schemas.openxmlformats.org/drawingml/2006/main">
            <a:r>
              <a:t>| Development and demonstration | Existing computers; target 4 CPU cores, 8 GB RAM and 10 GB free storage; one machine hosts the local demonstration | Record actual specifications and run the representative workload; these values are planning targets, not measured minimum requirements |</a:t>
            </a:r>
          </a:p>
          <a:p xmlns:a="http://schemas.openxmlformats.org/drawingml/2006/main">
            <a:r>
              <a:t>| Application and database | Django and PostgreSQL for the custom route, or the selected platform configuration; local test accounts and department-scoped records | Two users cannot reserve the same final item; interrupted receipt leaves a consistent database |</a:t>
            </a:r>
          </a:p>
          <a:p xmlns:a="http://schemas.openxmlformats.org/drawingml/2006/main">
            <a:r>
              <a:t>| Semantic matching | Sentence Transformers all-MiniLM-L6-v2 with precomputed asset embeddings [3] | Filter mandatory specifications first; evaluate ranking on a fixed labelled request set |</a:t>
            </a:r>
          </a:p>
          <a:p xmlns:a="http://schemas.openxmlformats.org/drawingml/2006/main">
            <a:r>
              <a:t>| Classification and metadata | Compare asset text with defined category descriptions; present suggested labels for review | Custodian can accept, correct or reject each suggestion; required fields are never silently invented |</a:t>
            </a:r>
          </a:p>
          <a:p xmlns:a="http://schemas.openxmlformats.org/drawingml/2006/main">
            <a:r>
              <a:t>| Assistant and generated reports | One text-generation service behind a replaceable interface, using approved synthetic or non-sensitive inputs | Verify service terms, response validity and the AED 150 experimental allowance before selecting a provider |</a:t>
            </a:r>
          </a:p>
          <a:p xmlns:a="http://schemas.openxmlformats.org/drawingml/2006/main">
            <a:r>
              <a:t>| Operational reporting | Database queries calculate counts and totals; generated text explains those supplied results | Reconcile every reported number with a query result or recorded calculation |</a:t>
            </a:r>
          </a:p>
          <a:p xmlns:a="http://schemas.openxmlformats.org/drawingml/2006/main">
            <a:r>
              <a:t>| Files and backup | File-type and size checks, restricted storage, daily backup during active work and one restore test | Reject unsupported files and restore both records and their linked files |</a:t>
            </a:r>
          </a:p>
          <a:p xmlns:a="http://schemas.openxmlformats.org/drawingml/2006/main">
            <a:r>
              <a:t/>
            </a:r>
          </a:p>
          <a:p xmlns:a="http://schemas.openxmlformats.org/drawingml/2006/main">
            <a:r>
              <a:t>The proposed matching method will compare request embeddings with precomputed asset-description embeddings using cosine similarity. Its suitability for campus assets must be evaluated against the same labelled cases as conventional search. The selected model and eligibility rules remain subject to this evaluation.</a:t>
            </a:r>
          </a:p>
          <a:p xmlns:a="http://schemas.openxmlformats.org/drawingml/2006/main">
            <a:r>
              <a:t/>
            </a:r>
          </a:p>
          <a:p xmlns:a="http://schemas.openxmlformats.org/drawingml/2006/main">
            <a:r>
              <a:t>No dedicated GPU purchase is budgeted. If local inference cannot meet the required workload, the team will benchmark a smaller or optimized model before considering paid compute. A text-generation service remains a dependency: a canned report is a fallback for continuity, not evidence that the generative-AI requirement has been implemented.</a:t>
            </a:r>
          </a:p>
          <a:p xmlns:a="http://schemas.openxmlformats.org/drawingml/2006/main">
            <a:r>
              <a:t/>
            </a:r>
          </a:p>
          <a:p xmlns:a="http://schemas.openxmlformats.org/drawingml/2006/main">
            <a:r>
              <a:t>## Capacity and skills</a:t>
            </a:r>
          </a:p>
          <a:p xmlns:a="http://schemas.openxmlformats.org/drawingml/2006/main">
            <a:r>
              <a:t/>
            </a:r>
          </a:p>
          <a:p xmlns:a="http://schemas.openxmlformats.org/drawingml/2006/main">
            <a:r>
              <a:t>The proposed model produces 384 values per asset, and its documentation states that inputs longer than 256 word pieces are truncated by default [3]. Word pieces are model tokens, not necessarily complete words. Storing 500 embeddings as 32-bit values requires 500 × 384 × 4 = 768,000 bytes, approximately 0.73 MiB, before indexing and application overhead. This is the team's storage calculation, not a measured total memory requirement. Essential specifications will be stored in structured fields and checked separately so they cannot be lost through text truncation.</a:t>
            </a:r>
          </a:p>
          <a:p xmlns:a="http://schemas.openxmlformats.org/drawingml/2006/main">
            <a:r>
              <a:t/>
            </a:r>
          </a:p>
          <a:p xmlns:a="http://schemas.openxmlformats.org/drawingml/2006/main">
            <a:r>
              <a:t>For planning, one photograph capped at 1 MB and one document capped at 2 MB per asset could consume up to 1.5 GB for 500 assets, before backups, history and software. The 10 GB storage allowance must be checked against the installed environment and retained backup copies. Larger uploads require a revised storage estimate.</a:t>
            </a:r>
          </a:p>
          <a:p xmlns:a="http://schemas.openxmlformats.org/drawingml/2006/main">
            <a:r>
              <a:t/>
            </a:r>
          </a:p>
          <a:p xmlns:a="http://schemas.openxmlformats.org/drawingml/2006/main">
            <a:r>
              <a:t>Required skills for the custom route are Python web development, HTML forms, relational data modelling, Git collaboration, authorization testing and embedding-based retrieval. Adaptation additionally requires knowledge of the candidate platform's configuration, interfaces and extension mechanisms. Current proficiency is not assumed. The technical proof has a 12-team-hour limit within the first 40-hour work period and an internal target of 4 October 2026. On the candidate route it must demonstrate login, a valid listing, a departmental request, protected approval, release and receipt, plus ranked search over 20 sample assets. Failure to complete the proof within 12 hours will trigger a revised estimate before committing to the platform.</a:t>
            </a:r>
          </a:p>
          <a:p xmlns:a="http://schemas.openxmlformats.org/drawingml/2006/main">
            <a:r>
              <a:t/>
            </a:r>
          </a:p>
          <a:p xmlns:a="http://schemas.openxmlformats.org/drawingml/2006/main">
            <a:r>
              <a:t>The team may use Codex for coding assistance, as permitted by the TA. Each member must be able to explain the purpose, inputs, outputs, permission checks and error handling of code they contribute, and demonstrate its tests. Generated code will be reviewed in small changes before it is committed. AI assistance does not establish technical proficiency or replace the early proof and recorded test results.</a:t>
            </a:r>
          </a:p>
          <a:p xmlns:a="http://schemas.openxmlformats.org/drawingml/2006/main">
            <a:r>
              <a:t/>
            </a:r>
          </a:p>
          <a:p xmlns:a="http://schemas.openxmlformats.org/drawingml/2006/main">
            <a:r>
              <a:t>## Data quality and AI evaluation</a:t>
            </a:r>
          </a:p>
          <a:p xmlns:a="http://schemas.openxmlformats.org/drawingml/2006/main">
            <a:r>
              <a:t/>
            </a:r>
          </a:p>
          <a:p xmlns:a="http://schemas.openxmlformats.org/drawingml/2006/main">
            <a:r>
              <a:t>The 500 sample assets will include five categories: furniture, computers and monitors, laboratory equipment, books, and general supplies. Test records will use fictional people, departments and locations. All 500 must pass checks for unique identifiers, valid status, positive quantities and required publication fields. Units and categorical values will be normalized so, for example, an HDMI requirement cannot be satisfied solely by similar wording.</a:t>
            </a:r>
          </a:p>
          <a:p xmlns:a="http://schemas.openxmlformats.org/drawingml/2006/main">
            <a:r>
              <a:t/>
            </a:r>
          </a:p>
          <a:p xmlns:a="http://schemas.openxmlformats.org/drawingml/2006/main">
            <a:r>
              <a:t>The ranking benchmark will contain 20 feasible requests with acceptable assets labelled before evaluation. These requests will not be used to tune ranking weights. Conventional keyword or filter search and semantic ranking will use the same records and labels. The target is at least 16 requests with an acceptable item among the first 3 results. A score of 16/20 is an 80% success rate on that test set, not evidence of 80% general AI accuracy.</a:t>
            </a:r>
          </a:p>
          <a:p xmlns:a="http://schemas.openxmlformats.org/drawingml/2006/main">
            <a:r>
              <a:t/>
            </a:r>
          </a:p>
          <a:p xmlns:a="http://schemas.openxmlformats.org/drawingml/2006/main">
            <a:r>
              <a:t>An additional 10 negative cases will include unavailable assets, insufficient quantity, incompatible specifications and unacceptable condition. None may pass the eligibility filter. Asset descriptions and uploaded text will be treated as data, not instructions capable of changing permissions or issuing approvals. The assistant will display a proposed request for user confirmation and will not authorize transfers or confirm physical receipt.</a:t>
            </a:r>
          </a:p>
          <a:p xmlns:a="http://schemas.openxmlformats.org/drawingml/2006/main">
            <a:r>
              <a:t/>
            </a:r>
          </a:p>
          <a:p xmlns:a="http://schemas.openxmlformats.org/drawingml/2006/main">
            <a:r>
              <a:t>OWASP identifies prompt injection as a risk when applications mix untrusted text with model instructions, and recommends separation, least privilege and human oversight [4]. For this prototype, model output will not directly execute database updates. The application will independently validate the requested operation and the user's permission before any confirmed change. Five additional security tests will place instruction-like text in asset descriptions or assistant inputs and check that it cannot bypass approval, expose another department's protected records or alter custody. These tests supplement, rather than prove the completeness of, the security controls.</a:t>
            </a:r>
          </a:p>
          <a:p xmlns:a="http://schemas.openxmlformats.org/drawingml/2006/main">
            <a:r>
              <a:t/>
            </a:r>
          </a:p>
          <a:p xmlns:a="http://schemas.openxmlformats.org/drawingml/2006/main">
            <a:r>
              <a:t>Structured-search performance will be measured over 1,000 requests at 10 concurrent users after a documented warm-up, with at least 950 completing within 2 seconds. Usability, workflow and impact-calculation tests will retain the Phase 1 sample sizes. Numerical summaries will come from calculations outside the language model. Technical feasibility remains conditional until these tests and the early technical exercise produce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SAEED ALKAABI</a:t>
            </a:r>
          </a:p>
          <a:p xmlns:a="http://schemas.openxmlformats.org/drawingml/2006/main">
            <a:r>
              <a:t/>
            </a:r>
          </a:p>
          <a:p xmlns:a="http://schemas.openxmlformats.org/drawingml/2006/main">
            <a:r>
              <a:t>2 Stakeholders and Operational Feasibility</a:t>
            </a:r>
          </a:p>
          <a:p xmlns:a="http://schemas.openxmlformats.org/drawingml/2006/main">
            <a:r>
              <a:t/>
            </a:r>
          </a:p>
          <a:p xmlns:a="http://schemas.openxmlformats.org/drawingml/2006/main">
            <a:r>
              <a:t>## Assumed current process at KU</a:t>
            </a:r>
          </a:p>
          <a:p xmlns:a="http://schemas.openxmlformats.org/drawingml/2006/main">
            <a:r>
              <a:t/>
            </a:r>
          </a:p>
          <a:p xmlns:a="http://schemas.openxmlformats.org/drawingml/2006/main">
            <a:r>
              <a:t>For this feasibility study, the current-process baseline assumes that departments coordinate asset reuse through email or internal request forms, with Excel or shared spreadsheet registers for asset details and separate maintenance records. This is an assumption for validation, not a verified description of KU practice. No specific institutional software, office structure or approval chain is asserted. The following sequence identifies the records and business task owners that the team will confirm during consultation.</a:t>
            </a:r>
          </a:p>
          <a:p xmlns:a="http://schemas.openxmlformats.org/drawingml/2006/main">
            <a:r>
              <a:t/>
            </a:r>
          </a:p>
          <a:p xmlns:a="http://schemas.openxmlformats.org/drawingml/2006/main">
            <a:r>
              <a:t>| Process stage | Assumed tools and records | Assumed business task owner |</a:t>
            </a:r>
          </a:p>
          <a:p xmlns:a="http://schemas.openxmlformats.org/drawingml/2006/main">
            <a:r>
              <a:t>| --- | --- | --- |</a:t>
            </a:r>
          </a:p>
          <a:p xmlns:a="http://schemas.openxmlformats.org/drawingml/2006/main">
            <a:r>
              <a:t>| Request a resource | Email or internal form records the specification, quantity and required date. | Department requester |</a:t>
            </a:r>
          </a:p>
          <a:p xmlns:a="http://schemas.openxmlformats.org/drawingml/2006/main">
            <a:r>
              <a:t>| Check availability | A spreadsheet register and physical check establish condition, location and available quantity. | Asset custodian |</a:t>
            </a:r>
          </a:p>
          <a:p xmlns:a="http://schemas.openxmlformats.org/drawingml/2006/main">
            <a:r>
              <a:t>| Authorize the exchange | An email decision or approval form records the request reference, decision maker and outcome. | Designated approver |</a:t>
            </a:r>
          </a:p>
          <a:p xmlns:a="http://schemas.openxmlformats.org/drawingml/2006/main">
            <a:r>
              <a:t>| Release and receive | A handover form or email confirmation records release and receipt. | Sending custodian and receiving requester |</a:t>
            </a:r>
          </a:p>
          <a:p xmlns:a="http://schemas.openxmlformats.org/drawingml/2006/main">
            <a:r>
              <a:t>| Update custody and stock | The register records the new custodian, location and remaining availability. | Asset custodian |</a:t>
            </a:r>
          </a:p>
          <a:p xmlns:a="http://schemas.openxmlformats.org/drawingml/2006/main">
            <a:r>
              <a:t>| Record upkeep and benefits | Maintenance records hold repair details; purchase and transfer records support any avoided-cost estimate. | Maintenance staff, with finance validating benefit inputs |</a:t>
            </a:r>
          </a:p>
          <a:p xmlns:a="http://schemas.openxmlformats.org/drawingml/2006/main">
            <a:r>
              <a:t/>
            </a:r>
          </a:p>
          <a:p xmlns:a="http://schemas.openxmlformats.org/drawingml/2006/main">
            <a:r>
              <a:t>Under this assumed arrangement, checking several records could leave availability or handover status unclear. These are possible weaknesses to investigate, not observed failure rates at KU. The proposed system would link the request, approval and custody history in one controlled record and offer a search across eligible assets. Ali will document the actual tools, forms, approval roles and a representative exchange during the Section 2 consultations, replacing any assumption that the evidence contradicts.</a:t>
            </a:r>
          </a:p>
          <a:p xmlns:a="http://schemas.openxmlformats.org/drawingml/2006/main">
            <a:r>
              <a:t/>
            </a:r>
          </a:p>
          <a:p xmlns:a="http://schemas.openxmlformats.org/drawingml/2006/main">
            <a:r>
              <a:t>## System functional owner</a:t>
            </a:r>
          </a:p>
          <a:p xmlns:a="http://schemas.openxmlformats.org/drawingml/2006/main">
            <a:r>
              <a:t/>
            </a:r>
          </a:p>
          <a:p xmlns:a="http://schemas.openxmlformats.org/drawingml/2006/main">
            <a:r>
              <a:t>The proposed functional owner is a KU-designated Asset Management Lead responsible for the campus exchange process. This is a proposed business responsibility, not a verified KU job title; the exact office and individual require university confirmation. This owner would approve business requirements, define approval and custody rules, prioritize changes, agree acceptance criteria and sponsor any later pilot. Functional ownership does not automatically authorize every transfer; individual exchanges must still follow the designated approval roles.</a:t>
            </a:r>
          </a:p>
          <a:p xmlns:a="http://schemas.openxmlformats.org/drawingml/2006/main">
            <a:r>
              <a:t/>
            </a:r>
          </a:p>
          <a:p xmlns:a="http://schemas.openxmlformats.org/drawingml/2006/main">
            <a:r>
              <a:t>The functional owner is distinct from the system administrator, who manages software access and backups, and from the student development team. Saeed, Ali and Humaid own the implementation and verification tasks assigned in Sections 1 and 8; they do not own KU assets or institutional policy. In the classroom evaluation, an instructor-approved proxy may clarify business rules, but cannot grant live data access or transfer authority.</a:t>
            </a:r>
          </a:p>
          <a:p xmlns:a="http://schemas.openxmlformats.org/drawingml/2006/main">
            <a:r>
              <a:t/>
            </a:r>
          </a:p>
          <a:p xmlns:a="http://schemas.openxmlformats.org/drawingml/2006/main">
            <a:r>
              <a:t>## Responsibilities and expectations</a:t>
            </a:r>
          </a:p>
          <a:p xmlns:a="http://schemas.openxmlformats.org/drawingml/2006/main">
            <a:r>
              <a:t/>
            </a:r>
          </a:p>
          <a:p xmlns:a="http://schemas.openxmlformats.org/drawingml/2006/main">
            <a:r>
              <a:t>Operational feasibility depends on staff maintaining availability and confirming physical exchanges. A recommendation cannot compensate for an inaccurate condition record or an approver who has not been assigned. The proposed responsibilities below separate the administrative operation of the software from authority over university assets.</a:t>
            </a:r>
          </a:p>
          <a:p xmlns:a="http://schemas.openxmlformats.org/drawingml/2006/main">
            <a:r>
              <a:t/>
            </a:r>
          </a:p>
          <a:p xmlns:a="http://schemas.openxmlformats.org/drawingml/2006/main">
            <a:r>
              <a:t>| Stakeholder | Required operation and information | Proposed acceptance condition |</a:t>
            </a:r>
          </a:p>
          <a:p xmlns:a="http://schemas.openxmlformats.org/drawingml/2006/main">
            <a:r>
              <a:t>| --- | --- | --- |</a:t>
            </a:r>
          </a:p>
          <a:p xmlns:a="http://schemas.openxmlformats.org/drawingml/2006/main">
            <a:r>
              <a:t>| Department requester | Describe specifications, quantity and required date; inspect matches and request status | Submit a complete request and identify its current status without assistance |</a:t>
            </a:r>
          </a:p>
          <a:p xmlns:a="http://schemas.openxmlformats.org/drawingml/2006/main">
            <a:r>
              <a:t>| Asset custodian | Maintain condition, quantity and location; publish availability and confirm release | Cannot reserve more than available stock or release a transfer without approval |</a:t>
            </a:r>
          </a:p>
          <a:p xmlns:a="http://schemas.openxmlformats.org/drawingml/2006/main">
            <a:r>
              <a:t>| Designated approver | Review request purpose and asset ownership; approve or reject with a reason | Every decision records the approver, time, affected request and outcome |</a:t>
            </a:r>
          </a:p>
          <a:p xmlns:a="http://schemas.openxmlformats.org/drawingml/2006/main">
            <a:r>
              <a:t>| Maintenance staff | Record defects, inspections, repairs, cost and resulting condition | An unserviceable asset is removed from working-resource matches |</a:t>
            </a:r>
          </a:p>
          <a:p xmlns:a="http://schemas.openxmlformats.org/drawingml/2006/main">
            <a:r>
              <a:t>| Procurement and finance staff | Review avoided-purchase assumptions and repair or transfer costs | Each financial estimate can be traced to a completed event and its inputs |</a:t>
            </a:r>
          </a:p>
          <a:p xmlns:a="http://schemas.openxmlformats.org/drawingml/2006/main">
            <a:r>
              <a:t>| Sustainability staff | Review reuse counts, asset mass and environmental assumptions | Missing mass or emissions factors produce an unavailable estimate rather than a fabricated value |</a:t>
            </a:r>
          </a:p>
          <a:p xmlns:a="http://schemas.openxmlformats.org/drawingml/2006/main">
            <a:r>
              <a:t>| System administrator | Manage accounts, roles, departments and backup access | Administrative access alone cannot approve a business transfer |</a:t>
            </a:r>
          </a:p>
          <a:p xmlns:a="http://schemas.openxmlformats.org/drawingml/2006/main">
            <a:r>
              <a:t/>
            </a:r>
          </a:p>
          <a:p xmlns:a="http://schemas.openxmlformats.org/drawingml/2006/main">
            <a:r>
              <a:t>The project team will implement and test these operations. The instructor and teaching assistant will assess the deliverables and clarify course expectations. Proposed technical responsibilities appear in Section 8; they do not claim that work has already been completed.</a:t>
            </a:r>
          </a:p>
          <a:p xmlns:a="http://schemas.openxmlformats.org/drawingml/2006/main">
            <a:r>
              <a:t/>
            </a:r>
          </a:p>
          <a:p xmlns:a="http://schemas.openxmlformats.org/drawingml/2006/main">
            <a:r>
              <a:t>## Stakeholder evidence and consultation plan</a:t>
            </a:r>
          </a:p>
          <a:p xmlns:a="http://schemas.openxmlformats.org/drawingml/2006/main">
            <a:r>
              <a:t/>
            </a:r>
          </a:p>
          <a:p xmlns:a="http://schemas.openxmlformats.org/drawingml/2006/main">
            <a:r>
              <a:t>No interviews with KU staff or potential users have been conducted as of 28 September 2026. The workflow and roles above are proposed requirements derived from the project materials, not stakeholder-confirmed findings. External examples in Section 3 establish that reuse platforms exist, but cannot establish KU adoption or identify its actual approval chain.</a:t>
            </a:r>
          </a:p>
          <a:p xmlns:a="http://schemas.openxmlformats.org/drawingml/2006/main">
            <a:r>
              <a:t/>
            </a:r>
          </a:p>
          <a:p xmlns:a="http://schemas.openxmlformats.org/drawingml/2006/main">
            <a:r>
              <a:t>The initial internal target of 27 September 2026 passed without any completed interviews. This is an outstanding research task, not evidence of stakeholder acceptance. Ali will coordinate the first 3 structured consultations, covering a requester, an asset custodian and an approval role, as a priority within the proposed 4 October follow-up study. If direct access is unavailable, the team will request TA approval for clearly identified proxy participants. No proxy arrangement has been confirmed. A proxy response cannot establish KU policy, authorize a transfer or be reported as a KU staff interview.</a:t>
            </a:r>
          </a:p>
          <a:p xmlns:a="http://schemas.openxmlformats.org/drawingml/2006/main">
            <a:r>
              <a:t/>
            </a:r>
          </a:p>
          <a:p xmlns:a="http://schemas.openxmlformats.org/drawingml/2006/main">
            <a:r>
              <a:t>The fuller study retains the proposed sample of 10 consultations: 2 departmental requesters, 2 custodians, 2 maintenance representatives, 2 finance or procurement representatives and 2 approval or sustainability representatives. The initial 3 are included in this total where their roles match. The internal target for completing the sample and updating the requirements is 4 October 2026, ahead of the requirements milestone. These sample sizes are team planning choices, not prescribed interview counts or statistically representative samples.</a:t>
            </a:r>
          </a:p>
          <a:p xmlns:a="http://schemas.openxmlformats.org/drawingml/2006/main">
            <a:r>
              <a:t/>
            </a:r>
          </a:p>
          <a:p xmlns:a="http://schemas.openxmlformats.org/drawingml/2006/main">
            <a:r>
              <a:t>Each consultation will answer six questions: Which tool or register is used now? How is a surplus asset identified and its condition checked? Who approves, releases and receives it? Which recent request illustrates a delay, duplication or unmet need? What evidence supports the replacement, repair and transfer costs? Which proposed step would the participant accept or change? The interview record will contain the date, respondent role, direct or approved-proxy status, a concise answer summary and any permitted supporting document. Unavailable records and unanswered questions will remain explicit.</a:t>
            </a:r>
          </a:p>
          <a:p xmlns:a="http://schemas.openxmlformats.org/drawingml/2006/main">
            <a:r>
              <a:t/>
            </a:r>
          </a:p>
          <a:p xmlns:a="http://schemas.openxmlformats.org/drawingml/2006/main">
            <a:r>
              <a:t>Ali will map each future finding to the affected requirement ID and record whether it confirms, changes or rejects the proposed rule. Completed interviews and planned consultations will be recorded separately, including any unresolved disagreement. Humaid will check the benefit inputs against any cost evidence obtained. This submission contains no interview-derived findings; the operational conclusion remains conditional, and documented follow-up findings will inform the requirements revision.</a:t>
            </a:r>
          </a:p>
          <a:p xmlns:a="http://schemas.openxmlformats.org/drawingml/2006/main">
            <a:r>
              <a:t/>
            </a:r>
          </a:p>
          <a:p xmlns:a="http://schemas.openxmlformats.org/drawingml/2006/main">
            <a:r>
              <a:t>The proposed local-demand threshold requires at least 6 of 10 distinct direct KU respondents to report a relevant recurring need, together with confirmation from authorized representatives of at least 3 departments that each can identify 10 potentially reusable assets. The resulting 30 candidate assets would support a small pilot discussion, not a campus-wide demand estimate. Direct responses and approved-proxy responses must be counted separately. If fewer than 10 direct respondents participate, report the actual denominator and leave this threshold unassessed. Proxy feedback can test the proposed workflow but cannot establish KU demand or departmental commitments.</a:t>
            </a:r>
          </a:p>
          <a:p xmlns:a="http://schemas.openxmlformats.org/drawingml/2006/main">
            <a:r>
              <a:t/>
            </a:r>
          </a:p>
          <a:p xmlns:a="http://schemas.openxmlformats.org/drawingml/2006/main">
            <a:r>
              <a:t>Before a pilot, 5 testers will receive a 15-minute introduction and then independently search for an asset, submit a request and check its status. At least 4 must complete all three tasks without help. Any failure will identify the screen, misunderstood field or missing instruction requiring correction. One custodian and one approver must be assigned for each participating department, and at least 1 test exchange must complete approval, release and receipt before real exchanges are considered.</a:t>
            </a:r>
          </a:p>
          <a:p xmlns:a="http://schemas.openxmlformats.org/drawingml/2006/main">
            <a:r>
              <a:t/>
            </a:r>
          </a:p>
          <a:p xmlns:a="http://schemas.openxmlformats.org/drawingml/2006/main">
            <a:r>
              <a:t>Operational feasibility is not yet demonstrated. The defined workflow provides a basis for interviews and prototype tests, but a consultation plan alone does not establish staff participation, approval ownership or user acceptance. The conditional prototype recommendation can be reassessed once documented findings and observed task results are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SAEED ALKAABI</a:t>
            </a:r>
          </a:p>
          <a:p xmlns:a="http://schemas.openxmlformats.org/drawingml/2006/main">
            <a:r>
              <a:t/>
            </a:r>
          </a:p>
          <a:p xmlns:a="http://schemas.openxmlformats.org/drawingml/2006/main">
            <a:r>
              <a:t>2 Stakeholders and Operational Feasibility</a:t>
            </a:r>
          </a:p>
          <a:p xmlns:a="http://schemas.openxmlformats.org/drawingml/2006/main">
            <a:r>
              <a:t/>
            </a:r>
          </a:p>
          <a:p xmlns:a="http://schemas.openxmlformats.org/drawingml/2006/main">
            <a:r>
              <a:t>## Assumed current process at KU</a:t>
            </a:r>
          </a:p>
          <a:p xmlns:a="http://schemas.openxmlformats.org/drawingml/2006/main">
            <a:r>
              <a:t/>
            </a:r>
          </a:p>
          <a:p xmlns:a="http://schemas.openxmlformats.org/drawingml/2006/main">
            <a:r>
              <a:t>For this feasibility study, the current-process baseline assumes that departments coordinate asset reuse through email or internal request forms, with Excel or shared spreadsheet registers for asset details and separate maintenance records. This is an assumption for validation, not a verified description of KU practice. No specific institutional software, office structure or approval chain is asserted. The following sequence identifies the records and business task owners that the team will confirm during consultation.</a:t>
            </a:r>
          </a:p>
          <a:p xmlns:a="http://schemas.openxmlformats.org/drawingml/2006/main">
            <a:r>
              <a:t/>
            </a:r>
          </a:p>
          <a:p xmlns:a="http://schemas.openxmlformats.org/drawingml/2006/main">
            <a:r>
              <a:t>| Process stage | Assumed tools and records | Assumed business task owner |</a:t>
            </a:r>
          </a:p>
          <a:p xmlns:a="http://schemas.openxmlformats.org/drawingml/2006/main">
            <a:r>
              <a:t>| --- | --- | --- |</a:t>
            </a:r>
          </a:p>
          <a:p xmlns:a="http://schemas.openxmlformats.org/drawingml/2006/main">
            <a:r>
              <a:t>| Request a resource | Email or internal form records the specification, quantity and required date. | Department requester |</a:t>
            </a:r>
          </a:p>
          <a:p xmlns:a="http://schemas.openxmlformats.org/drawingml/2006/main">
            <a:r>
              <a:t>| Check availability | A spreadsheet register and physical check establish condition, location and available quantity. | Asset custodian |</a:t>
            </a:r>
          </a:p>
          <a:p xmlns:a="http://schemas.openxmlformats.org/drawingml/2006/main">
            <a:r>
              <a:t>| Authorize the exchange | An email decision or approval form records the request reference, decision maker and outcome. | Designated approver |</a:t>
            </a:r>
          </a:p>
          <a:p xmlns:a="http://schemas.openxmlformats.org/drawingml/2006/main">
            <a:r>
              <a:t>| Release and receive | A handover form or email confirmation records release and receipt. | Sending custodian and receiving requester |</a:t>
            </a:r>
          </a:p>
          <a:p xmlns:a="http://schemas.openxmlformats.org/drawingml/2006/main">
            <a:r>
              <a:t>| Update custody and stock | The register records the new custodian, location and remaining availability. | Asset custodian |</a:t>
            </a:r>
          </a:p>
          <a:p xmlns:a="http://schemas.openxmlformats.org/drawingml/2006/main">
            <a:r>
              <a:t>| Record upkeep and benefits | Maintenance records hold repair details; purchase and transfer records support any avoided-cost estimate. | Maintenance staff, with finance validating benefit inputs |</a:t>
            </a:r>
          </a:p>
          <a:p xmlns:a="http://schemas.openxmlformats.org/drawingml/2006/main">
            <a:r>
              <a:t/>
            </a:r>
          </a:p>
          <a:p xmlns:a="http://schemas.openxmlformats.org/drawingml/2006/main">
            <a:r>
              <a:t>Under this assumed arrangement, checking several records could leave availability or handover status unclear. These are possible weaknesses to investigate, not observed failure rates at KU. The proposed system would link the request, approval and custody history in one controlled record and offer a search across eligible assets. Ali will document the actual tools, forms, approval roles and a representative exchange during the Section 2 consultations, replacing any assumption that the evidence contradicts.</a:t>
            </a:r>
          </a:p>
          <a:p xmlns:a="http://schemas.openxmlformats.org/drawingml/2006/main">
            <a:r>
              <a:t/>
            </a:r>
          </a:p>
          <a:p xmlns:a="http://schemas.openxmlformats.org/drawingml/2006/main">
            <a:r>
              <a:t>## System functional owner</a:t>
            </a:r>
          </a:p>
          <a:p xmlns:a="http://schemas.openxmlformats.org/drawingml/2006/main">
            <a:r>
              <a:t/>
            </a:r>
          </a:p>
          <a:p xmlns:a="http://schemas.openxmlformats.org/drawingml/2006/main">
            <a:r>
              <a:t>The proposed functional owner is a KU-designated Asset Management Lead responsible for the campus exchange process. This is a proposed business responsibility, not a verified KU job title; the exact office and individual require university confirmation. This owner would approve business requirements, define approval and custody rules, prioritize changes, agree acceptance criteria and sponsor any later pilot. Functional ownership does not automatically authorize every transfer; individual exchanges must still follow the designated approval roles.</a:t>
            </a:r>
          </a:p>
          <a:p xmlns:a="http://schemas.openxmlformats.org/drawingml/2006/main">
            <a:r>
              <a:t/>
            </a:r>
          </a:p>
          <a:p xmlns:a="http://schemas.openxmlformats.org/drawingml/2006/main">
            <a:r>
              <a:t>The functional owner is distinct from the system administrator, who manages software access and backups, and from the student development team. Saeed, Ali and Humaid own the implementation and verification tasks assigned in Sections 1 and 8; they do not own KU assets or institutional policy. In the classroom evaluation, an instructor-approved proxy may clarify business rules, but cannot grant live data access or transfer authority.</a:t>
            </a:r>
          </a:p>
          <a:p xmlns:a="http://schemas.openxmlformats.org/drawingml/2006/main">
            <a:r>
              <a:t/>
            </a:r>
          </a:p>
          <a:p xmlns:a="http://schemas.openxmlformats.org/drawingml/2006/main">
            <a:r>
              <a:t>## Responsibilities and expectations</a:t>
            </a:r>
          </a:p>
          <a:p xmlns:a="http://schemas.openxmlformats.org/drawingml/2006/main">
            <a:r>
              <a:t/>
            </a:r>
          </a:p>
          <a:p xmlns:a="http://schemas.openxmlformats.org/drawingml/2006/main">
            <a:r>
              <a:t>Operational feasibility depends on staff maintaining availability and confirming physical exchanges. A recommendation cannot compensate for an inaccurate condition record or an approver who has not been assigned. The proposed responsibilities below separate the administrative operation of the software from authority over university assets.</a:t>
            </a:r>
          </a:p>
          <a:p xmlns:a="http://schemas.openxmlformats.org/drawingml/2006/main">
            <a:r>
              <a:t/>
            </a:r>
          </a:p>
          <a:p xmlns:a="http://schemas.openxmlformats.org/drawingml/2006/main">
            <a:r>
              <a:t>| Stakeholder | Required operation and information | Proposed acceptance condition |</a:t>
            </a:r>
          </a:p>
          <a:p xmlns:a="http://schemas.openxmlformats.org/drawingml/2006/main">
            <a:r>
              <a:t>| --- | --- | --- |</a:t>
            </a:r>
          </a:p>
          <a:p xmlns:a="http://schemas.openxmlformats.org/drawingml/2006/main">
            <a:r>
              <a:t>| Department requester | Describe specifications, quantity and required date; inspect matches and request status | Submit a complete request and identify its current status without assistance |</a:t>
            </a:r>
          </a:p>
          <a:p xmlns:a="http://schemas.openxmlformats.org/drawingml/2006/main">
            <a:r>
              <a:t>| Asset custodian | Maintain condition, quantity and location; publish availability and confirm release | Cannot reserve more than available stock or release a transfer without approval |</a:t>
            </a:r>
          </a:p>
          <a:p xmlns:a="http://schemas.openxmlformats.org/drawingml/2006/main">
            <a:r>
              <a:t>| Designated approver | Review request purpose and asset ownership; approve or reject with a reason | Every decision records the approver, time, affected request and outcome |</a:t>
            </a:r>
          </a:p>
          <a:p xmlns:a="http://schemas.openxmlformats.org/drawingml/2006/main">
            <a:r>
              <a:t>| Maintenance staff | Record defects, inspections, repairs, cost and resulting condition | An unserviceable asset is removed from working-resource matches |</a:t>
            </a:r>
          </a:p>
          <a:p xmlns:a="http://schemas.openxmlformats.org/drawingml/2006/main">
            <a:r>
              <a:t>| Procurement and finance staff | Review avoided-purchase assumptions and repair or transfer costs | Each financial estimate can be traced to a completed event and its inputs |</a:t>
            </a:r>
          </a:p>
          <a:p xmlns:a="http://schemas.openxmlformats.org/drawingml/2006/main">
            <a:r>
              <a:t>| Sustainability staff | Review reuse counts, asset mass and environmental assumptions | Missing mass or emissions factors produce an unavailable estimate rather than a fabricated value |</a:t>
            </a:r>
          </a:p>
          <a:p xmlns:a="http://schemas.openxmlformats.org/drawingml/2006/main">
            <a:r>
              <a:t>| System administrator | Manage accounts, roles, departments and backup access | Administrative access alone cannot approve a business transfer |</a:t>
            </a:r>
          </a:p>
          <a:p xmlns:a="http://schemas.openxmlformats.org/drawingml/2006/main">
            <a:r>
              <a:t/>
            </a:r>
          </a:p>
          <a:p xmlns:a="http://schemas.openxmlformats.org/drawingml/2006/main">
            <a:r>
              <a:t>The project team will implement and test these operations. The instructor and teaching assistant will assess the deliverables and clarify course expectations. Proposed technical responsibilities appear in Section 8; they do not claim that work has already been completed.</a:t>
            </a:r>
          </a:p>
          <a:p xmlns:a="http://schemas.openxmlformats.org/drawingml/2006/main">
            <a:r>
              <a:t/>
            </a:r>
          </a:p>
          <a:p xmlns:a="http://schemas.openxmlformats.org/drawingml/2006/main">
            <a:r>
              <a:t>## Stakeholder evidence and consultation plan</a:t>
            </a:r>
          </a:p>
          <a:p xmlns:a="http://schemas.openxmlformats.org/drawingml/2006/main">
            <a:r>
              <a:t/>
            </a:r>
          </a:p>
          <a:p xmlns:a="http://schemas.openxmlformats.org/drawingml/2006/main">
            <a:r>
              <a:t>No interviews with KU staff or potential users have been conducted as of 28 September 2026. The workflow and roles above are proposed requirements derived from the project materials, not stakeholder-confirmed findings. External examples in Section 3 establish that reuse platforms exist, but cannot establish KU adoption or identify its actual approval chain.</a:t>
            </a:r>
          </a:p>
          <a:p xmlns:a="http://schemas.openxmlformats.org/drawingml/2006/main">
            <a:r>
              <a:t/>
            </a:r>
          </a:p>
          <a:p xmlns:a="http://schemas.openxmlformats.org/drawingml/2006/main">
            <a:r>
              <a:t>The initial internal target of 27 September 2026 passed without any completed interviews. This is an outstanding research task, not evidence of stakeholder acceptance. Ali will coordinate the first 3 structured consultations, covering a requester, an asset custodian and an approval role, as a priority within the proposed 4 October follow-up study. If direct access is unavailable, the team will request TA approval for clearly identified proxy participants. No proxy arrangement has been confirmed. A proxy response cannot establish KU policy, authorize a transfer or be reported as a KU staff interview.</a:t>
            </a:r>
          </a:p>
          <a:p xmlns:a="http://schemas.openxmlformats.org/drawingml/2006/main">
            <a:r>
              <a:t/>
            </a:r>
          </a:p>
          <a:p xmlns:a="http://schemas.openxmlformats.org/drawingml/2006/main">
            <a:r>
              <a:t>The fuller study retains the proposed sample of 10 consultations: 2 departmental requesters, 2 custodians, 2 maintenance representatives, 2 finance or procurement representatives and 2 approval or sustainability representatives. The initial 3 are included in this total where their roles match. The internal target for completing the sample and updating the requirements is 4 October 2026, ahead of the requirements milestone. These sample sizes are team planning choices, not prescribed interview counts or statistically representative samples.</a:t>
            </a:r>
          </a:p>
          <a:p xmlns:a="http://schemas.openxmlformats.org/drawingml/2006/main">
            <a:r>
              <a:t/>
            </a:r>
          </a:p>
          <a:p xmlns:a="http://schemas.openxmlformats.org/drawingml/2006/main">
            <a:r>
              <a:t>Each consultation will answer six questions: Which tool or register is used now? How is a surplus asset identified and its condition checked? Who approves, releases and receives it? Which recent request illustrates a delay, duplication or unmet need? What evidence supports the replacement, repair and transfer costs? Which proposed step would the participant accept or change? The interview record will contain the date, respondent role, direct or approved-proxy status, a concise answer summary and any permitted supporting document. Unavailable records and unanswered questions will remain explicit.</a:t>
            </a:r>
          </a:p>
          <a:p xmlns:a="http://schemas.openxmlformats.org/drawingml/2006/main">
            <a:r>
              <a:t/>
            </a:r>
          </a:p>
          <a:p xmlns:a="http://schemas.openxmlformats.org/drawingml/2006/main">
            <a:r>
              <a:t>Ali will map each future finding to the affected requirement ID and record whether it confirms, changes or rejects the proposed rule. Completed interviews and planned consultations will be recorded separately, including any unresolved disagreement. Humaid will check the benefit inputs against any cost evidence obtained. This submission contains no interview-derived findings; the operational conclusion remains conditional, and documented follow-up findings will inform the requirements revision.</a:t>
            </a:r>
          </a:p>
          <a:p xmlns:a="http://schemas.openxmlformats.org/drawingml/2006/main">
            <a:r>
              <a:t/>
            </a:r>
          </a:p>
          <a:p xmlns:a="http://schemas.openxmlformats.org/drawingml/2006/main">
            <a:r>
              <a:t>The proposed local-demand threshold requires at least 6 of 10 distinct direct KU respondents to report a relevant recurring need, together with confirmation from authorized representatives of at least 3 departments that each can identify 10 potentially reusable assets. The resulting 30 candidate assets would support a small pilot discussion, not a campus-wide demand estimate. Direct responses and approved-proxy responses must be counted separately. If fewer than 10 direct respondents participate, report the actual denominator and leave this threshold unassessed. Proxy feedback can test the proposed workflow but cannot establish KU demand or departmental commitments.</a:t>
            </a:r>
          </a:p>
          <a:p xmlns:a="http://schemas.openxmlformats.org/drawingml/2006/main">
            <a:r>
              <a:t/>
            </a:r>
          </a:p>
          <a:p xmlns:a="http://schemas.openxmlformats.org/drawingml/2006/main">
            <a:r>
              <a:t>Before a pilot, 5 testers will receive a 15-minute introduction and then independently search for an asset, submit a request and check its status. At least 4 must complete all three tasks without help. Any failure will identify the screen, misunderstood field or missing instruction requiring correction. One custodian and one approver must be assigned for each participating department, and at least 1 test exchange must complete approval, release and receipt before real exchanges are considered.</a:t>
            </a:r>
          </a:p>
          <a:p xmlns:a="http://schemas.openxmlformats.org/drawingml/2006/main">
            <a:r>
              <a:t/>
            </a:r>
          </a:p>
          <a:p xmlns:a="http://schemas.openxmlformats.org/drawingml/2006/main">
            <a:r>
              <a:t>Operational feasibility is not yet demonstrated. The defined workflow provides a basis for interviews and prototype tests, but a consultation plan alone does not establish staff participation, approval ownership or user acceptance. The conditional prototype recommendation can be reassessed once documented findings and observed task results are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SAEED ALKAABI</a:t>
            </a:r>
          </a:p>
          <a:p xmlns:a="http://schemas.openxmlformats.org/drawingml/2006/main">
            <a:r>
              <a:t/>
            </a:r>
          </a:p>
          <a:p xmlns:a="http://schemas.openxmlformats.org/drawingml/2006/main">
            <a:r>
              <a:t>2 Stakeholders and Operational Feasibility</a:t>
            </a:r>
          </a:p>
          <a:p xmlns:a="http://schemas.openxmlformats.org/drawingml/2006/main">
            <a:r>
              <a:t/>
            </a:r>
          </a:p>
          <a:p xmlns:a="http://schemas.openxmlformats.org/drawingml/2006/main">
            <a:r>
              <a:t>## Assumed current process at KU</a:t>
            </a:r>
          </a:p>
          <a:p xmlns:a="http://schemas.openxmlformats.org/drawingml/2006/main">
            <a:r>
              <a:t/>
            </a:r>
          </a:p>
          <a:p xmlns:a="http://schemas.openxmlformats.org/drawingml/2006/main">
            <a:r>
              <a:t>For this feasibility study, the current-process baseline assumes that departments coordinate asset reuse through email or internal request forms, with Excel or shared spreadsheet registers for asset details and separate maintenance records. This is an assumption for validation, not a verified description of KU practice. No specific institutional software, office structure or approval chain is asserted. The following sequence identifies the records and business task owners that the team will confirm during consultation.</a:t>
            </a:r>
          </a:p>
          <a:p xmlns:a="http://schemas.openxmlformats.org/drawingml/2006/main">
            <a:r>
              <a:t/>
            </a:r>
          </a:p>
          <a:p xmlns:a="http://schemas.openxmlformats.org/drawingml/2006/main">
            <a:r>
              <a:t>| Process stage | Assumed tools and records | Assumed business task owner |</a:t>
            </a:r>
          </a:p>
          <a:p xmlns:a="http://schemas.openxmlformats.org/drawingml/2006/main">
            <a:r>
              <a:t>| --- | --- | --- |</a:t>
            </a:r>
          </a:p>
          <a:p xmlns:a="http://schemas.openxmlformats.org/drawingml/2006/main">
            <a:r>
              <a:t>| Request a resource | Email or internal form records the specification, quantity and required date. | Department requester |</a:t>
            </a:r>
          </a:p>
          <a:p xmlns:a="http://schemas.openxmlformats.org/drawingml/2006/main">
            <a:r>
              <a:t>| Check availability | A spreadsheet register and physical check establish condition, location and available quantity. | Asset custodian |</a:t>
            </a:r>
          </a:p>
          <a:p xmlns:a="http://schemas.openxmlformats.org/drawingml/2006/main">
            <a:r>
              <a:t>| Authorize the exchange | An email decision or approval form records the request reference, decision maker and outcome. | Designated approver |</a:t>
            </a:r>
          </a:p>
          <a:p xmlns:a="http://schemas.openxmlformats.org/drawingml/2006/main">
            <a:r>
              <a:t>| Release and receive | A handover form or email confirmation records release and receipt. | Sending custodian and receiving requester |</a:t>
            </a:r>
          </a:p>
          <a:p xmlns:a="http://schemas.openxmlformats.org/drawingml/2006/main">
            <a:r>
              <a:t>| Update custody and stock | The register records the new custodian, location and remaining availability. | Asset custodian |</a:t>
            </a:r>
          </a:p>
          <a:p xmlns:a="http://schemas.openxmlformats.org/drawingml/2006/main">
            <a:r>
              <a:t>| Record upkeep and benefits | Maintenance records hold repair details; purchase and transfer records support any avoided-cost estimate. | Maintenance staff, with finance validating benefit inputs |</a:t>
            </a:r>
          </a:p>
          <a:p xmlns:a="http://schemas.openxmlformats.org/drawingml/2006/main">
            <a:r>
              <a:t/>
            </a:r>
          </a:p>
          <a:p xmlns:a="http://schemas.openxmlformats.org/drawingml/2006/main">
            <a:r>
              <a:t>Under this assumed arrangement, checking several records could leave availability or handover status unclear. These are possible weaknesses to investigate, not observed failure rates at KU. The proposed system would link the request, approval and custody history in one controlled record and offer a search across eligible assets. Ali will document the actual tools, forms, approval roles and a representative exchange during the Section 2 consultations, replacing any assumption that the evidence contradicts.</a:t>
            </a:r>
          </a:p>
          <a:p xmlns:a="http://schemas.openxmlformats.org/drawingml/2006/main">
            <a:r>
              <a:t/>
            </a:r>
          </a:p>
          <a:p xmlns:a="http://schemas.openxmlformats.org/drawingml/2006/main">
            <a:r>
              <a:t>## System functional owner</a:t>
            </a:r>
          </a:p>
          <a:p xmlns:a="http://schemas.openxmlformats.org/drawingml/2006/main">
            <a:r>
              <a:t/>
            </a:r>
          </a:p>
          <a:p xmlns:a="http://schemas.openxmlformats.org/drawingml/2006/main">
            <a:r>
              <a:t>The proposed functional owner is a KU-designated Asset Management Lead responsible for the campus exchange process. This is a proposed business responsibility, not a verified KU job title; the exact office and individual require university confirmation. This owner would approve business requirements, define approval and custody rules, prioritize changes, agree acceptance criteria and sponsor any later pilot. Functional ownership does not automatically authorize every transfer; individual exchanges must still follow the designated approval roles.</a:t>
            </a:r>
          </a:p>
          <a:p xmlns:a="http://schemas.openxmlformats.org/drawingml/2006/main">
            <a:r>
              <a:t/>
            </a:r>
          </a:p>
          <a:p xmlns:a="http://schemas.openxmlformats.org/drawingml/2006/main">
            <a:r>
              <a:t>The functional owner is distinct from the system administrator, who manages software access and backups, and from the student development team. Saeed, Ali and Humaid own the implementation and verification tasks assigned in Sections 1 and 8; they do not own KU assets or institutional policy. In the classroom evaluation, an instructor-approved proxy may clarify business rules, but cannot grant live data access or transfer authority.</a:t>
            </a:r>
          </a:p>
          <a:p xmlns:a="http://schemas.openxmlformats.org/drawingml/2006/main">
            <a:r>
              <a:t/>
            </a:r>
          </a:p>
          <a:p xmlns:a="http://schemas.openxmlformats.org/drawingml/2006/main">
            <a:r>
              <a:t>## Responsibilities and expectations</a:t>
            </a:r>
          </a:p>
          <a:p xmlns:a="http://schemas.openxmlformats.org/drawingml/2006/main">
            <a:r>
              <a:t/>
            </a:r>
          </a:p>
          <a:p xmlns:a="http://schemas.openxmlformats.org/drawingml/2006/main">
            <a:r>
              <a:t>Operational feasibility depends on staff maintaining availability and confirming physical exchanges. A recommendation cannot compensate for an inaccurate condition record or an approver who has not been assigned. The proposed responsibilities below separate the administrative operation of the software from authority over university assets.</a:t>
            </a:r>
          </a:p>
          <a:p xmlns:a="http://schemas.openxmlformats.org/drawingml/2006/main">
            <a:r>
              <a:t/>
            </a:r>
          </a:p>
          <a:p xmlns:a="http://schemas.openxmlformats.org/drawingml/2006/main">
            <a:r>
              <a:t>| Stakeholder | Required operation and information | Proposed acceptance condition |</a:t>
            </a:r>
          </a:p>
          <a:p xmlns:a="http://schemas.openxmlformats.org/drawingml/2006/main">
            <a:r>
              <a:t>| --- | --- | --- |</a:t>
            </a:r>
          </a:p>
          <a:p xmlns:a="http://schemas.openxmlformats.org/drawingml/2006/main">
            <a:r>
              <a:t>| Department requester | Describe specifications, quantity and required date; inspect matches and request status | Submit a complete request and identify its current status without assistance |</a:t>
            </a:r>
          </a:p>
          <a:p xmlns:a="http://schemas.openxmlformats.org/drawingml/2006/main">
            <a:r>
              <a:t>| Asset custodian | Maintain condition, quantity and location; publish availability and confirm release | Cannot reserve more than available stock or release a transfer without approval |</a:t>
            </a:r>
          </a:p>
          <a:p xmlns:a="http://schemas.openxmlformats.org/drawingml/2006/main">
            <a:r>
              <a:t>| Designated approver | Review request purpose and asset ownership; approve or reject with a reason | Every decision records the approver, time, affected request and outcome |</a:t>
            </a:r>
          </a:p>
          <a:p xmlns:a="http://schemas.openxmlformats.org/drawingml/2006/main">
            <a:r>
              <a:t>| Maintenance staff | Record defects, inspections, repairs, cost and resulting condition | An unserviceable asset is removed from working-resource matches |</a:t>
            </a:r>
          </a:p>
          <a:p xmlns:a="http://schemas.openxmlformats.org/drawingml/2006/main">
            <a:r>
              <a:t>| Procurement and finance staff | Review avoided-purchase assumptions and repair or transfer costs | Each financial estimate can be traced to a completed event and its inputs |</a:t>
            </a:r>
          </a:p>
          <a:p xmlns:a="http://schemas.openxmlformats.org/drawingml/2006/main">
            <a:r>
              <a:t>| Sustainability staff | Review reuse counts, asset mass and environmental assumptions | Missing mass or emissions factors produce an unavailable estimate rather than a fabricated value |</a:t>
            </a:r>
          </a:p>
          <a:p xmlns:a="http://schemas.openxmlformats.org/drawingml/2006/main">
            <a:r>
              <a:t>| System administrator | Manage accounts, roles, departments and backup access | Administrative access alone cannot approve a business transfer |</a:t>
            </a:r>
          </a:p>
          <a:p xmlns:a="http://schemas.openxmlformats.org/drawingml/2006/main">
            <a:r>
              <a:t/>
            </a:r>
          </a:p>
          <a:p xmlns:a="http://schemas.openxmlformats.org/drawingml/2006/main">
            <a:r>
              <a:t>The project team will implement and test these operations. The instructor and teaching assistant will assess the deliverables and clarify course expectations. Proposed technical responsibilities appear in Section 8; they do not claim that work has already been completed.</a:t>
            </a:r>
          </a:p>
          <a:p xmlns:a="http://schemas.openxmlformats.org/drawingml/2006/main">
            <a:r>
              <a:t/>
            </a:r>
          </a:p>
          <a:p xmlns:a="http://schemas.openxmlformats.org/drawingml/2006/main">
            <a:r>
              <a:t>## Stakeholder evidence and consultation plan</a:t>
            </a:r>
          </a:p>
          <a:p xmlns:a="http://schemas.openxmlformats.org/drawingml/2006/main">
            <a:r>
              <a:t/>
            </a:r>
          </a:p>
          <a:p xmlns:a="http://schemas.openxmlformats.org/drawingml/2006/main">
            <a:r>
              <a:t>No interviews with KU staff or potential users have been conducted as of 28 September 2026. The workflow and roles above are proposed requirements derived from the project materials, not stakeholder-confirmed findings. External examples in Section 3 establish that reuse platforms exist, but cannot establish KU adoption or identify its actual approval chain.</a:t>
            </a:r>
          </a:p>
          <a:p xmlns:a="http://schemas.openxmlformats.org/drawingml/2006/main">
            <a:r>
              <a:t/>
            </a:r>
          </a:p>
          <a:p xmlns:a="http://schemas.openxmlformats.org/drawingml/2006/main">
            <a:r>
              <a:t>The initial internal target of 27 September 2026 passed without any completed interviews. This is an outstanding research task, not evidence of stakeholder acceptance. Ali will coordinate the first 3 structured consultations, covering a requester, an asset custodian and an approval role, as a priority within the proposed 4 October follow-up study. If direct access is unavailable, the team will request TA approval for clearly identified proxy participants. No proxy arrangement has been confirmed. A proxy response cannot establish KU policy, authorize a transfer or be reported as a KU staff interview.</a:t>
            </a:r>
          </a:p>
          <a:p xmlns:a="http://schemas.openxmlformats.org/drawingml/2006/main">
            <a:r>
              <a:t/>
            </a:r>
          </a:p>
          <a:p xmlns:a="http://schemas.openxmlformats.org/drawingml/2006/main">
            <a:r>
              <a:t>The fuller study retains the proposed sample of 10 consultations: 2 departmental requesters, 2 custodians, 2 maintenance representatives, 2 finance or procurement representatives and 2 approval or sustainability representatives. The initial 3 are included in this total where their roles match. The internal target for completing the sample and updating the requirements is 4 October 2026, ahead of the requirements milestone. These sample sizes are team planning choices, not prescribed interview counts or statistically representative samples.</a:t>
            </a:r>
          </a:p>
          <a:p xmlns:a="http://schemas.openxmlformats.org/drawingml/2006/main">
            <a:r>
              <a:t/>
            </a:r>
          </a:p>
          <a:p xmlns:a="http://schemas.openxmlformats.org/drawingml/2006/main">
            <a:r>
              <a:t>Each consultation will answer six questions: Which tool or register is used now? How is a surplus asset identified and its condition checked? Who approves, releases and receives it? Which recent request illustrates a delay, duplication or unmet need? What evidence supports the replacement, repair and transfer costs? Which proposed step would the participant accept or change? The interview record will contain the date, respondent role, direct or approved-proxy status, a concise answer summary and any permitted supporting document. Unavailable records and unanswered questions will remain explicit.</a:t>
            </a:r>
          </a:p>
          <a:p xmlns:a="http://schemas.openxmlformats.org/drawingml/2006/main">
            <a:r>
              <a:t/>
            </a:r>
          </a:p>
          <a:p xmlns:a="http://schemas.openxmlformats.org/drawingml/2006/main">
            <a:r>
              <a:t>Ali will map each future finding to the affected requirement ID and record whether it confirms, changes or rejects the proposed rule. Completed interviews and planned consultations will be recorded separately, including any unresolved disagreement. Humaid will check the benefit inputs against any cost evidence obtained. This submission contains no interview-derived findings; the operational conclusion remains conditional, and documented follow-up findings will inform the requirements revision.</a:t>
            </a:r>
          </a:p>
          <a:p xmlns:a="http://schemas.openxmlformats.org/drawingml/2006/main">
            <a:r>
              <a:t/>
            </a:r>
          </a:p>
          <a:p xmlns:a="http://schemas.openxmlformats.org/drawingml/2006/main">
            <a:r>
              <a:t>The proposed local-demand threshold requires at least 6 of 10 distinct direct KU respondents to report a relevant recurring need, together with confirmation from authorized representatives of at least 3 departments that each can identify 10 potentially reusable assets. The resulting 30 candidate assets would support a small pilot discussion, not a campus-wide demand estimate. Direct responses and approved-proxy responses must be counted separately. If fewer than 10 direct respondents participate, report the actual denominator and leave this threshold unassessed. Proxy feedback can test the proposed workflow but cannot establish KU demand or departmental commitments.</a:t>
            </a:r>
          </a:p>
          <a:p xmlns:a="http://schemas.openxmlformats.org/drawingml/2006/main">
            <a:r>
              <a:t/>
            </a:r>
          </a:p>
          <a:p xmlns:a="http://schemas.openxmlformats.org/drawingml/2006/main">
            <a:r>
              <a:t>Before a pilot, 5 testers will receive a 15-minute introduction and then independently search for an asset, submit a request and check its status. At least 4 must complete all three tasks without help. Any failure will identify the screen, misunderstood field or missing instruction requiring correction. One custodian and one approver must be assigned for each participating department, and at least 1 test exchange must complete approval, release and receipt before real exchanges are considered.</a:t>
            </a:r>
          </a:p>
          <a:p xmlns:a="http://schemas.openxmlformats.org/drawingml/2006/main">
            <a:r>
              <a:t/>
            </a:r>
          </a:p>
          <a:p xmlns:a="http://schemas.openxmlformats.org/drawingml/2006/main">
            <a:r>
              <a:t>Operational feasibility is not yet demonstrated. The defined workflow provides a basis for interviews and prototype tests, but a consultation plan alone does not establish staff participation, approval ownership or user acceptance. The conditional prototype recommendation can be reassessed once documented findings and observed task results are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SAEED ALKAABI</a:t>
            </a:r>
          </a:p>
          <a:p xmlns:a="http://schemas.openxmlformats.org/drawingml/2006/main">
            <a:r>
              <a:t/>
            </a:r>
          </a:p>
          <a:p xmlns:a="http://schemas.openxmlformats.org/drawingml/2006/main">
            <a:r>
              <a:t>3 Market Analysis</a:t>
            </a:r>
          </a:p>
          <a:p xmlns:a="http://schemas.openxmlformats.org/drawingml/2006/main">
            <a:r>
              <a:t/>
            </a:r>
          </a:p>
          <a:p xmlns:a="http://schemas.openxmlformats.org/drawingml/2006/main">
            <a:r>
              <a:t>## Demand and existing alternatives</a:t>
            </a:r>
          </a:p>
          <a:p xmlns:a="http://schemas.openxmlformats.org/drawingml/2006/main">
            <a:r>
              <a:t/>
            </a:r>
          </a:p>
          <a:p xmlns:a="http://schemas.openxmlformats.org/drawingml/2006/main">
            <a:r>
              <a:t>The relevant market is internal university resource reuse, rather than public sales of second-hand goods. The immediate users are departments holding surplus assets and departments with compatible needs. Local demand requires validation through the consultations in Section 2; the existence of unused equipment or avoidable expenditure at this university has not been quantified.</a:t>
            </a:r>
          </a:p>
          <a:p xmlns:a="http://schemas.openxmlformats.org/drawingml/2006/main">
            <a:r>
              <a:t/>
            </a:r>
          </a:p>
          <a:p xmlns:a="http://schemas.openxmlformats.org/drawingml/2006/main">
            <a:r>
              <a:t>There is evidence that institutional reuse systems serve a real need. UCL's October 2020 account of its Warp-it platform reports total savings of GBP 0.5 million during its first six years of use [1]. This historical example supports the practicality of departmental reuse, but its scale and savings cannot be transferred to this project as a forecast.</a:t>
            </a:r>
          </a:p>
          <a:p xmlns:a="http://schemas.openxmlformats.org/drawingml/2006/main">
            <a:r>
              <a:t/>
            </a:r>
          </a:p>
          <a:p xmlns:a="http://schemas.openxmlformats.org/drawingml/2006/main">
            <a:r>
              <a:t>| Alternative | Established capability or proposed approach | Implication for this project |</a:t>
            </a:r>
          </a:p>
          <a:p xmlns:a="http://schemas.openxmlformats.org/drawingml/2006/main">
            <a:r>
              <a:t>| --- | --- | --- |</a:t>
            </a:r>
          </a:p>
          <a:p xmlns:a="http://schemas.openxmlformats.org/drawingml/2006/main">
            <a:r>
              <a:t>| Spreadsheet and email workflow | A manually maintained register and messages can record assets and requests | Low setup effort, but reservations, role checks and linked approval history would require manual controls |</a:t>
            </a:r>
          </a:p>
          <a:p xmlns:a="http://schemas.openxmlformats.org/drawingml/2006/main">
            <a:r>
              <a:t>| Snipe-IT | Its documented functions include requestable assets, check-in and checkout, permissions, asset history and maintenance records [2] | A credible asset-management alternative; a configured trial would be needed to assess the complete course workflow and AI evaluation requirements |</a:t>
            </a:r>
          </a:p>
          <a:p xmlns:a="http://schemas.openxmlformats.org/drawingml/2006/main">
            <a:r>
              <a:t>| Warp-it | UCL describes staff using Warp-it to donate and claim surplus reusable items within the university [1] | A direct reuse alternative; procurement terms and fit with the university's approval model require assessment |</a:t>
            </a:r>
          </a:p>
          <a:p xmlns:a="http://schemas.openxmlformats.org/drawingml/2006/main">
            <a:r>
              <a:t>| Proposed Circular Campus prototype | An exchange prototype, implemented through adaptation or custom development, with measured comparisons between conventional search and AI assistance | Supports documented requirements, design decisions and testing; the selected route must identify the team's own changes and development effort |</a:t>
            </a:r>
          </a:p>
          <a:p xmlns:a="http://schemas.openxmlformats.org/drawingml/2006/main">
            <a:r>
              <a:t/>
            </a:r>
          </a:p>
          <a:p xmlns:a="http://schemas.openxmlformats.org/drawingml/2006/main">
            <a:r>
              <a:t>The comparison does not claim that competitors lack a feature simply because it is absent from a public description. The market evidence establishes that asset management and institutional reuse systems already exist; it does not measure KU demand or prove that a new system is preferable. Platform selection will consider approval and custody fit, permission control, AI evaluation, licensing, integration effort and ongoing maintenance. A configured trial must resolve those questions before the team commits to an implementation route.</a:t>
            </a:r>
          </a:p>
          <a:p xmlns:a="http://schemas.openxmlformats.org/drawingml/2006/main">
            <a:r>
              <a:t/>
            </a:r>
          </a:p>
          <a:p xmlns:a="http://schemas.openxmlformats.org/drawingml/2006/main">
            <a:r>
              <a:t>## Adapting an existing system</a:t>
            </a:r>
          </a:p>
          <a:p xmlns:a="http://schemas.openxmlformats.org/drawingml/2006/main">
            <a:r>
              <a:t/>
            </a:r>
          </a:p>
          <a:p xmlns:a="http://schemas.openxmlformats.org/drawingml/2006/main">
            <a:r>
              <a:t>Snipe-IT is the named candidate for an adaptation trial. Alongside the asset requests and history described above, its product documentation lists custom fields and a JSON REST API [2]. These documented capabilities provide a possible starting point for extension; they do not prove that the complete course workflow or AI requirements are already satisfied.</a:t>
            </a:r>
          </a:p>
          <a:p xmlns:a="http://schemas.openxmlformats.org/drawingml/2006/main">
            <a:r>
              <a:t/>
            </a:r>
          </a:p>
          <a:p xmlns:a="http://schemas.openxmlformats.org/drawingml/2006/main">
            <a:r>
              <a:t>The proposed improvement would retain suitable asset records and existing controls, then configure or extend the system where the trial identifies a gap in departmental approval, custody confirmation, eligibility-aware matching or impact reporting. All five AI functions and the comparison with conventional functionality remain required. A requirements map will classify each FR-01 to FR-06 and AI-01 to AI-05 item as reusable, configurable, requiring extension or unmet. Existing features will not be presented as work developed by the team.</a:t>
            </a:r>
          </a:p>
          <a:p xmlns:a="http://schemas.openxmlformats.org/drawingml/2006/main">
            <a:r>
              <a:t/>
            </a:r>
          </a:p>
          <a:p xmlns:a="http://schemas.openxmlformats.org/drawingml/2006/main">
            <a:r>
              <a:t>By the internal planning target of 4 October 2026, Saeed will coordinate the platform decision with Ali assessing workflow and permissions and Humaid assessing AI access and reporting. The decision record must include the requirements map, licence obligations, setup and integration constraints, and estimated remaining development and maintenance effort. Adaptation will be selected only if the required controls can be demonstrated, all required functions have a feasible implementation path and its estimated total effort is lower than the custom alternative. Otherwise the team will retain the custom reference design or revise the plan with the instructor. This comparison and the 12-hour technical proof are included in the first 40-hour work period, not added to the 216-hour capacity. No adaptation saving is assumed before that assessment.</a:t>
            </a:r>
          </a:p>
          <a:p xmlns:a="http://schemas.openxmlformats.org/drawingml/2006/main">
            <a:r>
              <a:t/>
            </a:r>
          </a:p>
          <a:p xmlns:a="http://schemas.openxmlformats.org/drawingml/2006/main">
            <a:r>
              <a:t>## Market feasibility conclusion</a:t>
            </a:r>
          </a:p>
          <a:p xmlns:a="http://schemas.openxmlformats.org/drawingml/2006/main">
            <a:r>
              <a:t/>
            </a:r>
          </a:p>
          <a:p xmlns:a="http://schemas.openxmlformats.org/drawingml/2006/main">
            <a:r>
              <a:t>The category is established, but local adoption and purchasing intent are unproven. The recommended next step is a bounded educational prototype and demand validation, not a claim that a commercial launch or university purchase is justified. The prototype should demonstrate permission-aware matching and traceable decisions rather than rely on an unsupported claim of uniqueness.</a:t>
            </a:r>
          </a:p>
          <a:p xmlns:a="http://schemas.openxmlformats.org/drawingml/2006/main">
            <a:r>
              <a:t/>
            </a:r>
          </a:p>
          <a:p xmlns:a="http://schemas.openxmlformats.org/drawingml/2006/main">
            <a:r>
              <a:t>References</a:t>
            </a:r>
          </a:p>
          <a:p xmlns:a="http://schemas.openxmlformats.org/drawingml/2006/main">
            <a:r>
              <a:t/>
            </a:r>
          </a:p>
          <a:p xmlns:a="http://schemas.openxmlformats.org/drawingml/2006/main">
            <a:r>
              <a:t>[1] University College London, “Warp-it reuse platform,” Oct. 7, 2020. Accessed: Sep. 28, 2026. [Online]. Available: https://www.ucl.ac.uk/sustainable-development-goals/case-studies/2020/oct/warp-it-reuse-platform</a:t>
            </a:r>
          </a:p>
          <a:p xmlns:a="http://schemas.openxmlformats.org/drawingml/2006/main">
            <a:r>
              <a:t/>
            </a:r>
          </a:p>
          <a:p xmlns:a="http://schemas.openxmlformats.org/drawingml/2006/main">
            <a:r>
              <a:t>[2] Snipe-IT, “Features and overview.” Accessed: Sep. 28, 2026. [Online]. Available: https://snipeitapp.com/product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ALI ALAWADHI</a:t>
            </a:r>
          </a:p>
          <a:p xmlns:a="http://schemas.openxmlformats.org/drawingml/2006/main">
            <a:r>
              <a:t/>
            </a:r>
          </a:p>
          <a:p xmlns:a="http://schemas.openxmlformats.org/drawingml/2006/main">
            <a:r>
              <a:t>4 Technical and Data Feasibility</a:t>
            </a:r>
          </a:p>
          <a:p xmlns:a="http://schemas.openxmlformats.org/drawingml/2006/main">
            <a:r>
              <a:t/>
            </a:r>
          </a:p>
          <a:p xmlns:a="http://schemas.openxmlformats.org/drawingml/2006/main">
            <a:r>
              <a:t>## Proposed implementation approach</a:t>
            </a:r>
          </a:p>
          <a:p xmlns:a="http://schemas.openxmlformats.org/drawingml/2006/main">
            <a:r>
              <a:t/>
            </a:r>
          </a:p>
          <a:p xmlns:a="http://schemas.openxmlformats.org/drawingml/2006/main">
            <a:r>
              <a:t>For the custom-development alternative, the reference stack is Python with Django, server-rendered HTML and CSS, PostgreSQL, and a locally executed sentence-embedding model. The team would implement accounts, forms and administration in Django and test department-level permissions and business approvals. PostgreSQL would store assets, requests, reservations, decisions, transfers, maintenance events and audit records. If adaptation is selected, the team will use the existing platform's supported configuration and interfaces; the Django and PostgreSQL design is not assumed to describe that platform. The technical proof will confirm the selected route, skills and operating environment.</a:t>
            </a:r>
          </a:p>
          <a:p xmlns:a="http://schemas.openxmlformats.org/drawingml/2006/main">
            <a:r>
              <a:t/>
            </a:r>
          </a:p>
          <a:p xmlns:a="http://schemas.openxmlformats.org/drawingml/2006/main">
            <a:r>
              <a:t>The custom alternative uses a single web application rather than separately deployed front-end and back-end services to limit interfaces and deployment components. Either implementation route must protect a transfer so custody, location and history change consistently. Reservation checks must also prevent two users from allocating the same remaining quantity. An adapted implementation must demonstrate those controls through its supported interfaces and tests rather than bypass them.</a:t>
            </a:r>
          </a:p>
          <a:p xmlns:a="http://schemas.openxmlformats.org/drawingml/2006/main">
            <a:r>
              <a:t/>
            </a:r>
          </a:p>
          <a:p xmlns:a="http://schemas.openxmlformats.org/drawingml/2006/main">
            <a:r>
              <a:t>| Component | Proposed resource or method | Feasibility check |</a:t>
            </a:r>
          </a:p>
          <a:p xmlns:a="http://schemas.openxmlformats.org/drawingml/2006/main">
            <a:r>
              <a:t>| --- | --- | --- |</a:t>
            </a:r>
          </a:p>
          <a:p xmlns:a="http://schemas.openxmlformats.org/drawingml/2006/main">
            <a:r>
              <a:t>| Development and demonstration | Existing computers; target 4 CPU cores, 8 GB RAM and 10 GB free storage; one machine hosts the local demonstration | Record actual specifications and run the representative workload; these values are planning targets, not measured minimum requirements |</a:t>
            </a:r>
          </a:p>
          <a:p xmlns:a="http://schemas.openxmlformats.org/drawingml/2006/main">
            <a:r>
              <a:t>| Application and database | Django and PostgreSQL for the custom route, or the selected platform configuration; local test accounts and department-scoped records | Two users cannot reserve the same final item; interrupted receipt leaves a consistent database |</a:t>
            </a:r>
          </a:p>
          <a:p xmlns:a="http://schemas.openxmlformats.org/drawingml/2006/main">
            <a:r>
              <a:t>| Semantic matching | Sentence Transformers all-MiniLM-L6-v2 with precomputed asset embeddings [3] | Filter mandatory specifications first; evaluate ranking on a fixed labelled request set |</a:t>
            </a:r>
          </a:p>
          <a:p xmlns:a="http://schemas.openxmlformats.org/drawingml/2006/main">
            <a:r>
              <a:t>| Classification and metadata | Compare asset text with defined category descriptions; present suggested labels for review | Custodian can accept, correct or reject each suggestion; required fields are never silently invented |</a:t>
            </a:r>
          </a:p>
          <a:p xmlns:a="http://schemas.openxmlformats.org/drawingml/2006/main">
            <a:r>
              <a:t>| Assistant and generated reports | One text-generation service behind a replaceable interface, using approved synthetic or non-sensitive inputs | Verify service terms, response validity and the AED 150 experimental allowance before selecting a provider |</a:t>
            </a:r>
          </a:p>
          <a:p xmlns:a="http://schemas.openxmlformats.org/drawingml/2006/main">
            <a:r>
              <a:t>| Operational reporting | Database queries calculate counts and totals; generated text explains those supplied results | Reconcile every reported number with a query result or recorded calculation |</a:t>
            </a:r>
          </a:p>
          <a:p xmlns:a="http://schemas.openxmlformats.org/drawingml/2006/main">
            <a:r>
              <a:t>| Files and backup | File-type and size checks, restricted storage, daily backup during active work and one restore test | Reject unsupported files and restore both records and their linked files |</a:t>
            </a:r>
          </a:p>
          <a:p xmlns:a="http://schemas.openxmlformats.org/drawingml/2006/main">
            <a:r>
              <a:t/>
            </a:r>
          </a:p>
          <a:p xmlns:a="http://schemas.openxmlformats.org/drawingml/2006/main">
            <a:r>
              <a:t>The proposed matching method will compare request embeddings with precomputed asset-description embeddings using cosine similarity. Its suitability for campus assets must be evaluated against the same labelled cases as conventional search. The selected model and eligibility rules remain subject to this evaluation.</a:t>
            </a:r>
          </a:p>
          <a:p xmlns:a="http://schemas.openxmlformats.org/drawingml/2006/main">
            <a:r>
              <a:t/>
            </a:r>
          </a:p>
          <a:p xmlns:a="http://schemas.openxmlformats.org/drawingml/2006/main">
            <a:r>
              <a:t>No dedicated GPU purchase is budgeted. If local inference cannot meet the required workload, the team will benchmark a smaller or optimized model before considering paid compute. A text-generation service remains a dependency: a canned report is a fallback for continuity, not evidence that the generative-AI requirement has been implemented.</a:t>
            </a:r>
          </a:p>
          <a:p xmlns:a="http://schemas.openxmlformats.org/drawingml/2006/main">
            <a:r>
              <a:t/>
            </a:r>
          </a:p>
          <a:p xmlns:a="http://schemas.openxmlformats.org/drawingml/2006/main">
            <a:r>
              <a:t>## Capacity and skills</a:t>
            </a:r>
          </a:p>
          <a:p xmlns:a="http://schemas.openxmlformats.org/drawingml/2006/main">
            <a:r>
              <a:t/>
            </a:r>
          </a:p>
          <a:p xmlns:a="http://schemas.openxmlformats.org/drawingml/2006/main">
            <a:r>
              <a:t>The proposed model produces 384 values per asset, and its documentation states that inputs longer than 256 word pieces are truncated by default [3]. Word pieces are model tokens, not necessarily complete words. Storing 500 embeddings as 32-bit values requires 500 × 384 × 4 = 768,000 bytes, approximately 0.73 MiB, before indexing and application overhead. This is the team's storage calculation, not a measured total memory requirement. Essential specifications will be stored in structured fields and checked separately so they cannot be lost through text truncation.</a:t>
            </a:r>
          </a:p>
          <a:p xmlns:a="http://schemas.openxmlformats.org/drawingml/2006/main">
            <a:r>
              <a:t/>
            </a:r>
          </a:p>
          <a:p xmlns:a="http://schemas.openxmlformats.org/drawingml/2006/main">
            <a:r>
              <a:t>For planning, one photograph capped at 1 MB and one document capped at 2 MB per asset could consume up to 1.5 GB for 500 assets, before backups, history and software. The 10 GB storage allowance must be checked against the installed environment and retained backup copies. Larger uploads require a revised storage estimate.</a:t>
            </a:r>
          </a:p>
          <a:p xmlns:a="http://schemas.openxmlformats.org/drawingml/2006/main">
            <a:r>
              <a:t/>
            </a:r>
          </a:p>
          <a:p xmlns:a="http://schemas.openxmlformats.org/drawingml/2006/main">
            <a:r>
              <a:t>Required skills for the custom route are Python web development, HTML forms, relational data modelling, Git collaboration, authorization testing and embedding-based retrieval. Adaptation additionally requires knowledge of the candidate platform's configuration, interfaces and extension mechanisms. Current proficiency is not assumed. The technical proof has a 12-team-hour limit within the first 40-hour work period and an internal target of 4 October 2026. On the candidate route it must demonstrate login, a valid listing, a departmental request, protected approval, release and receipt, plus ranked search over 20 sample assets. Failure to complete the proof within 12 hours will trigger a revised estimate before committing to the platform.</a:t>
            </a:r>
          </a:p>
          <a:p xmlns:a="http://schemas.openxmlformats.org/drawingml/2006/main">
            <a:r>
              <a:t/>
            </a:r>
          </a:p>
          <a:p xmlns:a="http://schemas.openxmlformats.org/drawingml/2006/main">
            <a:r>
              <a:t>The team may use Codex for coding assistance, as permitted by the TA. Each member must be able to explain the purpose, inputs, outputs, permission checks and error handling of code they contribute, and demonstrate its tests. Generated code will be reviewed in small changes before it is committed. AI assistance does not establish technical proficiency or replace the early proof and recorded test results.</a:t>
            </a:r>
          </a:p>
          <a:p xmlns:a="http://schemas.openxmlformats.org/drawingml/2006/main">
            <a:r>
              <a:t/>
            </a:r>
          </a:p>
          <a:p xmlns:a="http://schemas.openxmlformats.org/drawingml/2006/main">
            <a:r>
              <a:t>## Data quality and AI evaluation</a:t>
            </a:r>
          </a:p>
          <a:p xmlns:a="http://schemas.openxmlformats.org/drawingml/2006/main">
            <a:r>
              <a:t/>
            </a:r>
          </a:p>
          <a:p xmlns:a="http://schemas.openxmlformats.org/drawingml/2006/main">
            <a:r>
              <a:t>The 500 sample assets will include five categories: furniture, computers and monitors, laboratory equipment, books, and general supplies. Test records will use fictional people, departments and locations. All 500 must pass checks for unique identifiers, valid status, positive quantities and required publication fields. Units and categorical values will be normalized so, for example, an HDMI requirement cannot be satisfied solely by similar wording.</a:t>
            </a:r>
          </a:p>
          <a:p xmlns:a="http://schemas.openxmlformats.org/drawingml/2006/main">
            <a:r>
              <a:t/>
            </a:r>
          </a:p>
          <a:p xmlns:a="http://schemas.openxmlformats.org/drawingml/2006/main">
            <a:r>
              <a:t>The ranking benchmark will contain 20 feasible requests with acceptable assets labelled before evaluation. These requests will not be used to tune ranking weights. Conventional keyword or filter search and semantic ranking will use the same records and labels. The target is at least 16 requests with an acceptable item among the first 3 results. A score of 16/20 is an 80% success rate on that test set, not evidence of 80% general AI accuracy.</a:t>
            </a:r>
          </a:p>
          <a:p xmlns:a="http://schemas.openxmlformats.org/drawingml/2006/main">
            <a:r>
              <a:t/>
            </a:r>
          </a:p>
          <a:p xmlns:a="http://schemas.openxmlformats.org/drawingml/2006/main">
            <a:r>
              <a:t>An additional 10 negative cases will include unavailable assets, insufficient quantity, incompatible specifications and unacceptable condition. None may pass the eligibility filter. Asset descriptions and uploaded text will be treated as data, not instructions capable of changing permissions or issuing approvals. The assistant will display a proposed request for user confirmation and will not authorize transfers or confirm physical receipt.</a:t>
            </a:r>
          </a:p>
          <a:p xmlns:a="http://schemas.openxmlformats.org/drawingml/2006/main">
            <a:r>
              <a:t/>
            </a:r>
          </a:p>
          <a:p xmlns:a="http://schemas.openxmlformats.org/drawingml/2006/main">
            <a:r>
              <a:t>OWASP identifies prompt injection as a risk when applications mix untrusted text with model instructions, and recommends separation, least privilege and human oversight [4]. For this prototype, model output will not directly execute database updates. The application will independently validate the requested operation and the user's permission before any confirmed change. Five additional security tests will place instruction-like text in asset descriptions or assistant inputs and check that it cannot bypass approval, expose another department's protected records or alter custody. These tests supplement, rather than prove the completeness of, the security controls.</a:t>
            </a:r>
          </a:p>
          <a:p xmlns:a="http://schemas.openxmlformats.org/drawingml/2006/main">
            <a:r>
              <a:t/>
            </a:r>
          </a:p>
          <a:p xmlns:a="http://schemas.openxmlformats.org/drawingml/2006/main">
            <a:r>
              <a:t>Structured-search performance will be measured over 1,000 requests at 10 concurrent users after a documented warm-up, with at least 950 completing within 2 seconds. Usability, workflow and impact-calculation tests will retain the Phase 1 sample sizes. Numerical summaries will come from calculations outside the language model. Technical feasibility remains conditional until these tests and the early technical exercise produce evidence.</a:t>
            </a:r>
          </a:p>
          <a:p xmlns:a="http://schemas.openxmlformats.org/drawingml/2006/main">
            <a:r>
              <a:t/>
            </a:r>
          </a:p>
          <a:p xmlns:a="http://schemas.openxmlformats.org/drawingml/2006/main">
            <a:r>
              <a:t>References</a:t>
            </a:r>
          </a:p>
          <a:p xmlns:a="http://schemas.openxmlformats.org/drawingml/2006/main">
            <a:r>
              <a:t/>
            </a:r>
          </a:p>
          <a:p xmlns:a="http://schemas.openxmlformats.org/drawingml/2006/main">
            <a:r>
              <a:t>[2] Snipe-IT, “Features and overview.” Accessed: Sep. 28, 2026. [Online]. Available: https://snipeitapp.com/product</a:t>
            </a:r>
          </a:p>
          <a:p xmlns:a="http://schemas.openxmlformats.org/drawingml/2006/main">
            <a:r>
              <a:t/>
            </a:r>
          </a:p>
          <a:p xmlns:a="http://schemas.openxmlformats.org/drawingml/2006/main">
            <a:r>
              <a:t>[3] Sentence Transformers, “all-MiniLM-L6-v2,” Hugging Face, model card. Accessed: Sep. 28, 2026. [Online]. Available: https://huggingface.co/sentence-transformers/all-MiniLM-L6-v2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ALI ALAWADHI</a:t>
            </a:r>
          </a:p>
          <a:p xmlns:a="http://schemas.openxmlformats.org/drawingml/2006/main">
            <a:r>
              <a:t/>
            </a:r>
          </a:p>
          <a:p xmlns:a="http://schemas.openxmlformats.org/drawingml/2006/main">
            <a:r>
              <a:t>4 Technical and Data Feasibility</a:t>
            </a:r>
          </a:p>
          <a:p xmlns:a="http://schemas.openxmlformats.org/drawingml/2006/main">
            <a:r>
              <a:t/>
            </a:r>
          </a:p>
          <a:p xmlns:a="http://schemas.openxmlformats.org/drawingml/2006/main">
            <a:r>
              <a:t>## Proposed implementation approach</a:t>
            </a:r>
          </a:p>
          <a:p xmlns:a="http://schemas.openxmlformats.org/drawingml/2006/main">
            <a:r>
              <a:t/>
            </a:r>
          </a:p>
          <a:p xmlns:a="http://schemas.openxmlformats.org/drawingml/2006/main">
            <a:r>
              <a:t>For the custom-development alternative, the reference stack is Python with Django, server-rendered HTML and CSS, PostgreSQL, and a locally executed sentence-embedding model. The team would implement accounts, forms and administration in Django and test department-level permissions and business approvals. PostgreSQL would store assets, requests, reservations, decisions, transfers, maintenance events and audit records. If adaptation is selected, the team will use the existing platform's supported configuration and interfaces; the Django and PostgreSQL design is not assumed to describe that platform. The technical proof will confirm the selected route, skills and operating environment.</a:t>
            </a:r>
          </a:p>
          <a:p xmlns:a="http://schemas.openxmlformats.org/drawingml/2006/main">
            <a:r>
              <a:t/>
            </a:r>
          </a:p>
          <a:p xmlns:a="http://schemas.openxmlformats.org/drawingml/2006/main">
            <a:r>
              <a:t>The custom alternative uses a single web application rather than separately deployed front-end and back-end services to limit interfaces and deployment components. Either implementation route must protect a transfer so custody, location and history change consistently. Reservation checks must also prevent two users from allocating the same remaining quantity. An adapted implementation must demonstrate those controls through its supported interfaces and tests rather than bypass them.</a:t>
            </a:r>
          </a:p>
          <a:p xmlns:a="http://schemas.openxmlformats.org/drawingml/2006/main">
            <a:r>
              <a:t/>
            </a:r>
          </a:p>
          <a:p xmlns:a="http://schemas.openxmlformats.org/drawingml/2006/main">
            <a:r>
              <a:t>| Component | Proposed resource or method | Feasibility check |</a:t>
            </a:r>
          </a:p>
          <a:p xmlns:a="http://schemas.openxmlformats.org/drawingml/2006/main">
            <a:r>
              <a:t>| --- | --- | --- |</a:t>
            </a:r>
          </a:p>
          <a:p xmlns:a="http://schemas.openxmlformats.org/drawingml/2006/main">
            <a:r>
              <a:t>| Development and demonstration | Existing computers; target 4 CPU cores, 8 GB RAM and 10 GB free storage; one machine hosts the local demonstration | Record actual specifications and run the representative workload; these values are planning targets, not measured minimum requirements |</a:t>
            </a:r>
          </a:p>
          <a:p xmlns:a="http://schemas.openxmlformats.org/drawingml/2006/main">
            <a:r>
              <a:t>| Application and database | Django and PostgreSQL for the custom route, or the selected platform configuration; local test accounts and department-scoped records | Two users cannot reserve the same final item; interrupted receipt leaves a consistent database |</a:t>
            </a:r>
          </a:p>
          <a:p xmlns:a="http://schemas.openxmlformats.org/drawingml/2006/main">
            <a:r>
              <a:t>| Semantic matching | Sentence Transformers all-MiniLM-L6-v2 with precomputed asset embeddings [3] | Filter mandatory specifications first; evaluate ranking on a fixed labelled request set |</a:t>
            </a:r>
          </a:p>
          <a:p xmlns:a="http://schemas.openxmlformats.org/drawingml/2006/main">
            <a:r>
              <a:t>| Classification and metadata | Compare asset text with defined category descriptions; present suggested labels for review | Custodian can accept, correct or reject each suggestion; required fields are never silently invented |</a:t>
            </a:r>
          </a:p>
          <a:p xmlns:a="http://schemas.openxmlformats.org/drawingml/2006/main">
            <a:r>
              <a:t>| Assistant and generated reports | One text-generation service behind a replaceable interface, using approved synthetic or non-sensitive inputs | Verify service terms, response validity and the AED 150 experimental allowance before selecting a provider |</a:t>
            </a:r>
          </a:p>
          <a:p xmlns:a="http://schemas.openxmlformats.org/drawingml/2006/main">
            <a:r>
              <a:t>| Operational reporting | Database queries calculate counts and totals; generated text explains those supplied results | Reconcile every reported number with a query result or recorded calculation |</a:t>
            </a:r>
          </a:p>
          <a:p xmlns:a="http://schemas.openxmlformats.org/drawingml/2006/main">
            <a:r>
              <a:t>| Files and backup | File-type and size checks, restricted storage, daily backup during active work and one restore test | Reject unsupported files and restore both records and their linked files |</a:t>
            </a:r>
          </a:p>
          <a:p xmlns:a="http://schemas.openxmlformats.org/drawingml/2006/main">
            <a:r>
              <a:t/>
            </a:r>
          </a:p>
          <a:p xmlns:a="http://schemas.openxmlformats.org/drawingml/2006/main">
            <a:r>
              <a:t>The proposed matching method will compare request embeddings with precomputed asset-description embeddings using cosine similarity. Its suitability for campus assets must be evaluated against the same labelled cases as conventional search. The selected model and eligibility rules remain subject to this evaluation.</a:t>
            </a:r>
          </a:p>
          <a:p xmlns:a="http://schemas.openxmlformats.org/drawingml/2006/main">
            <a:r>
              <a:t/>
            </a:r>
          </a:p>
          <a:p xmlns:a="http://schemas.openxmlformats.org/drawingml/2006/main">
            <a:r>
              <a:t>No dedicated GPU purchase is budgeted. If local inference cannot meet the required workload, the team will benchmark a smaller or optimized model before considering paid compute. A text-generation service remains a dependency: a canned report is a fallback for continuity, not evidence that the generative-AI requirement has been implemented.</a:t>
            </a:r>
          </a:p>
          <a:p xmlns:a="http://schemas.openxmlformats.org/drawingml/2006/main">
            <a:r>
              <a:t/>
            </a:r>
          </a:p>
          <a:p xmlns:a="http://schemas.openxmlformats.org/drawingml/2006/main">
            <a:r>
              <a:t>## Capacity and skills</a:t>
            </a:r>
          </a:p>
          <a:p xmlns:a="http://schemas.openxmlformats.org/drawingml/2006/main">
            <a:r>
              <a:t/>
            </a:r>
          </a:p>
          <a:p xmlns:a="http://schemas.openxmlformats.org/drawingml/2006/main">
            <a:r>
              <a:t>The proposed model produces 384 values per asset, and its documentation states that inputs longer than 256 word pieces are truncated by default [3]. Word pieces are model tokens, not necessarily complete words. Storing 500 embeddings as 32-bit values requires 500 × 384 × 4 = 768,000 bytes, approximately 0.73 MiB, before indexing and application overhead. This is the team's storage calculation, not a measured total memory requirement. Essential specifications will be stored in structured fields and checked separately so they cannot be lost through text truncation.</a:t>
            </a:r>
          </a:p>
          <a:p xmlns:a="http://schemas.openxmlformats.org/drawingml/2006/main">
            <a:r>
              <a:t/>
            </a:r>
          </a:p>
          <a:p xmlns:a="http://schemas.openxmlformats.org/drawingml/2006/main">
            <a:r>
              <a:t>For planning, one photograph capped at 1 MB and one document capped at 2 MB per asset could consume up to 1.5 GB for 500 assets, before backups, history and software. The 10 GB storage allowance must be checked against the installed environment and retained backup copies. Larger uploads require a revised storage estimate.</a:t>
            </a:r>
          </a:p>
          <a:p xmlns:a="http://schemas.openxmlformats.org/drawingml/2006/main">
            <a:r>
              <a:t/>
            </a:r>
          </a:p>
          <a:p xmlns:a="http://schemas.openxmlformats.org/drawingml/2006/main">
            <a:r>
              <a:t>Required skills for the custom route are Python web development, HTML forms, relational data modelling, Git collaboration, authorization testing and embedding-based retrieval. Adaptation additionally requires knowledge of the candidate platform's configuration, interfaces and extension mechanisms. Current proficiency is not assumed. The technical proof has a 12-team-hour limit within the first 40-hour work period and an internal target of 4 October 2026. On the candidate route it must demonstrate login, a valid listing, a departmental request, protected approval, release and receipt, plus ranked search over 20 sample assets. Failure to complete the proof within 12 hours will trigger a revised estimate before committing to the platform.</a:t>
            </a:r>
          </a:p>
          <a:p xmlns:a="http://schemas.openxmlformats.org/drawingml/2006/main">
            <a:r>
              <a:t/>
            </a:r>
          </a:p>
          <a:p xmlns:a="http://schemas.openxmlformats.org/drawingml/2006/main">
            <a:r>
              <a:t>The team may use Codex for coding assistance, as permitted by the TA. Each member must be able to explain the purpose, inputs, outputs, permission checks and error handling of code they contribute, and demonstrate its tests. Generated code will be reviewed in small changes before it is committed. AI assistance does not establish technical proficiency or replace the early proof and recorded test results.</a:t>
            </a:r>
          </a:p>
          <a:p xmlns:a="http://schemas.openxmlformats.org/drawingml/2006/main">
            <a:r>
              <a:t/>
            </a:r>
          </a:p>
          <a:p xmlns:a="http://schemas.openxmlformats.org/drawingml/2006/main">
            <a:r>
              <a:t>## Data quality and AI evaluation</a:t>
            </a:r>
          </a:p>
          <a:p xmlns:a="http://schemas.openxmlformats.org/drawingml/2006/main">
            <a:r>
              <a:t/>
            </a:r>
          </a:p>
          <a:p xmlns:a="http://schemas.openxmlformats.org/drawingml/2006/main">
            <a:r>
              <a:t>The 500 sample assets will include five categories: furniture, computers and monitors, laboratory equipment, books, and general supplies. Test records will use fictional people, departments and locations. All 500 must pass checks for unique identifiers, valid status, positive quantities and required publication fields. Units and categorical values will be normalized so, for example, an HDMI requirement cannot be satisfied solely by similar wording.</a:t>
            </a:r>
          </a:p>
          <a:p xmlns:a="http://schemas.openxmlformats.org/drawingml/2006/main">
            <a:r>
              <a:t/>
            </a:r>
          </a:p>
          <a:p xmlns:a="http://schemas.openxmlformats.org/drawingml/2006/main">
            <a:r>
              <a:t>The ranking benchmark will contain 20 feasible requests with acceptable assets labelled before evaluation. These requests will not be used to tune ranking weights. Conventional keyword or filter search and semantic ranking will use the same records and labels. The target is at least 16 requests with an acceptable item among the first 3 results. A score of 16/20 is an 80% success rate on that test set, not evidence of 80% general AI accuracy.</a:t>
            </a:r>
          </a:p>
          <a:p xmlns:a="http://schemas.openxmlformats.org/drawingml/2006/main">
            <a:r>
              <a:t/>
            </a:r>
          </a:p>
          <a:p xmlns:a="http://schemas.openxmlformats.org/drawingml/2006/main">
            <a:r>
              <a:t>An additional 10 negative cases will include unavailable assets, insufficient quantity, incompatible specifications and unacceptable condition. None may pass the eligibility filter. Asset descriptions and uploaded text will be treated as data, not instructions capable of changing permissions or issuing approvals. The assistant will display a proposed request for user confirmation and will not authorize transfers or confirm physical receipt.</a:t>
            </a:r>
          </a:p>
          <a:p xmlns:a="http://schemas.openxmlformats.org/drawingml/2006/main">
            <a:r>
              <a:t/>
            </a:r>
          </a:p>
          <a:p xmlns:a="http://schemas.openxmlformats.org/drawingml/2006/main">
            <a:r>
              <a:t>OWASP identifies prompt injection as a risk when applications mix untrusted text with model instructions, and recommends separation, least privilege and human oversight [4]. For this prototype, model output will not directly execute database updates. The application will independently validate the requested operation and the user's permission before any confirmed change. Five additional security tests will place instruction-like text in asset descriptions or assistant inputs and check that it cannot bypass approval, expose another department's protected records or alter custody. These tests supplement, rather than prove the completeness of, the security controls.</a:t>
            </a:r>
          </a:p>
          <a:p xmlns:a="http://schemas.openxmlformats.org/drawingml/2006/main">
            <a:r>
              <a:t/>
            </a:r>
          </a:p>
          <a:p xmlns:a="http://schemas.openxmlformats.org/drawingml/2006/main">
            <a:r>
              <a:t>Structured-search performance will be measured over 1,000 requests at 10 concurrent users after a documented warm-up, with at least 950 completing within 2 seconds. Usability, workflow and impact-calculation tests will retain the Phase 1 sample sizes. Numerical summaries will come from calculations outside the language model. Technical feasibility remains conditional until these tests and the early technical exercise produce evidence.</a:t>
            </a:r>
          </a:p>
          <a:p xmlns:a="http://schemas.openxmlformats.org/drawingml/2006/main">
            <a:r>
              <a:t/>
            </a:r>
          </a:p>
          <a:p xmlns:a="http://schemas.openxmlformats.org/drawingml/2006/main">
            <a:r>
              <a:t>References</a:t>
            </a:r>
          </a:p>
          <a:p xmlns:a="http://schemas.openxmlformats.org/drawingml/2006/main">
            <a:r>
              <a:t/>
            </a:r>
          </a:p>
          <a:p xmlns:a="http://schemas.openxmlformats.org/drawingml/2006/main">
            <a:r>
              <a:t>[3] Sentence Transformers, “all-MiniLM-L6-v2,” Hugging Face, model card. Accessed: Sep. 28, 2026. [Online]. Available: https://huggingface.co/sentence-transformers/all-MiniLM-L6-v2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ALI ALAWADHI</a:t>
            </a:r>
          </a:p>
          <a:p xmlns:a="http://schemas.openxmlformats.org/drawingml/2006/main">
            <a:r>
              <a:t/>
            </a:r>
          </a:p>
          <a:p xmlns:a="http://schemas.openxmlformats.org/drawingml/2006/main">
            <a:r>
              <a:t>4 Technical and Data Feasibility</a:t>
            </a:r>
          </a:p>
          <a:p xmlns:a="http://schemas.openxmlformats.org/drawingml/2006/main">
            <a:r>
              <a:t/>
            </a:r>
          </a:p>
          <a:p xmlns:a="http://schemas.openxmlformats.org/drawingml/2006/main">
            <a:r>
              <a:t>## Proposed implementation approach</a:t>
            </a:r>
          </a:p>
          <a:p xmlns:a="http://schemas.openxmlformats.org/drawingml/2006/main">
            <a:r>
              <a:t/>
            </a:r>
          </a:p>
          <a:p xmlns:a="http://schemas.openxmlformats.org/drawingml/2006/main">
            <a:r>
              <a:t>For the custom-development alternative, the reference stack is Python with Django, server-rendered HTML and CSS, PostgreSQL, and a locally executed sentence-embedding model. The team would implement accounts, forms and administration in Django and test department-level permissions and business approvals. PostgreSQL would store assets, requests, reservations, decisions, transfers, maintenance events and audit records. If adaptation is selected, the team will use the existing platform's supported configuration and interfaces; the Django and PostgreSQL design is not assumed to describe that platform. The technical proof will confirm the selected route, skills and operating environment.</a:t>
            </a:r>
          </a:p>
          <a:p xmlns:a="http://schemas.openxmlformats.org/drawingml/2006/main">
            <a:r>
              <a:t/>
            </a:r>
          </a:p>
          <a:p xmlns:a="http://schemas.openxmlformats.org/drawingml/2006/main">
            <a:r>
              <a:t>The custom alternative uses a single web application rather than separately deployed front-end and back-end services to limit interfaces and deployment components. Either implementation route must protect a transfer so custody, location and history change consistently. Reservation checks must also prevent two users from allocating the same remaining quantity. An adapted implementation must demonstrate those controls through its supported interfaces and tests rather than bypass them.</a:t>
            </a:r>
          </a:p>
          <a:p xmlns:a="http://schemas.openxmlformats.org/drawingml/2006/main">
            <a:r>
              <a:t/>
            </a:r>
          </a:p>
          <a:p xmlns:a="http://schemas.openxmlformats.org/drawingml/2006/main">
            <a:r>
              <a:t>| Component | Proposed resource or method | Feasibility check |</a:t>
            </a:r>
          </a:p>
          <a:p xmlns:a="http://schemas.openxmlformats.org/drawingml/2006/main">
            <a:r>
              <a:t>| --- | --- | --- |</a:t>
            </a:r>
          </a:p>
          <a:p xmlns:a="http://schemas.openxmlformats.org/drawingml/2006/main">
            <a:r>
              <a:t>| Development and demonstration | Existing computers; target 4 CPU cores, 8 GB RAM and 10 GB free storage; one machine hosts the local demonstration | Record actual specifications and run the representative workload; these values are planning targets, not measured minimum requirements |</a:t>
            </a:r>
          </a:p>
          <a:p xmlns:a="http://schemas.openxmlformats.org/drawingml/2006/main">
            <a:r>
              <a:t>| Application and database | Django and PostgreSQL for the custom route, or the selected platform configuration; local test accounts and department-scoped records | Two users cannot reserve the same final item; interrupted receipt leaves a consistent database |</a:t>
            </a:r>
          </a:p>
          <a:p xmlns:a="http://schemas.openxmlformats.org/drawingml/2006/main">
            <a:r>
              <a:t>| Semantic matching | Sentence Transformers all-MiniLM-L6-v2 with precomputed asset embeddings [3] | Filter mandatory specifications first; evaluate ranking on a fixed labelled request set |</a:t>
            </a:r>
          </a:p>
          <a:p xmlns:a="http://schemas.openxmlformats.org/drawingml/2006/main">
            <a:r>
              <a:t>| Classification and metadata | Compare asset text with defined category descriptions; present suggested labels for review | Custodian can accept, correct or reject each suggestion; required fields are never silently invented |</a:t>
            </a:r>
          </a:p>
          <a:p xmlns:a="http://schemas.openxmlformats.org/drawingml/2006/main">
            <a:r>
              <a:t>| Assistant and generated reports | One text-generation service behind a replaceable interface, using approved synthetic or non-sensitive inputs | Verify service terms, response validity and the AED 150 experimental allowance before selecting a provider |</a:t>
            </a:r>
          </a:p>
          <a:p xmlns:a="http://schemas.openxmlformats.org/drawingml/2006/main">
            <a:r>
              <a:t>| Operational reporting | Database queries calculate counts and totals; generated text explains those supplied results | Reconcile every reported number with a query result or recorded calculation |</a:t>
            </a:r>
          </a:p>
          <a:p xmlns:a="http://schemas.openxmlformats.org/drawingml/2006/main">
            <a:r>
              <a:t>| Files and backup | File-type and size checks, restricted storage, daily backup during active work and one restore test | Reject unsupported files and restore both records and their linked files |</a:t>
            </a:r>
          </a:p>
          <a:p xmlns:a="http://schemas.openxmlformats.org/drawingml/2006/main">
            <a:r>
              <a:t/>
            </a:r>
          </a:p>
          <a:p xmlns:a="http://schemas.openxmlformats.org/drawingml/2006/main">
            <a:r>
              <a:t>The proposed matching method will compare request embeddings with precomputed asset-description embeddings using cosine similarity. Its suitability for campus assets must be evaluated against the same labelled cases as conventional search. The selected model and eligibility rules remain subject to this evaluation.</a:t>
            </a:r>
          </a:p>
          <a:p xmlns:a="http://schemas.openxmlformats.org/drawingml/2006/main">
            <a:r>
              <a:t/>
            </a:r>
          </a:p>
          <a:p xmlns:a="http://schemas.openxmlformats.org/drawingml/2006/main">
            <a:r>
              <a:t>No dedicated GPU purchase is budgeted. If local inference cannot meet the required workload, the team will benchmark a smaller or optimized model before considering paid compute. A text-generation service remains a dependency: a canned report is a fallback for continuity, not evidence that the generative-AI requirement has been implemented.</a:t>
            </a:r>
          </a:p>
          <a:p xmlns:a="http://schemas.openxmlformats.org/drawingml/2006/main">
            <a:r>
              <a:t/>
            </a:r>
          </a:p>
          <a:p xmlns:a="http://schemas.openxmlformats.org/drawingml/2006/main">
            <a:r>
              <a:t>## Capacity and skills</a:t>
            </a:r>
          </a:p>
          <a:p xmlns:a="http://schemas.openxmlformats.org/drawingml/2006/main">
            <a:r>
              <a:t/>
            </a:r>
          </a:p>
          <a:p xmlns:a="http://schemas.openxmlformats.org/drawingml/2006/main">
            <a:r>
              <a:t>The proposed model produces 384 values per asset, and its documentation states that inputs longer than 256 word pieces are truncated by default [3]. Word pieces are model tokens, not necessarily complete words. Storing 500 embeddings as 32-bit values requires 500 × 384 × 4 = 768,000 bytes, approximately 0.73 MiB, before indexing and application overhead. This is the team's storage calculation, not a measured total memory requirement. Essential specifications will be stored in structured fields and checked separately so they cannot be lost through text truncation.</a:t>
            </a:r>
          </a:p>
          <a:p xmlns:a="http://schemas.openxmlformats.org/drawingml/2006/main">
            <a:r>
              <a:t/>
            </a:r>
          </a:p>
          <a:p xmlns:a="http://schemas.openxmlformats.org/drawingml/2006/main">
            <a:r>
              <a:t>For planning, one photograph capped at 1 MB and one document capped at 2 MB per asset could consume up to 1.5 GB for 500 assets, before backups, history and software. The 10 GB storage allowance must be checked against the installed environment and retained backup copies. Larger uploads require a revised storage estimate.</a:t>
            </a:r>
          </a:p>
          <a:p xmlns:a="http://schemas.openxmlformats.org/drawingml/2006/main">
            <a:r>
              <a:t/>
            </a:r>
          </a:p>
          <a:p xmlns:a="http://schemas.openxmlformats.org/drawingml/2006/main">
            <a:r>
              <a:t>Required skills for the custom route are Python web development, HTML forms, relational data modelling, Git collaboration, authorization testing and embedding-based retrieval. Adaptation additionally requires knowledge of the candidate platform's configuration, interfaces and extension mechanisms. Current proficiency is not assumed. The technical proof has a 12-team-hour limit within the first 40-hour work period and an internal target of 4 October 2026. On the candidate route it must demonstrate login, a valid listing, a departmental request, protected approval, release and receipt, plus ranked search over 20 sample assets. Failure to complete the proof within 12 hours will trigger a revised estimate before committing to the platform.</a:t>
            </a:r>
          </a:p>
          <a:p xmlns:a="http://schemas.openxmlformats.org/drawingml/2006/main">
            <a:r>
              <a:t/>
            </a:r>
          </a:p>
          <a:p xmlns:a="http://schemas.openxmlformats.org/drawingml/2006/main">
            <a:r>
              <a:t>The team may use Codex for coding assistance, as permitted by the TA. Each member must be able to explain the purpose, inputs, outputs, permission checks and error handling of code they contribute, and demonstrate its tests. Generated code will be reviewed in small changes before it is committed. AI assistance does not establish technical proficiency or replace the early proof and recorded test results.</a:t>
            </a:r>
          </a:p>
          <a:p xmlns:a="http://schemas.openxmlformats.org/drawingml/2006/main">
            <a:r>
              <a:t/>
            </a:r>
          </a:p>
          <a:p xmlns:a="http://schemas.openxmlformats.org/drawingml/2006/main">
            <a:r>
              <a:t>## Data quality and AI evaluation</a:t>
            </a:r>
          </a:p>
          <a:p xmlns:a="http://schemas.openxmlformats.org/drawingml/2006/main">
            <a:r>
              <a:t/>
            </a:r>
          </a:p>
          <a:p xmlns:a="http://schemas.openxmlformats.org/drawingml/2006/main">
            <a:r>
              <a:t>The 500 sample assets will include five categories: furniture, computers and monitors, laboratory equipment, books, and general supplies. Test records will use fictional people, departments and locations. All 500 must pass checks for unique identifiers, valid status, positive quantities and required publication fields. Units and categorical values will be normalized so, for example, an HDMI requirement cannot be satisfied solely by similar wording.</a:t>
            </a:r>
          </a:p>
          <a:p xmlns:a="http://schemas.openxmlformats.org/drawingml/2006/main">
            <a:r>
              <a:t/>
            </a:r>
          </a:p>
          <a:p xmlns:a="http://schemas.openxmlformats.org/drawingml/2006/main">
            <a:r>
              <a:t>The ranking benchmark will contain 20 feasible requests with acceptable assets labelled before evaluation. These requests will not be used to tune ranking weights. Conventional keyword or filter search and semantic ranking will use the same records and labels. The target is at least 16 requests with an acceptable item among the first 3 results. A score of 16/20 is an 80% success rate on that test set, not evidence of 80% general AI accuracy.</a:t>
            </a:r>
          </a:p>
          <a:p xmlns:a="http://schemas.openxmlformats.org/drawingml/2006/main">
            <a:r>
              <a:t/>
            </a:r>
          </a:p>
          <a:p xmlns:a="http://schemas.openxmlformats.org/drawingml/2006/main">
            <a:r>
              <a:t>An additional 10 negative cases will include unavailable assets, insufficient quantity, incompatible specifications and unacceptable condition. None may pass the eligibility filter. Asset descriptions and uploaded text will be treated as data, not instructions capable of changing permissions or issuing approvals. The assistant will display a proposed request for user confirmation and will not authorize transfers or confirm physical receipt.</a:t>
            </a:r>
          </a:p>
          <a:p xmlns:a="http://schemas.openxmlformats.org/drawingml/2006/main">
            <a:r>
              <a:t/>
            </a:r>
          </a:p>
          <a:p xmlns:a="http://schemas.openxmlformats.org/drawingml/2006/main">
            <a:r>
              <a:t>OWASP identifies prompt injection as a risk when applications mix untrusted text with model instructions, and recommends separation, least privilege and human oversight [4]. For this prototype, model output will not directly execute database updates. The application will independently validate the requested operation and the user's permission before any confirmed change. Five additional security tests will place instruction-like text in asset descriptions or assistant inputs and check that it cannot bypass approval, expose another department's protected records or alter custody. These tests supplement, rather than prove the completeness of, the security controls.</a:t>
            </a:r>
          </a:p>
          <a:p xmlns:a="http://schemas.openxmlformats.org/drawingml/2006/main">
            <a:r>
              <a:t/>
            </a:r>
          </a:p>
          <a:p xmlns:a="http://schemas.openxmlformats.org/drawingml/2006/main">
            <a:r>
              <a:t>Structured-search performance will be measured over 1,000 requests at 10 concurrent users after a documented warm-up, with at least 950 completing within 2 seconds. Usability, workflow and impact-calculation tests will retain the Phase 1 sample sizes. Numerical summaries will come from calculations outside the language model. Technical feasibility remains conditional until these tests and the early technical exercise produce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ALI ALAWADHI</a:t>
            </a:r>
          </a:p>
          <a:p xmlns:a="http://schemas.openxmlformats.org/drawingml/2006/main">
            <a:r>
              <a:t/>
            </a:r>
          </a:p>
          <a:p xmlns:a="http://schemas.openxmlformats.org/drawingml/2006/main">
            <a:r>
              <a:t>4 Technical and Data Feasibility</a:t>
            </a:r>
          </a:p>
          <a:p xmlns:a="http://schemas.openxmlformats.org/drawingml/2006/main">
            <a:r>
              <a:t/>
            </a:r>
          </a:p>
          <a:p xmlns:a="http://schemas.openxmlformats.org/drawingml/2006/main">
            <a:r>
              <a:t>## Proposed implementation approach</a:t>
            </a:r>
          </a:p>
          <a:p xmlns:a="http://schemas.openxmlformats.org/drawingml/2006/main">
            <a:r>
              <a:t/>
            </a:r>
          </a:p>
          <a:p xmlns:a="http://schemas.openxmlformats.org/drawingml/2006/main">
            <a:r>
              <a:t>For the custom-development alternative, the reference stack is Python with Django, server-rendered HTML and CSS, PostgreSQL, and a locally executed sentence-embedding model. The team would implement accounts, forms and administration in Django and test department-level permissions and business approvals. PostgreSQL would store assets, requests, reservations, decisions, transfers, maintenance events and audit records. If adaptation is selected, the team will use the existing platform's supported configuration and interfaces; the Django and PostgreSQL design is not assumed to describe that platform. The technical proof will confirm the selected route, skills and operating environment.</a:t>
            </a:r>
          </a:p>
          <a:p xmlns:a="http://schemas.openxmlformats.org/drawingml/2006/main">
            <a:r>
              <a:t/>
            </a:r>
          </a:p>
          <a:p xmlns:a="http://schemas.openxmlformats.org/drawingml/2006/main">
            <a:r>
              <a:t>The custom alternative uses a single web application rather than separately deployed front-end and back-end services to limit interfaces and deployment components. Either implementation route must protect a transfer so custody, location and history change consistently. Reservation checks must also prevent two users from allocating the same remaining quantity. An adapted implementation must demonstrate those controls through its supported interfaces and tests rather than bypass them.</a:t>
            </a:r>
          </a:p>
          <a:p xmlns:a="http://schemas.openxmlformats.org/drawingml/2006/main">
            <a:r>
              <a:t/>
            </a:r>
          </a:p>
          <a:p xmlns:a="http://schemas.openxmlformats.org/drawingml/2006/main">
            <a:r>
              <a:t>| Component | Proposed resource or method | Feasibility check |</a:t>
            </a:r>
          </a:p>
          <a:p xmlns:a="http://schemas.openxmlformats.org/drawingml/2006/main">
            <a:r>
              <a:t>| --- | --- | --- |</a:t>
            </a:r>
          </a:p>
          <a:p xmlns:a="http://schemas.openxmlformats.org/drawingml/2006/main">
            <a:r>
              <a:t>| Development and demonstration | Existing computers; target 4 CPU cores, 8 GB RAM and 10 GB free storage; one machine hosts the local demonstration | Record actual specifications and run the representative workload; these values are planning targets, not measured minimum requirements |</a:t>
            </a:r>
          </a:p>
          <a:p xmlns:a="http://schemas.openxmlformats.org/drawingml/2006/main">
            <a:r>
              <a:t>| Application and database | Django and PostgreSQL for the custom route, or the selected platform configuration; local test accounts and department-scoped records | Two users cannot reserve the same final item; interrupted receipt leaves a consistent database |</a:t>
            </a:r>
          </a:p>
          <a:p xmlns:a="http://schemas.openxmlformats.org/drawingml/2006/main">
            <a:r>
              <a:t>| Semantic matching | Sentence Transformers all-MiniLM-L6-v2 with precomputed asset embeddings [3] | Filter mandatory specifications first; evaluate ranking on a fixed labelled request set |</a:t>
            </a:r>
          </a:p>
          <a:p xmlns:a="http://schemas.openxmlformats.org/drawingml/2006/main">
            <a:r>
              <a:t>| Classification and metadata | Compare asset text with defined category descriptions; present suggested labels for review | Custodian can accept, correct or reject each suggestion; required fields are never silently invented |</a:t>
            </a:r>
          </a:p>
          <a:p xmlns:a="http://schemas.openxmlformats.org/drawingml/2006/main">
            <a:r>
              <a:t>| Assistant and generated reports | One text-generation service behind a replaceable interface, using approved synthetic or non-sensitive inputs | Verify service terms, response validity and the AED 150 experimental allowance before selecting a provider |</a:t>
            </a:r>
          </a:p>
          <a:p xmlns:a="http://schemas.openxmlformats.org/drawingml/2006/main">
            <a:r>
              <a:t>| Operational reporting | Database queries calculate counts and totals; generated text explains those supplied results | Reconcile every reported number with a query result or recorded calculation |</a:t>
            </a:r>
          </a:p>
          <a:p xmlns:a="http://schemas.openxmlformats.org/drawingml/2006/main">
            <a:r>
              <a:t>| Files and backup | File-type and size checks, restricted storage, daily backup during active work and one restore test | Reject unsupported files and restore both records and their linked files |</a:t>
            </a:r>
          </a:p>
          <a:p xmlns:a="http://schemas.openxmlformats.org/drawingml/2006/main">
            <a:r>
              <a:t/>
            </a:r>
          </a:p>
          <a:p xmlns:a="http://schemas.openxmlformats.org/drawingml/2006/main">
            <a:r>
              <a:t>The proposed matching method will compare request embeddings with precomputed asset-description embeddings using cosine similarity. Its suitability for campus assets must be evaluated against the same labelled cases as conventional search. The selected model and eligibility rules remain subject to this evaluation.</a:t>
            </a:r>
          </a:p>
          <a:p xmlns:a="http://schemas.openxmlformats.org/drawingml/2006/main">
            <a:r>
              <a:t/>
            </a:r>
          </a:p>
          <a:p xmlns:a="http://schemas.openxmlformats.org/drawingml/2006/main">
            <a:r>
              <a:t>No dedicated GPU purchase is budgeted. If local inference cannot meet the required workload, the team will benchmark a smaller or optimized model before considering paid compute. A text-generation service remains a dependency: a canned report is a fallback for continuity, not evidence that the generative-AI requirement has been implemented.</a:t>
            </a:r>
          </a:p>
          <a:p xmlns:a="http://schemas.openxmlformats.org/drawingml/2006/main">
            <a:r>
              <a:t/>
            </a:r>
          </a:p>
          <a:p xmlns:a="http://schemas.openxmlformats.org/drawingml/2006/main">
            <a:r>
              <a:t>## Capacity and skills</a:t>
            </a:r>
          </a:p>
          <a:p xmlns:a="http://schemas.openxmlformats.org/drawingml/2006/main">
            <a:r>
              <a:t/>
            </a:r>
          </a:p>
          <a:p xmlns:a="http://schemas.openxmlformats.org/drawingml/2006/main">
            <a:r>
              <a:t>The proposed model produces 384 values per asset, and its documentation states that inputs longer than 256 word pieces are truncated by default [3]. Word pieces are model tokens, not necessarily complete words. Storing 500 embeddings as 32-bit values requires 500 × 384 × 4 = 768,000 bytes, approximately 0.73 MiB, before indexing and application overhead. This is the team's storage calculation, not a measured total memory requirement. Essential specifications will be stored in structured fields and checked separately so they cannot be lost through text truncation.</a:t>
            </a:r>
          </a:p>
          <a:p xmlns:a="http://schemas.openxmlformats.org/drawingml/2006/main">
            <a:r>
              <a:t/>
            </a:r>
          </a:p>
          <a:p xmlns:a="http://schemas.openxmlformats.org/drawingml/2006/main">
            <a:r>
              <a:t>For planning, one photograph capped at 1 MB and one document capped at 2 MB per asset could consume up to 1.5 GB for 500 assets, before backups, history and software. The 10 GB storage allowance must be checked against the installed environment and retained backup copies. Larger uploads require a revised storage estimate.</a:t>
            </a:r>
          </a:p>
          <a:p xmlns:a="http://schemas.openxmlformats.org/drawingml/2006/main">
            <a:r>
              <a:t/>
            </a:r>
          </a:p>
          <a:p xmlns:a="http://schemas.openxmlformats.org/drawingml/2006/main">
            <a:r>
              <a:t>Required skills for the custom route are Python web development, HTML forms, relational data modelling, Git collaboration, authorization testing and embedding-based retrieval. Adaptation additionally requires knowledge of the candidate platform's configuration, interfaces and extension mechanisms. Current proficiency is not assumed. The technical proof has a 12-team-hour limit within the first 40-hour work period and an internal target of 4 October 2026. On the candidate route it must demonstrate login, a valid listing, a departmental request, protected approval, release and receipt, plus ranked search over 20 sample assets. Failure to complete the proof within 12 hours will trigger a revised estimate before committing to the platform.</a:t>
            </a:r>
          </a:p>
          <a:p xmlns:a="http://schemas.openxmlformats.org/drawingml/2006/main">
            <a:r>
              <a:t/>
            </a:r>
          </a:p>
          <a:p xmlns:a="http://schemas.openxmlformats.org/drawingml/2006/main">
            <a:r>
              <a:t>The team may use Codex for coding assistance, as permitted by the TA. Each member must be able to explain the purpose, inputs, outputs, permission checks and error handling of code they contribute, and demonstrate its tests. Generated code will be reviewed in small changes before it is committed. AI assistance does not establish technical proficiency or replace the early proof and recorded test results.</a:t>
            </a:r>
          </a:p>
          <a:p xmlns:a="http://schemas.openxmlformats.org/drawingml/2006/main">
            <a:r>
              <a:t/>
            </a:r>
          </a:p>
          <a:p xmlns:a="http://schemas.openxmlformats.org/drawingml/2006/main">
            <a:r>
              <a:t>## Data quality and AI evaluation</a:t>
            </a:r>
          </a:p>
          <a:p xmlns:a="http://schemas.openxmlformats.org/drawingml/2006/main">
            <a:r>
              <a:t/>
            </a:r>
          </a:p>
          <a:p xmlns:a="http://schemas.openxmlformats.org/drawingml/2006/main">
            <a:r>
              <a:t>The 500 sample assets will include five categories: furniture, computers and monitors, laboratory equipment, books, and general supplies. Test records will use fictional people, departments and locations. All 500 must pass checks for unique identifiers, valid status, positive quantities and required publication fields. Units and categorical values will be normalized so, for example, an HDMI requirement cannot be satisfied solely by similar wording.</a:t>
            </a:r>
          </a:p>
          <a:p xmlns:a="http://schemas.openxmlformats.org/drawingml/2006/main">
            <a:r>
              <a:t/>
            </a:r>
          </a:p>
          <a:p xmlns:a="http://schemas.openxmlformats.org/drawingml/2006/main">
            <a:r>
              <a:t>The ranking benchmark will contain 20 feasible requests with acceptable assets labelled before evaluation. These requests will not be used to tune ranking weights. Conventional keyword or filter search and semantic ranking will use the same records and labels. The target is at least 16 requests with an acceptable item among the first 3 results. A score of 16/20 is an 80% success rate on that test set, not evidence of 80% general AI accuracy.</a:t>
            </a:r>
          </a:p>
          <a:p xmlns:a="http://schemas.openxmlformats.org/drawingml/2006/main">
            <a:r>
              <a:t/>
            </a:r>
          </a:p>
          <a:p xmlns:a="http://schemas.openxmlformats.org/drawingml/2006/main">
            <a:r>
              <a:t>An additional 10 negative cases will include unavailable assets, insufficient quantity, incompatible specifications and unacceptable condition. None may pass the eligibility filter. Asset descriptions and uploaded text will be treated as data, not instructions capable of changing permissions or issuing approvals. The assistant will display a proposed request for user confirmation and will not authorize transfers or confirm physical receipt.</a:t>
            </a:r>
          </a:p>
          <a:p xmlns:a="http://schemas.openxmlformats.org/drawingml/2006/main">
            <a:r>
              <a:t/>
            </a:r>
          </a:p>
          <a:p xmlns:a="http://schemas.openxmlformats.org/drawingml/2006/main">
            <a:r>
              <a:t>OWASP identifies prompt injection as a risk when applications mix untrusted text with model instructions, and recommends separation, least privilege and human oversight [4]. For this prototype, model output will not directly execute database updates. The application will independently validate the requested operation and the user's permission before any confirmed change. Five additional security tests will place instruction-like text in asset descriptions or assistant inputs and check that it cannot bypass approval, expose another department's protected records or alter custody. These tests supplement, rather than prove the completeness of, the security controls.</a:t>
            </a:r>
          </a:p>
          <a:p xmlns:a="http://schemas.openxmlformats.org/drawingml/2006/main">
            <a:r>
              <a:t/>
            </a:r>
          </a:p>
          <a:p xmlns:a="http://schemas.openxmlformats.org/drawingml/2006/main">
            <a:r>
              <a:t>Structured-search performance will be measured over 1,000 requests at 10 concurrent users after a documented warm-up, with at least 950 completing within 2 seconds. Usability, workflow and impact-calculation tests will retain the Phase 1 sample sizes. Numerical summaries will come from calculations outside the language model. Technical feasibility remains conditional until these tests and the early technical exercise produce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ALI ALAWADHI</a:t>
            </a:r>
          </a:p>
          <a:p xmlns:a="http://schemas.openxmlformats.org/drawingml/2006/main">
            <a:r>
              <a:t/>
            </a:r>
          </a:p>
          <a:p xmlns:a="http://schemas.openxmlformats.org/drawingml/2006/main">
            <a:r>
              <a:t>4 Technical and Data Feasibility</a:t>
            </a:r>
          </a:p>
          <a:p xmlns:a="http://schemas.openxmlformats.org/drawingml/2006/main">
            <a:r>
              <a:t/>
            </a:r>
          </a:p>
          <a:p xmlns:a="http://schemas.openxmlformats.org/drawingml/2006/main">
            <a:r>
              <a:t>## Proposed implementation approach</a:t>
            </a:r>
          </a:p>
          <a:p xmlns:a="http://schemas.openxmlformats.org/drawingml/2006/main">
            <a:r>
              <a:t/>
            </a:r>
          </a:p>
          <a:p xmlns:a="http://schemas.openxmlformats.org/drawingml/2006/main">
            <a:r>
              <a:t>For the custom-development alternative, the reference stack is Python with Django, server-rendered HTML and CSS, PostgreSQL, and a locally executed sentence-embedding model. The team would implement accounts, forms and administration in Django and test department-level permissions and business approvals. PostgreSQL would store assets, requests, reservations, decisions, transfers, maintenance events and audit records. If adaptation is selected, the team will use the existing platform's supported configuration and interfaces; the Django and PostgreSQL design is not assumed to describe that platform. The technical proof will confirm the selected route, skills and operating environment.</a:t>
            </a:r>
          </a:p>
          <a:p xmlns:a="http://schemas.openxmlformats.org/drawingml/2006/main">
            <a:r>
              <a:t/>
            </a:r>
          </a:p>
          <a:p xmlns:a="http://schemas.openxmlformats.org/drawingml/2006/main">
            <a:r>
              <a:t>The custom alternative uses a single web application rather than separately deployed front-end and back-end services to limit interfaces and deployment components. Either implementation route must protect a transfer so custody, location and history change consistently. Reservation checks must also prevent two users from allocating the same remaining quantity. An adapted implementation must demonstrate those controls through its supported interfaces and tests rather than bypass them.</a:t>
            </a:r>
          </a:p>
          <a:p xmlns:a="http://schemas.openxmlformats.org/drawingml/2006/main">
            <a:r>
              <a:t/>
            </a:r>
          </a:p>
          <a:p xmlns:a="http://schemas.openxmlformats.org/drawingml/2006/main">
            <a:r>
              <a:t>| Component | Proposed resource or method | Feasibility check |</a:t>
            </a:r>
          </a:p>
          <a:p xmlns:a="http://schemas.openxmlformats.org/drawingml/2006/main">
            <a:r>
              <a:t>| --- | --- | --- |</a:t>
            </a:r>
          </a:p>
          <a:p xmlns:a="http://schemas.openxmlformats.org/drawingml/2006/main">
            <a:r>
              <a:t>| Development and demonstration | Existing computers; target 4 CPU cores, 8 GB RAM and 10 GB free storage; one machine hosts the local demonstration | Record actual specifications and run the representative workload; these values are planning targets, not measured minimum requirements |</a:t>
            </a:r>
          </a:p>
          <a:p xmlns:a="http://schemas.openxmlformats.org/drawingml/2006/main">
            <a:r>
              <a:t>| Application and database | Django and PostgreSQL for the custom route, or the selected platform configuration; local test accounts and department-scoped records | Two users cannot reserve the same final item; interrupted receipt leaves a consistent database |</a:t>
            </a:r>
          </a:p>
          <a:p xmlns:a="http://schemas.openxmlformats.org/drawingml/2006/main">
            <a:r>
              <a:t>| Semantic matching | Sentence Transformers all-MiniLM-L6-v2 with precomputed asset embeddings [3] | Filter mandatory specifications first; evaluate ranking on a fixed labelled request set |</a:t>
            </a:r>
          </a:p>
          <a:p xmlns:a="http://schemas.openxmlformats.org/drawingml/2006/main">
            <a:r>
              <a:t>| Classification and metadata | Compare asset text with defined category descriptions; present suggested labels for review | Custodian can accept, correct or reject each suggestion; required fields are never silently invented |</a:t>
            </a:r>
          </a:p>
          <a:p xmlns:a="http://schemas.openxmlformats.org/drawingml/2006/main">
            <a:r>
              <a:t>| Assistant and generated reports | One text-generation service behind a replaceable interface, using approved synthetic or non-sensitive inputs | Verify service terms, response validity and the AED 150 experimental allowance before selecting a provider |</a:t>
            </a:r>
          </a:p>
          <a:p xmlns:a="http://schemas.openxmlformats.org/drawingml/2006/main">
            <a:r>
              <a:t>| Operational reporting | Database queries calculate counts and totals; generated text explains those supplied results | Reconcile every reported number with a query result or recorded calculation |</a:t>
            </a:r>
          </a:p>
          <a:p xmlns:a="http://schemas.openxmlformats.org/drawingml/2006/main">
            <a:r>
              <a:t>| Files and backup | File-type and size checks, restricted storage, daily backup during active work and one restore test | Reject unsupported files and restore both records and their linked files |</a:t>
            </a:r>
          </a:p>
          <a:p xmlns:a="http://schemas.openxmlformats.org/drawingml/2006/main">
            <a:r>
              <a:t/>
            </a:r>
          </a:p>
          <a:p xmlns:a="http://schemas.openxmlformats.org/drawingml/2006/main">
            <a:r>
              <a:t>The proposed matching method will compare request embeddings with precomputed asset-description embeddings using cosine similarity. Its suitability for campus assets must be evaluated against the same labelled cases as conventional search. The selected model and eligibility rules remain subject to this evaluation.</a:t>
            </a:r>
          </a:p>
          <a:p xmlns:a="http://schemas.openxmlformats.org/drawingml/2006/main">
            <a:r>
              <a:t/>
            </a:r>
          </a:p>
          <a:p xmlns:a="http://schemas.openxmlformats.org/drawingml/2006/main">
            <a:r>
              <a:t>No dedicated GPU purchase is budgeted. If local inference cannot meet the required workload, the team will benchmark a smaller or optimized model before considering paid compute. A text-generation service remains a dependency: a canned report is a fallback for continuity, not evidence that the generative-AI requirement has been implemented.</a:t>
            </a:r>
          </a:p>
          <a:p xmlns:a="http://schemas.openxmlformats.org/drawingml/2006/main">
            <a:r>
              <a:t/>
            </a:r>
          </a:p>
          <a:p xmlns:a="http://schemas.openxmlformats.org/drawingml/2006/main">
            <a:r>
              <a:t>## Capacity and skills</a:t>
            </a:r>
          </a:p>
          <a:p xmlns:a="http://schemas.openxmlformats.org/drawingml/2006/main">
            <a:r>
              <a:t/>
            </a:r>
          </a:p>
          <a:p xmlns:a="http://schemas.openxmlformats.org/drawingml/2006/main">
            <a:r>
              <a:t>The proposed model produces 384 values per asset, and its documentation states that inputs longer than 256 word pieces are truncated by default [3]. Word pieces are model tokens, not necessarily complete words. Storing 500 embeddings as 32-bit values requires 500 × 384 × 4 = 768,000 bytes, approximately 0.73 MiB, before indexing and application overhead. This is the team's storage calculation, not a measured total memory requirement. Essential specifications will be stored in structured fields and checked separately so they cannot be lost through text truncation.</a:t>
            </a:r>
          </a:p>
          <a:p xmlns:a="http://schemas.openxmlformats.org/drawingml/2006/main">
            <a:r>
              <a:t/>
            </a:r>
          </a:p>
          <a:p xmlns:a="http://schemas.openxmlformats.org/drawingml/2006/main">
            <a:r>
              <a:t>For planning, one photograph capped at 1 MB and one document capped at 2 MB per asset could consume up to 1.5 GB for 500 assets, before backups, history and software. The 10 GB storage allowance must be checked against the installed environment and retained backup copies. Larger uploads require a revised storage estimate.</a:t>
            </a:r>
          </a:p>
          <a:p xmlns:a="http://schemas.openxmlformats.org/drawingml/2006/main">
            <a:r>
              <a:t/>
            </a:r>
          </a:p>
          <a:p xmlns:a="http://schemas.openxmlformats.org/drawingml/2006/main">
            <a:r>
              <a:t>Required skills for the custom route are Python web development, HTML forms, relational data modelling, Git collaboration, authorization testing and embedding-based retrieval. Adaptation additionally requires knowledge of the candidate platform's configuration, interfaces and extension mechanisms. Current proficiency is not assumed. The technical proof has a 12-team-hour limit within the first 40-hour work period and an internal target of 4 October 2026. On the candidate route it must demonstrate login, a valid listing, a departmental request, protected approval, release and receipt, plus ranked search over 20 sample assets. Failure to complete the proof within 12 hours will trigger a revised estimate before committing to the platform.</a:t>
            </a:r>
          </a:p>
          <a:p xmlns:a="http://schemas.openxmlformats.org/drawingml/2006/main">
            <a:r>
              <a:t/>
            </a:r>
          </a:p>
          <a:p xmlns:a="http://schemas.openxmlformats.org/drawingml/2006/main">
            <a:r>
              <a:t>The team may use Codex for coding assistance, as permitted by the TA. Each member must be able to explain the purpose, inputs, outputs, permission checks and error handling of code they contribute, and demonstrate its tests. Generated code will be reviewed in small changes before it is committed. AI assistance does not establish technical proficiency or replace the early proof and recorded test results.</a:t>
            </a:r>
          </a:p>
          <a:p xmlns:a="http://schemas.openxmlformats.org/drawingml/2006/main">
            <a:r>
              <a:t/>
            </a:r>
          </a:p>
          <a:p xmlns:a="http://schemas.openxmlformats.org/drawingml/2006/main">
            <a:r>
              <a:t>## Data quality and AI evaluation</a:t>
            </a:r>
          </a:p>
          <a:p xmlns:a="http://schemas.openxmlformats.org/drawingml/2006/main">
            <a:r>
              <a:t/>
            </a:r>
          </a:p>
          <a:p xmlns:a="http://schemas.openxmlformats.org/drawingml/2006/main">
            <a:r>
              <a:t>The 500 sample assets will include five categories: furniture, computers and monitors, laboratory equipment, books, and general supplies. Test records will use fictional people, departments and locations. All 500 must pass checks for unique identifiers, valid status, positive quantities and required publication fields. Units and categorical values will be normalized so, for example, an HDMI requirement cannot be satisfied solely by similar wording.</a:t>
            </a:r>
          </a:p>
          <a:p xmlns:a="http://schemas.openxmlformats.org/drawingml/2006/main">
            <a:r>
              <a:t/>
            </a:r>
          </a:p>
          <a:p xmlns:a="http://schemas.openxmlformats.org/drawingml/2006/main">
            <a:r>
              <a:t>The ranking benchmark will contain 20 feasible requests with acceptable assets labelled before evaluation. These requests will not be used to tune ranking weights. Conventional keyword or filter search and semantic ranking will use the same records and labels. The target is at least 16 requests with an acceptable item among the first 3 results. A score of 16/20 is an 80% success rate on that test set, not evidence of 80% general AI accuracy.</a:t>
            </a:r>
          </a:p>
          <a:p xmlns:a="http://schemas.openxmlformats.org/drawingml/2006/main">
            <a:r>
              <a:t/>
            </a:r>
          </a:p>
          <a:p xmlns:a="http://schemas.openxmlformats.org/drawingml/2006/main">
            <a:r>
              <a:t>An additional 10 negative cases will include unavailable assets, insufficient quantity, incompatible specifications and unacceptable condition. None may pass the eligibility filter. Asset descriptions and uploaded text will be treated as data, not instructions capable of changing permissions or issuing approvals. The assistant will display a proposed request for user confirmation and will not authorize transfers or confirm physical receipt.</a:t>
            </a:r>
          </a:p>
          <a:p xmlns:a="http://schemas.openxmlformats.org/drawingml/2006/main">
            <a:r>
              <a:t/>
            </a:r>
          </a:p>
          <a:p xmlns:a="http://schemas.openxmlformats.org/drawingml/2006/main">
            <a:r>
              <a:t>OWASP identifies prompt injection as a risk when applications mix untrusted text with model instructions, and recommends separation, least privilege and human oversight [4]. For this prototype, model output will not directly execute database updates. The application will independently validate the requested operation and the user's permission before any confirmed change. Five additional security tests will place instruction-like text in asset descriptions or assistant inputs and check that it cannot bypass approval, expose another department's protected records or alter custody. These tests supplement, rather than prove the completeness of, the security controls.</a:t>
            </a:r>
          </a:p>
          <a:p xmlns:a="http://schemas.openxmlformats.org/drawingml/2006/main">
            <a:r>
              <a:t/>
            </a:r>
          </a:p>
          <a:p xmlns:a="http://schemas.openxmlformats.org/drawingml/2006/main">
            <a:r>
              <a:t>Structured-search performance will be measured over 1,000 requests at 10 concurrent users after a documented warm-up, with at least 950 completing within 2 seconds. Usability, workflow and impact-calculation tests will retain the Phase 1 sample sizes. Numerical summaries will come from calculations outside the language model. Technical feasibility remains conditional until these tests and the early technical exercise produce evidence.</a:t>
            </a:r>
          </a:p>
          <a:p xmlns:a="http://schemas.openxmlformats.org/drawingml/2006/main">
            <a:r>
              <a:t/>
            </a:r>
          </a:p>
          <a:p xmlns:a="http://schemas.openxmlformats.org/drawingml/2006/main">
            <a:r>
              <a:t>References</a:t>
            </a:r>
          </a:p>
          <a:p xmlns:a="http://schemas.openxmlformats.org/drawingml/2006/main">
            <a:r>
              <a:t/>
            </a:r>
          </a:p>
          <a:p xmlns:a="http://schemas.openxmlformats.org/drawingml/2006/main">
            <a:r>
              <a:t>[4] OWASP Foundation, “LLM prompt injection prevention cheat sheet,” OWASP Cheat Sheet Series. Accessed: Sep. 28, 2026. [Online]. Available: https://cheatsheetseries.owasp.org/cheatsheets/LLM_Prompt_Injection_Prevention_Cheat_Sheet.html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ALI ALAWADHI</a:t>
            </a:r>
          </a:p>
          <a:p xmlns:a="http://schemas.openxmlformats.org/drawingml/2006/main">
            <a:r>
              <a:t/>
            </a:r>
          </a:p>
          <a:p xmlns:a="http://schemas.openxmlformats.org/drawingml/2006/main">
            <a:r>
              <a:t>5 Financial Analysis</a:t>
            </a:r>
          </a:p>
          <a:p xmlns:a="http://schemas.openxmlformats.org/drawingml/2006/main">
            <a:r>
              <a:t/>
            </a:r>
          </a:p>
          <a:p xmlns:a="http://schemas.openxmlformats.org/drawingml/2006/main">
            <a:r>
              <a:t>## Prototype cash and effort budget</a:t>
            </a:r>
          </a:p>
          <a:p xmlns:a="http://schemas.openxmlformats.org/drawingml/2006/main">
            <a:r>
              <a:t/>
            </a:r>
          </a:p>
          <a:p xmlns:a="http://schemas.openxmlformats.org/drawingml/2006/main">
            <a:r>
              <a:t>The cost estimate states scope and assumptions, separates cash expenditure from imputed labour, and tests sensitivity to transfer volume, unit benefit and additional hosting. The 180-hour estimate remains the provisional custom-development baseline. An adaptation decision requires a revised estimate covering configuration, extension, integration and maintenance; no saving from reused software is credited yet. Team hours, the labour valuation, transaction benefits and service allowances remain project assumptions until validated.</a:t>
            </a:r>
          </a:p>
          <a:p xmlns:a="http://schemas.openxmlformats.org/drawingml/2006/main">
            <a:r>
              <a:t/>
            </a:r>
          </a:p>
          <a:p xmlns:a="http://schemas.openxmlformats.org/drawingml/2006/main">
            <a:r>
              <a:t>The following amounts are proposed allowances in UAE dirhams, not supplier quotations, actual expenditure or an approved budget. Existing computers and internet access are assumed available. No new hardware or institutional integration is included. The team's time is counted separately so a low cash requirement is not mistaken for a cost-free project.</a:t>
            </a:r>
          </a:p>
          <a:p xmlns:a="http://schemas.openxmlformats.org/drawingml/2006/main">
            <a:r>
              <a:t/>
            </a:r>
          </a:p>
          <a:p xmlns:a="http://schemas.openxmlformats.org/drawingml/2006/main">
            <a:r>
              <a:t>| Prototype item | Proposed cash allowance in AED | Basis |</a:t>
            </a:r>
          </a:p>
          <a:p xmlns:a="http://schemas.openxmlformats.org/drawingml/2006/main">
            <a:r>
              <a:t>| --- | --- | --- |</a:t>
            </a:r>
          </a:p>
          <a:p xmlns:a="http://schemas.openxmlformats.org/drawingml/2006/main">
            <a:r>
              <a:t>| Existing computers and local open-source application tools | 0 incremental purchase | Reuse existing equipment; no dedicated GPU or paid database licence |</a:t>
            </a:r>
          </a:p>
          <a:p xmlns:a="http://schemas.openxmlformats.org/drawingml/2006/main">
            <a:r>
              <a:t>| Text-generation experiments | 150 | Spending ceiling across the development period; provider selection depends on fitting this limit |</a:t>
            </a:r>
          </a:p>
          <a:p xmlns:a="http://schemas.openxmlformats.org/drawingml/2006/main">
            <a:r>
              <a:t>| Optional short-term deployment or service testing | 100 | Allowance if a local demonstration is insufficient; not a quoted hosting plan |</a:t>
            </a:r>
          </a:p>
          <a:p xmlns:a="http://schemas.openxmlformats.org/drawingml/2006/main">
            <a:r>
              <a:t>| Backup media or incidental technical costs | 50 | Contingency allowance |</a:t>
            </a:r>
          </a:p>
          <a:p xmlns:a="http://schemas.openxmlformats.org/drawingml/2006/main">
            <a:r>
              <a:t>| Total prototype cash ceiling | 300 | Expenditure requires team agreement before purchase |</a:t>
            </a:r>
          </a:p>
          <a:p xmlns:a="http://schemas.openxmlformats.org/drawingml/2006/main">
            <a:r>
              <a:t/>
            </a:r>
          </a:p>
          <a:p xmlns:a="http://schemas.openxmlformats.org/drawingml/2006/main">
            <a:r>
              <a:t>Baseline development effort is 180 person-hours. At an illustrative valuation of AED 40 per hour, its economic value is AED 7,200. The hourly value is a sensitivity assumption, not a student wage or market salary. The 36-hour schedule reserve is outside the baseline; using all of it adds AED 1,440 to the imputed development cost. Actual cash payments for student time are not assumed.</a:t>
            </a:r>
          </a:p>
          <a:p xmlns:a="http://schemas.openxmlformats.org/drawingml/2006/main">
            <a:r>
              <a:t/>
            </a:r>
          </a:p>
          <a:p xmlns:a="http://schemas.openxmlformats.org/drawingml/2006/main">
            <a:r>
              <a:t>## Illustrative first year pilot economics</a:t>
            </a:r>
          </a:p>
          <a:p xmlns:a="http://schemas.openxmlformats.org/drawingml/2006/main">
            <a:r>
              <a:t/>
            </a:r>
          </a:p>
          <a:p xmlns:a="http://schemas.openxmlformats.org/drawingml/2006/main">
            <a:r>
              <a:t>This scenario asks whether reuse benefits in the first 12 months of pilot operation could cover upfront development and that year's running costs. It is separate from the semester cash budget and does not establish production funding. The base case assumes local hosting on existing equipment at no additional server charge; it excludes a new production server, institutional integration and extensive support. Such additions would require a new business case.</a:t>
            </a:r>
          </a:p>
          <a:p xmlns:a="http://schemas.openxmlformats.org/drawingml/2006/main">
            <a:r>
              <a:t/>
            </a:r>
          </a:p>
          <a:p xmlns:a="http://schemas.openxmlformats.org/drawingml/2006/main">
            <a:r>
              <a:t>| Cost component | Assumption | First year economic cost in AED |</a:t>
            </a:r>
          </a:p>
          <a:p xmlns:a="http://schemas.openxmlformats.org/drawingml/2006/main">
            <a:r>
              <a:t>| --- | --- | --- |</a:t>
            </a:r>
          </a:p>
          <a:p xmlns:a="http://schemas.openxmlformats.org/drawingml/2006/main">
            <a:r>
              <a:t>| Development time | 180 hours at AED 40 per hour | 7,200 |</a:t>
            </a:r>
          </a:p>
          <a:p xmlns:a="http://schemas.openxmlformats.org/drawingml/2006/main">
            <a:r>
              <a:t>| Initial prototype cash allowance | Full ceiling treated as spent | 300 |</a:t>
            </a:r>
          </a:p>
          <a:p xmlns:a="http://schemas.openxmlformats.org/drawingml/2006/main">
            <a:r>
              <a:t>| Pilot AI and ancillary services | AED 50 per month for 12 months; existing host | 600 |</a:t>
            </a:r>
          </a:p>
          <a:p xmlns:a="http://schemas.openxmlformats.org/drawingml/2006/main">
            <a:r>
              <a:t>| Pilot backup allowance | AED 5 per month for 12 months | 60 |</a:t>
            </a:r>
          </a:p>
          <a:p xmlns:a="http://schemas.openxmlformats.org/drawingml/2006/main">
            <a:r>
              <a:t>| Ongoing maintenance time | 2 hours per month for 12 months at AED 40 per hour | 960 |</a:t>
            </a:r>
          </a:p>
          <a:p xmlns:a="http://schemas.openxmlformats.org/drawingml/2006/main">
            <a:r>
              <a:t>| Total | Development, initial cash and one year of operation | 9,120 |</a:t>
            </a:r>
          </a:p>
          <a:p xmlns:a="http://schemas.openxmlformats.org/drawingml/2006/main">
            <a:r>
              <a:t/>
            </a:r>
          </a:p>
          <a:p xmlns:a="http://schemas.openxmlformats.org/drawingml/2006/main">
            <a:r>
              <a:t>The annual operating allowance is AED 1,620: AED 660 in services and backup plus AED 960 in maintenance effort. Including the initial AED 300, the first-year cash allowance is AED 960; the remaining AED 8,160 is imputed labour. The 24 pilot maintenance hours are additional to the semester development capacity. Two maintenance hours per month are a limited pilot assumption covering dependency checks, backup review and minor support. Actual support demand may be higher. Monetary benefits will be counted only where a completed reuse event avoids a purchase that would otherwise occur.</a:t>
            </a:r>
          </a:p>
          <a:p xmlns:a="http://schemas.openxmlformats.org/drawingml/2006/main">
            <a:r>
              <a:t/>
            </a:r>
          </a:p>
          <a:p xmlns:a="http://schemas.openxmlformats.org/drawingml/2006/main">
            <a:r>
              <a:t>For the illustrative unit benefit, the avoided replacement cost is AED 800, repair costs are AED 150 and transfer costs are AED 50. The net avoided cost is therefore AED 600 per qualifying event. Repair and transfer costs are deducted here and are not deducted again in the operating budget. A transfer without an avoided purchase may have reuse value, but it does not receive this financial benefit automatically.</a:t>
            </a:r>
          </a:p>
          <a:p xmlns:a="http://schemas.openxmlformats.org/drawingml/2006/main">
            <a:r>
              <a:t/>
            </a:r>
          </a:p>
          <a:p xmlns:a="http://schemas.openxmlformats.org/drawingml/2006/main">
            <a:r>
              <a:t>## Estimated benefits ROI and sensitivity</a:t>
            </a:r>
          </a:p>
          <a:p xmlns:a="http://schemas.openxmlformats.org/drawingml/2006/main">
            <a:r>
              <a:t/>
            </a:r>
          </a:p>
          <a:p xmlns:a="http://schemas.openxmlformats.org/drawingml/2006/main">
            <a:r>
              <a:t>The illustrative benefit estimate is AED 12,000 over 12 months: 20 qualifying transfers multiplied by (AED 800 avoided replacement cost minus AED 150 repair cost minus AED 50 transfer cost). This is net of those event costs but before the AED 9,120 development and operating cost. The resulting first-year surplus is AED 2,880. The inputs and transfer count are assumptions, not KU observations or supplier quotations. Better custody traceability and easier discovery are additional intended benefits; no percentage time saving or environmental reduction is claimed without a measured baseline.</a:t>
            </a:r>
          </a:p>
          <a:p xmlns:a="http://schemas.openxmlformats.org/drawingml/2006/main">
            <a:r>
              <a:t/>
            </a:r>
          </a:p>
          <a:p xmlns:a="http://schemas.openxmlformats.org/drawingml/2006/main">
            <a:r>
              <a:t>First-year ROI is calculated as the annual net avoided cost minus AED 9,120, divided by AED 9,120 and expressed as a percentage. The denominator includes imputed development and maintenance time. Environmental benefits and staff time savings are not monetized in this model.</a:t>
            </a:r>
          </a:p>
          <a:p xmlns:a="http://schemas.openxmlformats.org/drawingml/2006/main">
            <a:r>
              <a:t/>
            </a:r>
          </a:p>
          <a:p xmlns:a="http://schemas.openxmlformats.org/drawingml/2006/main">
            <a:r>
              <a:t>| Annual qualifying transfers | Net avoided cost in AED | First year surplus or loss in AED | First year ROI |</a:t>
            </a:r>
          </a:p>
          <a:p xmlns:a="http://schemas.openxmlformats.org/drawingml/2006/main">
            <a:r>
              <a:t>| --- | --- | --- | --- |</a:t>
            </a:r>
          </a:p>
          <a:p xmlns:a="http://schemas.openxmlformats.org/drawingml/2006/main">
            <a:r>
              <a:t>| 10 | 6,000 | -3,120 | -34.2% |</a:t>
            </a:r>
          </a:p>
          <a:p xmlns:a="http://schemas.openxmlformats.org/drawingml/2006/main">
            <a:r>
              <a:t>| 20 | 12,000 | 2,880 | 31.6% |</a:t>
            </a:r>
          </a:p>
          <a:p xmlns:a="http://schemas.openxmlformats.org/drawingml/2006/main">
            <a:r>
              <a:t>| 30 | 18,000 | 8,880 | 97.4% |</a:t>
            </a:r>
          </a:p>
          <a:p xmlns:a="http://schemas.openxmlformats.org/drawingml/2006/main">
            <a:r>
              <a:t/>
            </a:r>
          </a:p>
          <a:p xmlns:a="http://schemas.openxmlformats.org/drawingml/2006/main">
            <a:r>
              <a:t>At AED 600 per event, 15 transfers provide AED 9,000 and fall short of the AED 9,120 cost. A minimum of 16 qualifying transfers is therefore required for first-year break-even. If the net benefit is only AED 300 per event, the threshold rises to 31 transfers. If all 36 reserve hours are used, the first-year cost rises to AED 10,560, the 20-transfer ROI falls to 13.6%, and break-even requires 18 transfers.</a:t>
            </a:r>
          </a:p>
          <a:p xmlns:a="http://schemas.openxmlformats.org/drawingml/2006/main">
            <a:r>
              <a:t/>
            </a:r>
          </a:p>
          <a:p xmlns:a="http://schemas.openxmlformats.org/drawingml/2006/main">
            <a:r>
              <a:t>## Published hosting benchmark</a:t>
            </a:r>
          </a:p>
          <a:p xmlns:a="http://schemas.openxmlformats.org/drawingml/2006/main">
            <a:r>
              <a:t/>
            </a:r>
          </a:p>
          <a:p xmlns:a="http://schemas.openxmlformats.org/drawingml/2006/main">
            <a:r>
              <a:t>As checked on 28 September 2026, DigitalOcean lists a Basic Regular shared-CPU server with 8 GiB memory, 4 vCPUs and 160 GiB SSD at USD 48 per month [5]. This is a price benchmark, not a selected supplier or proof of equivalent performance to the proposed local computer. Using AED 3.6725 per USD from the Central Bank of the UAE's published exchange-rate table [6], the benchmark is AED 176.28 per month or AED 2,115.36 for 12 months. The conversion excludes payment fees, taxes, separately charged services and any additional support.</a:t>
            </a:r>
          </a:p>
          <a:p xmlns:a="http://schemas.openxmlformats.org/drawingml/2006/main">
            <a:r>
              <a:t/>
            </a:r>
          </a:p>
          <a:p xmlns:a="http://schemas.openxmlformats.org/drawingml/2006/main">
            <a:r>
              <a:t>If that server is added while retaining the base case's AED 600 annual AI and ancillary-service allowance and other costs, the first-year economic cost rises from AED 9,120 to AED 11,235.36. At 20 qualifying transfers, the surplus falls to AED 764.64 and ROI to 6.8%; break-even requires 19 transfers at AED 600 each. These are calculated sensitivities, not a complete production quotation. The paid-server cost alone exceeds the AED 50 monthly service allowance. A live pilot requires a fresh hosting, backup and support budget.</a:t>
            </a:r>
          </a:p>
          <a:p xmlns:a="http://schemas.openxmlformats.org/drawingml/2006/main">
            <a:r>
              <a:t/>
            </a:r>
          </a:p>
          <a:p xmlns:a="http://schemas.openxmlformats.org/drawingml/2006/main">
            <a:r>
              <a:t>The financial conclusion is conditional: a small prototype can be attempted within a limited cash ceiling, but a pilot's economic case depends on validated avoided purchases, unit costs and support requirements. A positive scenario is not a forecast, and no campus savings have been achieved by this project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ALI ALAWADHI</a:t>
            </a:r>
          </a:p>
          <a:p xmlns:a="http://schemas.openxmlformats.org/drawingml/2006/main">
            <a:r>
              <a:t/>
            </a:r>
          </a:p>
          <a:p xmlns:a="http://schemas.openxmlformats.org/drawingml/2006/main">
            <a:r>
              <a:t>5 Financial Analysis</a:t>
            </a:r>
          </a:p>
          <a:p xmlns:a="http://schemas.openxmlformats.org/drawingml/2006/main">
            <a:r>
              <a:t/>
            </a:r>
          </a:p>
          <a:p xmlns:a="http://schemas.openxmlformats.org/drawingml/2006/main">
            <a:r>
              <a:t>## Prototype cash and effort budget</a:t>
            </a:r>
          </a:p>
          <a:p xmlns:a="http://schemas.openxmlformats.org/drawingml/2006/main">
            <a:r>
              <a:t/>
            </a:r>
          </a:p>
          <a:p xmlns:a="http://schemas.openxmlformats.org/drawingml/2006/main">
            <a:r>
              <a:t>The cost estimate states scope and assumptions, separates cash expenditure from imputed labour, and tests sensitivity to transfer volume, unit benefit and additional hosting. The 180-hour estimate remains the provisional custom-development baseline. An adaptation decision requires a revised estimate covering configuration, extension, integration and maintenance; no saving from reused software is credited yet. Team hours, the labour valuation, transaction benefits and service allowances remain project assumptions until validated.</a:t>
            </a:r>
          </a:p>
          <a:p xmlns:a="http://schemas.openxmlformats.org/drawingml/2006/main">
            <a:r>
              <a:t/>
            </a:r>
          </a:p>
          <a:p xmlns:a="http://schemas.openxmlformats.org/drawingml/2006/main">
            <a:r>
              <a:t>The following amounts are proposed allowances in UAE dirhams, not supplier quotations, actual expenditure or an approved budget. Existing computers and internet access are assumed available. No new hardware or institutional integration is included. The team's time is counted separately so a low cash requirement is not mistaken for a cost-free project.</a:t>
            </a:r>
          </a:p>
          <a:p xmlns:a="http://schemas.openxmlformats.org/drawingml/2006/main">
            <a:r>
              <a:t/>
            </a:r>
          </a:p>
          <a:p xmlns:a="http://schemas.openxmlformats.org/drawingml/2006/main">
            <a:r>
              <a:t>| Prototype item | Proposed cash allowance in AED | Basis |</a:t>
            </a:r>
          </a:p>
          <a:p xmlns:a="http://schemas.openxmlformats.org/drawingml/2006/main">
            <a:r>
              <a:t>| --- | --- | --- |</a:t>
            </a:r>
          </a:p>
          <a:p xmlns:a="http://schemas.openxmlformats.org/drawingml/2006/main">
            <a:r>
              <a:t>| Existing computers and local open-source application tools | 0 incremental purchase | Reuse existing equipment; no dedicated GPU or paid database licence |</a:t>
            </a:r>
          </a:p>
          <a:p xmlns:a="http://schemas.openxmlformats.org/drawingml/2006/main">
            <a:r>
              <a:t>| Text-generation experiments | 150 | Spending ceiling across the development period; provider selection depends on fitting this limit |</a:t>
            </a:r>
          </a:p>
          <a:p xmlns:a="http://schemas.openxmlformats.org/drawingml/2006/main">
            <a:r>
              <a:t>| Optional short-term deployment or service testing | 100 | Allowance if a local demonstration is insufficient; not a quoted hosting plan |</a:t>
            </a:r>
          </a:p>
          <a:p xmlns:a="http://schemas.openxmlformats.org/drawingml/2006/main">
            <a:r>
              <a:t>| Backup media or incidental technical costs | 50 | Contingency allowance |</a:t>
            </a:r>
          </a:p>
          <a:p xmlns:a="http://schemas.openxmlformats.org/drawingml/2006/main">
            <a:r>
              <a:t>| Total prototype cash ceiling | 300 | Expenditure requires team agreement before purchase |</a:t>
            </a:r>
          </a:p>
          <a:p xmlns:a="http://schemas.openxmlformats.org/drawingml/2006/main">
            <a:r>
              <a:t/>
            </a:r>
          </a:p>
          <a:p xmlns:a="http://schemas.openxmlformats.org/drawingml/2006/main">
            <a:r>
              <a:t>Baseline development effort is 180 person-hours. At an illustrative valuation of AED 40 per hour, its economic value is AED 7,200. The hourly value is a sensitivity assumption, not a student wage or market salary. The 36-hour schedule reserve is outside the baseline; using all of it adds AED 1,440 to the imputed development cost. Actual cash payments for student time are not assumed.</a:t>
            </a:r>
          </a:p>
          <a:p xmlns:a="http://schemas.openxmlformats.org/drawingml/2006/main">
            <a:r>
              <a:t/>
            </a:r>
          </a:p>
          <a:p xmlns:a="http://schemas.openxmlformats.org/drawingml/2006/main">
            <a:r>
              <a:t>## Illustrative first year pilot economics</a:t>
            </a:r>
          </a:p>
          <a:p xmlns:a="http://schemas.openxmlformats.org/drawingml/2006/main">
            <a:r>
              <a:t/>
            </a:r>
          </a:p>
          <a:p xmlns:a="http://schemas.openxmlformats.org/drawingml/2006/main">
            <a:r>
              <a:t>This scenario asks whether reuse benefits in the first 12 months of pilot operation could cover upfront development and that year's running costs. It is separate from the semester cash budget and does not establish production funding. The base case assumes local hosting on existing equipment at no additional server charge; it excludes a new production server, institutional integration and extensive support. Such additions would require a new business case.</a:t>
            </a:r>
          </a:p>
          <a:p xmlns:a="http://schemas.openxmlformats.org/drawingml/2006/main">
            <a:r>
              <a:t/>
            </a:r>
          </a:p>
          <a:p xmlns:a="http://schemas.openxmlformats.org/drawingml/2006/main">
            <a:r>
              <a:t>| Cost component | Assumption | First year economic cost in AED |</a:t>
            </a:r>
          </a:p>
          <a:p xmlns:a="http://schemas.openxmlformats.org/drawingml/2006/main">
            <a:r>
              <a:t>| --- | --- | --- |</a:t>
            </a:r>
          </a:p>
          <a:p xmlns:a="http://schemas.openxmlformats.org/drawingml/2006/main">
            <a:r>
              <a:t>| Development time | 180 hours at AED 40 per hour | 7,200 |</a:t>
            </a:r>
          </a:p>
          <a:p xmlns:a="http://schemas.openxmlformats.org/drawingml/2006/main">
            <a:r>
              <a:t>| Initial prototype cash allowance | Full ceiling treated as spent | 300 |</a:t>
            </a:r>
          </a:p>
          <a:p xmlns:a="http://schemas.openxmlformats.org/drawingml/2006/main">
            <a:r>
              <a:t>| Pilot AI and ancillary services | AED 50 per month for 12 months; existing host | 600 |</a:t>
            </a:r>
          </a:p>
          <a:p xmlns:a="http://schemas.openxmlformats.org/drawingml/2006/main">
            <a:r>
              <a:t>| Pilot backup allowance | AED 5 per month for 12 months | 60 |</a:t>
            </a:r>
          </a:p>
          <a:p xmlns:a="http://schemas.openxmlformats.org/drawingml/2006/main">
            <a:r>
              <a:t>| Ongoing maintenance time | 2 hours per month for 12 months at AED 40 per hour | 960 |</a:t>
            </a:r>
          </a:p>
          <a:p xmlns:a="http://schemas.openxmlformats.org/drawingml/2006/main">
            <a:r>
              <a:t>| Total | Development, initial cash and one year of operation | 9,120 |</a:t>
            </a:r>
          </a:p>
          <a:p xmlns:a="http://schemas.openxmlformats.org/drawingml/2006/main">
            <a:r>
              <a:t/>
            </a:r>
          </a:p>
          <a:p xmlns:a="http://schemas.openxmlformats.org/drawingml/2006/main">
            <a:r>
              <a:t>The annual operating allowance is AED 1,620: AED 660 in services and backup plus AED 960 in maintenance effort. Including the initial AED 300, the first-year cash allowance is AED 960; the remaining AED 8,160 is imputed labour. The 24 pilot maintenance hours are additional to the semester development capacity. Two maintenance hours per month are a limited pilot assumption covering dependency checks, backup review and minor support. Actual support demand may be higher. Monetary benefits will be counted only where a completed reuse event avoids a purchase that would otherwise occur.</a:t>
            </a:r>
          </a:p>
          <a:p xmlns:a="http://schemas.openxmlformats.org/drawingml/2006/main">
            <a:r>
              <a:t/>
            </a:r>
          </a:p>
          <a:p xmlns:a="http://schemas.openxmlformats.org/drawingml/2006/main">
            <a:r>
              <a:t>For the illustrative unit benefit, the avoided replacement cost is AED 800, repair costs are AED 150 and transfer costs are AED 50. The net avoided cost is therefore AED 600 per qualifying event. Repair and transfer costs are deducted here and are not deducted again in the operating budget. A transfer without an avoided purchase may have reuse value, but it does not receive this financial benefit automatically.</a:t>
            </a:r>
          </a:p>
          <a:p xmlns:a="http://schemas.openxmlformats.org/drawingml/2006/main">
            <a:r>
              <a:t/>
            </a:r>
          </a:p>
          <a:p xmlns:a="http://schemas.openxmlformats.org/drawingml/2006/main">
            <a:r>
              <a:t>## Estimated benefits ROI and sensitivity</a:t>
            </a:r>
          </a:p>
          <a:p xmlns:a="http://schemas.openxmlformats.org/drawingml/2006/main">
            <a:r>
              <a:t/>
            </a:r>
          </a:p>
          <a:p xmlns:a="http://schemas.openxmlformats.org/drawingml/2006/main">
            <a:r>
              <a:t>The illustrative benefit estimate is AED 12,000 over 12 months: 20 qualifying transfers multiplied by (AED 800 avoided replacement cost minus AED 150 repair cost minus AED 50 transfer cost). This is net of those event costs but before the AED 9,120 development and operating cost. The resulting first-year surplus is AED 2,880. The inputs and transfer count are assumptions, not KU observations or supplier quotations. Better custody traceability and easier discovery are additional intended benefits; no percentage time saving or environmental reduction is claimed without a measured baseline.</a:t>
            </a:r>
          </a:p>
          <a:p xmlns:a="http://schemas.openxmlformats.org/drawingml/2006/main">
            <a:r>
              <a:t/>
            </a:r>
          </a:p>
          <a:p xmlns:a="http://schemas.openxmlformats.org/drawingml/2006/main">
            <a:r>
              <a:t>First-year ROI is calculated as the annual net avoided cost minus AED 9,120, divided by AED 9,120 and expressed as a percentage. The denominator includes imputed development and maintenance time. Environmental benefits and staff time savings are not monetized in this model.</a:t>
            </a:r>
          </a:p>
          <a:p xmlns:a="http://schemas.openxmlformats.org/drawingml/2006/main">
            <a:r>
              <a:t/>
            </a:r>
          </a:p>
          <a:p xmlns:a="http://schemas.openxmlformats.org/drawingml/2006/main">
            <a:r>
              <a:t>| Annual qualifying transfers | Net avoided cost in AED | First year surplus or loss in AED | First year ROI |</a:t>
            </a:r>
          </a:p>
          <a:p xmlns:a="http://schemas.openxmlformats.org/drawingml/2006/main">
            <a:r>
              <a:t>| --- | --- | --- | --- |</a:t>
            </a:r>
          </a:p>
          <a:p xmlns:a="http://schemas.openxmlformats.org/drawingml/2006/main">
            <a:r>
              <a:t>| 10 | 6,000 | -3,120 | -34.2% |</a:t>
            </a:r>
          </a:p>
          <a:p xmlns:a="http://schemas.openxmlformats.org/drawingml/2006/main">
            <a:r>
              <a:t>| 20 | 12,000 | 2,880 | 31.6% |</a:t>
            </a:r>
          </a:p>
          <a:p xmlns:a="http://schemas.openxmlformats.org/drawingml/2006/main">
            <a:r>
              <a:t>| 30 | 18,000 | 8,880 | 97.4% |</a:t>
            </a:r>
          </a:p>
          <a:p xmlns:a="http://schemas.openxmlformats.org/drawingml/2006/main">
            <a:r>
              <a:t/>
            </a:r>
          </a:p>
          <a:p xmlns:a="http://schemas.openxmlformats.org/drawingml/2006/main">
            <a:r>
              <a:t>At AED 600 per event, 15 transfers provide AED 9,000 and fall short of the AED 9,120 cost. A minimum of 16 qualifying transfers is therefore required for first-year break-even. If the net benefit is only AED 300 per event, the threshold rises to 31 transfers. If all 36 reserve hours are used, the first-year cost rises to AED 10,560, the 20-transfer ROI falls to 13.6%, and break-even requires 18 transfers.</a:t>
            </a:r>
          </a:p>
          <a:p xmlns:a="http://schemas.openxmlformats.org/drawingml/2006/main">
            <a:r>
              <a:t/>
            </a:r>
          </a:p>
          <a:p xmlns:a="http://schemas.openxmlformats.org/drawingml/2006/main">
            <a:r>
              <a:t>## Published hosting benchmark</a:t>
            </a:r>
          </a:p>
          <a:p xmlns:a="http://schemas.openxmlformats.org/drawingml/2006/main">
            <a:r>
              <a:t/>
            </a:r>
          </a:p>
          <a:p xmlns:a="http://schemas.openxmlformats.org/drawingml/2006/main">
            <a:r>
              <a:t>As checked on 28 September 2026, DigitalOcean lists a Basic Regular shared-CPU server with 8 GiB memory, 4 vCPUs and 160 GiB SSD at USD 48 per month [5]. This is a price benchmark, not a selected supplier or proof of equivalent performance to the proposed local computer. Using AED 3.6725 per USD from the Central Bank of the UAE's published exchange-rate table [6], the benchmark is AED 176.28 per month or AED 2,115.36 for 12 months. The conversion excludes payment fees, taxes, separately charged services and any additional support.</a:t>
            </a:r>
          </a:p>
          <a:p xmlns:a="http://schemas.openxmlformats.org/drawingml/2006/main">
            <a:r>
              <a:t/>
            </a:r>
          </a:p>
          <a:p xmlns:a="http://schemas.openxmlformats.org/drawingml/2006/main">
            <a:r>
              <a:t>If that server is added while retaining the base case's AED 600 annual AI and ancillary-service allowance and other costs, the first-year economic cost rises from AED 9,120 to AED 11,235.36. At 20 qualifying transfers, the surplus falls to AED 764.64 and ROI to 6.8%; break-even requires 19 transfers at AED 600 each. These are calculated sensitivities, not a complete production quotation. The paid-server cost alone exceeds the AED 50 monthly service allowance. A live pilot requires a fresh hosting, backup and support budget.</a:t>
            </a:r>
          </a:p>
          <a:p xmlns:a="http://schemas.openxmlformats.org/drawingml/2006/main">
            <a:r>
              <a:t/>
            </a:r>
          </a:p>
          <a:p xmlns:a="http://schemas.openxmlformats.org/drawingml/2006/main">
            <a:r>
              <a:t>The financial conclusion is conditional: a small prototype can be attempted within a limited cash ceiling, but a pilot's economic case depends on validated avoided purchases, unit costs and support requirements. A positive scenario is not a forecast, and no campus savings have been achieved by this project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ALI ALAWADHI</a:t>
            </a:r>
          </a:p>
          <a:p xmlns:a="http://schemas.openxmlformats.org/drawingml/2006/main">
            <a:r>
              <a:t/>
            </a:r>
          </a:p>
          <a:p xmlns:a="http://schemas.openxmlformats.org/drawingml/2006/main">
            <a:r>
              <a:t>5 Financial Analysis</a:t>
            </a:r>
          </a:p>
          <a:p xmlns:a="http://schemas.openxmlformats.org/drawingml/2006/main">
            <a:r>
              <a:t/>
            </a:r>
          </a:p>
          <a:p xmlns:a="http://schemas.openxmlformats.org/drawingml/2006/main">
            <a:r>
              <a:t>## Prototype cash and effort budget</a:t>
            </a:r>
          </a:p>
          <a:p xmlns:a="http://schemas.openxmlformats.org/drawingml/2006/main">
            <a:r>
              <a:t/>
            </a:r>
          </a:p>
          <a:p xmlns:a="http://schemas.openxmlformats.org/drawingml/2006/main">
            <a:r>
              <a:t>The cost estimate states scope and assumptions, separates cash expenditure from imputed labour, and tests sensitivity to transfer volume, unit benefit and additional hosting. The 180-hour estimate remains the provisional custom-development baseline. An adaptation decision requires a revised estimate covering configuration, extension, integration and maintenance; no saving from reused software is credited yet. Team hours, the labour valuation, transaction benefits and service allowances remain project assumptions until validated.</a:t>
            </a:r>
          </a:p>
          <a:p xmlns:a="http://schemas.openxmlformats.org/drawingml/2006/main">
            <a:r>
              <a:t/>
            </a:r>
          </a:p>
          <a:p xmlns:a="http://schemas.openxmlformats.org/drawingml/2006/main">
            <a:r>
              <a:t>The following amounts are proposed allowances in UAE dirhams, not supplier quotations, actual expenditure or an approved budget. Existing computers and internet access are assumed available. No new hardware or institutional integration is included. The team's time is counted separately so a low cash requirement is not mistaken for a cost-free project.</a:t>
            </a:r>
          </a:p>
          <a:p xmlns:a="http://schemas.openxmlformats.org/drawingml/2006/main">
            <a:r>
              <a:t/>
            </a:r>
          </a:p>
          <a:p xmlns:a="http://schemas.openxmlformats.org/drawingml/2006/main">
            <a:r>
              <a:t>| Prototype item | Proposed cash allowance in AED | Basis |</a:t>
            </a:r>
          </a:p>
          <a:p xmlns:a="http://schemas.openxmlformats.org/drawingml/2006/main">
            <a:r>
              <a:t>| --- | --- | --- |</a:t>
            </a:r>
          </a:p>
          <a:p xmlns:a="http://schemas.openxmlformats.org/drawingml/2006/main">
            <a:r>
              <a:t>| Existing computers and local open-source application tools | 0 incremental purchase | Reuse existing equipment; no dedicated GPU or paid database licence |</a:t>
            </a:r>
          </a:p>
          <a:p xmlns:a="http://schemas.openxmlformats.org/drawingml/2006/main">
            <a:r>
              <a:t>| Text-generation experiments | 150 | Spending ceiling across the development period; provider selection depends on fitting this limit |</a:t>
            </a:r>
          </a:p>
          <a:p xmlns:a="http://schemas.openxmlformats.org/drawingml/2006/main">
            <a:r>
              <a:t>| Optional short-term deployment or service testing | 100 | Allowance if a local demonstration is insufficient; not a quoted hosting plan |</a:t>
            </a:r>
          </a:p>
          <a:p xmlns:a="http://schemas.openxmlformats.org/drawingml/2006/main">
            <a:r>
              <a:t>| Backup media or incidental technical costs | 50 | Contingency allowance |</a:t>
            </a:r>
          </a:p>
          <a:p xmlns:a="http://schemas.openxmlformats.org/drawingml/2006/main">
            <a:r>
              <a:t>| Total prototype cash ceiling | 300 | Expenditure requires team agreement before purchase |</a:t>
            </a:r>
          </a:p>
          <a:p xmlns:a="http://schemas.openxmlformats.org/drawingml/2006/main">
            <a:r>
              <a:t/>
            </a:r>
          </a:p>
          <a:p xmlns:a="http://schemas.openxmlformats.org/drawingml/2006/main">
            <a:r>
              <a:t>Baseline development effort is 180 person-hours. At an illustrative valuation of AED 40 per hour, its economic value is AED 7,200. The hourly value is a sensitivity assumption, not a student wage or market salary. The 36-hour schedule reserve is outside the baseline; using all of it adds AED 1,440 to the imputed development cost. Actual cash payments for student time are not assumed.</a:t>
            </a:r>
          </a:p>
          <a:p xmlns:a="http://schemas.openxmlformats.org/drawingml/2006/main">
            <a:r>
              <a:t/>
            </a:r>
          </a:p>
          <a:p xmlns:a="http://schemas.openxmlformats.org/drawingml/2006/main">
            <a:r>
              <a:t>## Illustrative first year pilot economics</a:t>
            </a:r>
          </a:p>
          <a:p xmlns:a="http://schemas.openxmlformats.org/drawingml/2006/main">
            <a:r>
              <a:t/>
            </a:r>
          </a:p>
          <a:p xmlns:a="http://schemas.openxmlformats.org/drawingml/2006/main">
            <a:r>
              <a:t>This scenario asks whether reuse benefits in the first 12 months of pilot operation could cover upfront development and that year's running costs. It is separate from the semester cash budget and does not establish production funding. The base case assumes local hosting on existing equipment at no additional server charge; it excludes a new production server, institutional integration and extensive support. Such additions would require a new business case.</a:t>
            </a:r>
          </a:p>
          <a:p xmlns:a="http://schemas.openxmlformats.org/drawingml/2006/main">
            <a:r>
              <a:t/>
            </a:r>
          </a:p>
          <a:p xmlns:a="http://schemas.openxmlformats.org/drawingml/2006/main">
            <a:r>
              <a:t>| Cost component | Assumption | First year economic cost in AED |</a:t>
            </a:r>
          </a:p>
          <a:p xmlns:a="http://schemas.openxmlformats.org/drawingml/2006/main">
            <a:r>
              <a:t>| --- | --- | --- |</a:t>
            </a:r>
          </a:p>
          <a:p xmlns:a="http://schemas.openxmlformats.org/drawingml/2006/main">
            <a:r>
              <a:t>| Development time | 180 hours at AED 40 per hour | 7,200 |</a:t>
            </a:r>
          </a:p>
          <a:p xmlns:a="http://schemas.openxmlformats.org/drawingml/2006/main">
            <a:r>
              <a:t>| Initial prototype cash allowance | Full ceiling treated as spent | 300 |</a:t>
            </a:r>
          </a:p>
          <a:p xmlns:a="http://schemas.openxmlformats.org/drawingml/2006/main">
            <a:r>
              <a:t>| Pilot AI and ancillary services | AED 50 per month for 12 months; existing host | 600 |</a:t>
            </a:r>
          </a:p>
          <a:p xmlns:a="http://schemas.openxmlformats.org/drawingml/2006/main">
            <a:r>
              <a:t>| Pilot backup allowance | AED 5 per month for 12 months | 60 |</a:t>
            </a:r>
          </a:p>
          <a:p xmlns:a="http://schemas.openxmlformats.org/drawingml/2006/main">
            <a:r>
              <a:t>| Ongoing maintenance time | 2 hours per month for 12 months at AED 40 per hour | 960 |</a:t>
            </a:r>
          </a:p>
          <a:p xmlns:a="http://schemas.openxmlformats.org/drawingml/2006/main">
            <a:r>
              <a:t>| Total | Development, initial cash and one year of operation | 9,120 |</a:t>
            </a:r>
          </a:p>
          <a:p xmlns:a="http://schemas.openxmlformats.org/drawingml/2006/main">
            <a:r>
              <a:t/>
            </a:r>
          </a:p>
          <a:p xmlns:a="http://schemas.openxmlformats.org/drawingml/2006/main">
            <a:r>
              <a:t>The annual operating allowance is AED 1,620: AED 660 in services and backup plus AED 960 in maintenance effort. Including the initial AED 300, the first-year cash allowance is AED 960; the remaining AED 8,160 is imputed labour. The 24 pilot maintenance hours are additional to the semester development capacity. Two maintenance hours per month are a limited pilot assumption covering dependency checks, backup review and minor support. Actual support demand may be higher. Monetary benefits will be counted only where a completed reuse event avoids a purchase that would otherwise occur.</a:t>
            </a:r>
          </a:p>
          <a:p xmlns:a="http://schemas.openxmlformats.org/drawingml/2006/main">
            <a:r>
              <a:t/>
            </a:r>
          </a:p>
          <a:p xmlns:a="http://schemas.openxmlformats.org/drawingml/2006/main">
            <a:r>
              <a:t>For the illustrative unit benefit, the avoided replacement cost is AED 800, repair costs are AED 150 and transfer costs are AED 50. The net avoided cost is therefore AED 600 per qualifying event. Repair and transfer costs are deducted here and are not deducted again in the operating budget. A transfer without an avoided purchase may have reuse value, but it does not receive this financial benefit automatically.</a:t>
            </a:r>
          </a:p>
          <a:p xmlns:a="http://schemas.openxmlformats.org/drawingml/2006/main">
            <a:r>
              <a:t/>
            </a:r>
          </a:p>
          <a:p xmlns:a="http://schemas.openxmlformats.org/drawingml/2006/main">
            <a:r>
              <a:t>## Estimated benefits ROI and sensitivity</a:t>
            </a:r>
          </a:p>
          <a:p xmlns:a="http://schemas.openxmlformats.org/drawingml/2006/main">
            <a:r>
              <a:t/>
            </a:r>
          </a:p>
          <a:p xmlns:a="http://schemas.openxmlformats.org/drawingml/2006/main">
            <a:r>
              <a:t>The illustrative benefit estimate is AED 12,000 over 12 months: 20 qualifying transfers multiplied by (AED 800 avoided replacement cost minus AED 150 repair cost minus AED 50 transfer cost). This is net of those event costs but before the AED 9,120 development and operating cost. The resulting first-year surplus is AED 2,880. The inputs and transfer count are assumptions, not KU observations or supplier quotations. Better custody traceability and easier discovery are additional intended benefits; no percentage time saving or environmental reduction is claimed without a measured baseline.</a:t>
            </a:r>
          </a:p>
          <a:p xmlns:a="http://schemas.openxmlformats.org/drawingml/2006/main">
            <a:r>
              <a:t/>
            </a:r>
          </a:p>
          <a:p xmlns:a="http://schemas.openxmlformats.org/drawingml/2006/main">
            <a:r>
              <a:t>First-year ROI is calculated as the annual net avoided cost minus AED 9,120, divided by AED 9,120 and expressed as a percentage. The denominator includes imputed development and maintenance time. Environmental benefits and staff time savings are not monetized in this model.</a:t>
            </a:r>
          </a:p>
          <a:p xmlns:a="http://schemas.openxmlformats.org/drawingml/2006/main">
            <a:r>
              <a:t/>
            </a:r>
          </a:p>
          <a:p xmlns:a="http://schemas.openxmlformats.org/drawingml/2006/main">
            <a:r>
              <a:t>| Annual qualifying transfers | Net avoided cost in AED | First year surplus or loss in AED | First year ROI |</a:t>
            </a:r>
          </a:p>
          <a:p xmlns:a="http://schemas.openxmlformats.org/drawingml/2006/main">
            <a:r>
              <a:t>| --- | --- | --- | --- |</a:t>
            </a:r>
          </a:p>
          <a:p xmlns:a="http://schemas.openxmlformats.org/drawingml/2006/main">
            <a:r>
              <a:t>| 10 | 6,000 | -3,120 | -34.2% |</a:t>
            </a:r>
          </a:p>
          <a:p xmlns:a="http://schemas.openxmlformats.org/drawingml/2006/main">
            <a:r>
              <a:t>| 20 | 12,000 | 2,880 | 31.6% |</a:t>
            </a:r>
          </a:p>
          <a:p xmlns:a="http://schemas.openxmlformats.org/drawingml/2006/main">
            <a:r>
              <a:t>| 30 | 18,000 | 8,880 | 97.4% |</a:t>
            </a:r>
          </a:p>
          <a:p xmlns:a="http://schemas.openxmlformats.org/drawingml/2006/main">
            <a:r>
              <a:t/>
            </a:r>
          </a:p>
          <a:p xmlns:a="http://schemas.openxmlformats.org/drawingml/2006/main">
            <a:r>
              <a:t>At AED 600 per event, 15 transfers provide AED 9,000 and fall short of the AED 9,120 cost. A minimum of 16 qualifying transfers is therefore required for first-year break-even. If the net benefit is only AED 300 per event, the threshold rises to 31 transfers. If all 36 reserve hours are used, the first-year cost rises to AED 10,560, the 20-transfer ROI falls to 13.6%, and break-even requires 18 transfers.</a:t>
            </a:r>
          </a:p>
          <a:p xmlns:a="http://schemas.openxmlformats.org/drawingml/2006/main">
            <a:r>
              <a:t/>
            </a:r>
          </a:p>
          <a:p xmlns:a="http://schemas.openxmlformats.org/drawingml/2006/main">
            <a:r>
              <a:t>## Published hosting benchmark</a:t>
            </a:r>
          </a:p>
          <a:p xmlns:a="http://schemas.openxmlformats.org/drawingml/2006/main">
            <a:r>
              <a:t/>
            </a:r>
          </a:p>
          <a:p xmlns:a="http://schemas.openxmlformats.org/drawingml/2006/main">
            <a:r>
              <a:t>As checked on 28 September 2026, DigitalOcean lists a Basic Regular shared-CPU server with 8 GiB memory, 4 vCPUs and 160 GiB SSD at USD 48 per month [5]. This is a price benchmark, not a selected supplier or proof of equivalent performance to the proposed local computer. Using AED 3.6725 per USD from the Central Bank of the UAE's published exchange-rate table [6], the benchmark is AED 176.28 per month or AED 2,115.36 for 12 months. The conversion excludes payment fees, taxes, separately charged services and any additional support.</a:t>
            </a:r>
          </a:p>
          <a:p xmlns:a="http://schemas.openxmlformats.org/drawingml/2006/main">
            <a:r>
              <a:t/>
            </a:r>
          </a:p>
          <a:p xmlns:a="http://schemas.openxmlformats.org/drawingml/2006/main">
            <a:r>
              <a:t>If that server is added while retaining the base case's AED 600 annual AI and ancillary-service allowance and other costs, the first-year economic cost rises from AED 9,120 to AED 11,235.36. At 20 qualifying transfers, the surplus falls to AED 764.64 and ROI to 6.8%; break-even requires 19 transfers at AED 600 each. These are calculated sensitivities, not a complete production quotation. The paid-server cost alone exceeds the AED 50 monthly service allowance. A live pilot requires a fresh hosting, backup and support budget.</a:t>
            </a:r>
          </a:p>
          <a:p xmlns:a="http://schemas.openxmlformats.org/drawingml/2006/main">
            <a:r>
              <a:t/>
            </a:r>
          </a:p>
          <a:p xmlns:a="http://schemas.openxmlformats.org/drawingml/2006/main">
            <a:r>
              <a:t>The financial conclusion is conditional: a small prototype can be attempted within a limited cash ceiling, but a pilot's economic case depends on validated avoided purchases, unit costs and support requirements. A positive scenario is not a forecast, and no campus savings have been achieved by this project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ALI ALAWADHI</a:t>
            </a:r>
          </a:p>
          <a:p xmlns:a="http://schemas.openxmlformats.org/drawingml/2006/main">
            <a:r>
              <a:t/>
            </a:r>
          </a:p>
          <a:p xmlns:a="http://schemas.openxmlformats.org/drawingml/2006/main">
            <a:r>
              <a:t>5 Financial Analysis</a:t>
            </a:r>
          </a:p>
          <a:p xmlns:a="http://schemas.openxmlformats.org/drawingml/2006/main">
            <a:r>
              <a:t/>
            </a:r>
          </a:p>
          <a:p xmlns:a="http://schemas.openxmlformats.org/drawingml/2006/main">
            <a:r>
              <a:t>## Prototype cash and effort budget</a:t>
            </a:r>
          </a:p>
          <a:p xmlns:a="http://schemas.openxmlformats.org/drawingml/2006/main">
            <a:r>
              <a:t/>
            </a:r>
          </a:p>
          <a:p xmlns:a="http://schemas.openxmlformats.org/drawingml/2006/main">
            <a:r>
              <a:t>The cost estimate states scope and assumptions, separates cash expenditure from imputed labour, and tests sensitivity to transfer volume, unit benefit and additional hosting. The 180-hour estimate remains the provisional custom-development baseline. An adaptation decision requires a revised estimate covering configuration, extension, integration and maintenance; no saving from reused software is credited yet. Team hours, the labour valuation, transaction benefits and service allowances remain project assumptions until validated.</a:t>
            </a:r>
          </a:p>
          <a:p xmlns:a="http://schemas.openxmlformats.org/drawingml/2006/main">
            <a:r>
              <a:t/>
            </a:r>
          </a:p>
          <a:p xmlns:a="http://schemas.openxmlformats.org/drawingml/2006/main">
            <a:r>
              <a:t>The following amounts are proposed allowances in UAE dirhams, not supplier quotations, actual expenditure or an approved budget. Existing computers and internet access are assumed available. No new hardware or institutional integration is included. The team's time is counted separately so a low cash requirement is not mistaken for a cost-free project.</a:t>
            </a:r>
          </a:p>
          <a:p xmlns:a="http://schemas.openxmlformats.org/drawingml/2006/main">
            <a:r>
              <a:t/>
            </a:r>
          </a:p>
          <a:p xmlns:a="http://schemas.openxmlformats.org/drawingml/2006/main">
            <a:r>
              <a:t>| Prototype item | Proposed cash allowance in AED | Basis |</a:t>
            </a:r>
          </a:p>
          <a:p xmlns:a="http://schemas.openxmlformats.org/drawingml/2006/main">
            <a:r>
              <a:t>| --- | --- | --- |</a:t>
            </a:r>
          </a:p>
          <a:p xmlns:a="http://schemas.openxmlformats.org/drawingml/2006/main">
            <a:r>
              <a:t>| Existing computers and local open-source application tools | 0 incremental purchase | Reuse existing equipment; no dedicated GPU or paid database licence |</a:t>
            </a:r>
          </a:p>
          <a:p xmlns:a="http://schemas.openxmlformats.org/drawingml/2006/main">
            <a:r>
              <a:t>| Text-generation experiments | 150 | Spending ceiling across the development period; provider selection depends on fitting this limit |</a:t>
            </a:r>
          </a:p>
          <a:p xmlns:a="http://schemas.openxmlformats.org/drawingml/2006/main">
            <a:r>
              <a:t>| Optional short-term deployment or service testing | 100 | Allowance if a local demonstration is insufficient; not a quoted hosting plan |</a:t>
            </a:r>
          </a:p>
          <a:p xmlns:a="http://schemas.openxmlformats.org/drawingml/2006/main">
            <a:r>
              <a:t>| Backup media or incidental technical costs | 50 | Contingency allowance |</a:t>
            </a:r>
          </a:p>
          <a:p xmlns:a="http://schemas.openxmlformats.org/drawingml/2006/main">
            <a:r>
              <a:t>| Total prototype cash ceiling | 300 | Expenditure requires team agreement before purchase |</a:t>
            </a:r>
          </a:p>
          <a:p xmlns:a="http://schemas.openxmlformats.org/drawingml/2006/main">
            <a:r>
              <a:t/>
            </a:r>
          </a:p>
          <a:p xmlns:a="http://schemas.openxmlformats.org/drawingml/2006/main">
            <a:r>
              <a:t>Baseline development effort is 180 person-hours. At an illustrative valuation of AED 40 per hour, its economic value is AED 7,200. The hourly value is a sensitivity assumption, not a student wage or market salary. The 36-hour schedule reserve is outside the baseline; using all of it adds AED 1,440 to the imputed development cost. Actual cash payments for student time are not assumed.</a:t>
            </a:r>
          </a:p>
          <a:p xmlns:a="http://schemas.openxmlformats.org/drawingml/2006/main">
            <a:r>
              <a:t/>
            </a:r>
          </a:p>
          <a:p xmlns:a="http://schemas.openxmlformats.org/drawingml/2006/main">
            <a:r>
              <a:t>## Illustrative first year pilot economics</a:t>
            </a:r>
          </a:p>
          <a:p xmlns:a="http://schemas.openxmlformats.org/drawingml/2006/main">
            <a:r>
              <a:t/>
            </a:r>
          </a:p>
          <a:p xmlns:a="http://schemas.openxmlformats.org/drawingml/2006/main">
            <a:r>
              <a:t>This scenario asks whether reuse benefits in the first 12 months of pilot operation could cover upfront development and that year's running costs. It is separate from the semester cash budget and does not establish production funding. The base case assumes local hosting on existing equipment at no additional server charge; it excludes a new production server, institutional integration and extensive support. Such additions would require a new business case.</a:t>
            </a:r>
          </a:p>
          <a:p xmlns:a="http://schemas.openxmlformats.org/drawingml/2006/main">
            <a:r>
              <a:t/>
            </a:r>
          </a:p>
          <a:p xmlns:a="http://schemas.openxmlformats.org/drawingml/2006/main">
            <a:r>
              <a:t>| Cost component | Assumption | First year economic cost in AED |</a:t>
            </a:r>
          </a:p>
          <a:p xmlns:a="http://schemas.openxmlformats.org/drawingml/2006/main">
            <a:r>
              <a:t>| --- | --- | --- |</a:t>
            </a:r>
          </a:p>
          <a:p xmlns:a="http://schemas.openxmlformats.org/drawingml/2006/main">
            <a:r>
              <a:t>| Development time | 180 hours at AED 40 per hour | 7,200 |</a:t>
            </a:r>
          </a:p>
          <a:p xmlns:a="http://schemas.openxmlformats.org/drawingml/2006/main">
            <a:r>
              <a:t>| Initial prototype cash allowance | Full ceiling treated as spent | 300 |</a:t>
            </a:r>
          </a:p>
          <a:p xmlns:a="http://schemas.openxmlformats.org/drawingml/2006/main">
            <a:r>
              <a:t>| Pilot AI and ancillary services | AED 50 per month for 12 months; existing host | 600 |</a:t>
            </a:r>
          </a:p>
          <a:p xmlns:a="http://schemas.openxmlformats.org/drawingml/2006/main">
            <a:r>
              <a:t>| Pilot backup allowance | AED 5 per month for 12 months | 60 |</a:t>
            </a:r>
          </a:p>
          <a:p xmlns:a="http://schemas.openxmlformats.org/drawingml/2006/main">
            <a:r>
              <a:t>| Ongoing maintenance time | 2 hours per month for 12 months at AED 40 per hour | 960 |</a:t>
            </a:r>
          </a:p>
          <a:p xmlns:a="http://schemas.openxmlformats.org/drawingml/2006/main">
            <a:r>
              <a:t>| Total | Development, initial cash and one year of operation | 9,120 |</a:t>
            </a:r>
          </a:p>
          <a:p xmlns:a="http://schemas.openxmlformats.org/drawingml/2006/main">
            <a:r>
              <a:t/>
            </a:r>
          </a:p>
          <a:p xmlns:a="http://schemas.openxmlformats.org/drawingml/2006/main">
            <a:r>
              <a:t>The annual operating allowance is AED 1,620: AED 660 in services and backup plus AED 960 in maintenance effort. Including the initial AED 300, the first-year cash allowance is AED 960; the remaining AED 8,160 is imputed labour. The 24 pilot maintenance hours are additional to the semester development capacity. Two maintenance hours per month are a limited pilot assumption covering dependency checks, backup review and minor support. Actual support demand may be higher. Monetary benefits will be counted only where a completed reuse event avoids a purchase that would otherwise occur.</a:t>
            </a:r>
          </a:p>
          <a:p xmlns:a="http://schemas.openxmlformats.org/drawingml/2006/main">
            <a:r>
              <a:t/>
            </a:r>
          </a:p>
          <a:p xmlns:a="http://schemas.openxmlformats.org/drawingml/2006/main">
            <a:r>
              <a:t>For the illustrative unit benefit, the avoided replacement cost is AED 800, repair costs are AED 150 and transfer costs are AED 50. The net avoided cost is therefore AED 600 per qualifying event. Repair and transfer costs are deducted here and are not deducted again in the operating budget. A transfer without an avoided purchase may have reuse value, but it does not receive this financial benefit automatically.</a:t>
            </a:r>
          </a:p>
          <a:p xmlns:a="http://schemas.openxmlformats.org/drawingml/2006/main">
            <a:r>
              <a:t/>
            </a:r>
          </a:p>
          <a:p xmlns:a="http://schemas.openxmlformats.org/drawingml/2006/main">
            <a:r>
              <a:t>## Estimated benefits ROI and sensitivity</a:t>
            </a:r>
          </a:p>
          <a:p xmlns:a="http://schemas.openxmlformats.org/drawingml/2006/main">
            <a:r>
              <a:t/>
            </a:r>
          </a:p>
          <a:p xmlns:a="http://schemas.openxmlformats.org/drawingml/2006/main">
            <a:r>
              <a:t>The illustrative benefit estimate is AED 12,000 over 12 months: 20 qualifying transfers multiplied by (AED 800 avoided replacement cost minus AED 150 repair cost minus AED 50 transfer cost). This is net of those event costs but before the AED 9,120 development and operating cost. The resulting first-year surplus is AED 2,880. The inputs and transfer count are assumptions, not KU observations or supplier quotations. Better custody traceability and easier discovery are additional intended benefits; no percentage time saving or environmental reduction is claimed without a measured baseline.</a:t>
            </a:r>
          </a:p>
          <a:p xmlns:a="http://schemas.openxmlformats.org/drawingml/2006/main">
            <a:r>
              <a:t/>
            </a:r>
          </a:p>
          <a:p xmlns:a="http://schemas.openxmlformats.org/drawingml/2006/main">
            <a:r>
              <a:t>First-year ROI is calculated as the annual net avoided cost minus AED 9,120, divided by AED 9,120 and expressed as a percentage. The denominator includes imputed development and maintenance time. Environmental benefits and staff time savings are not monetized in this model.</a:t>
            </a:r>
          </a:p>
          <a:p xmlns:a="http://schemas.openxmlformats.org/drawingml/2006/main">
            <a:r>
              <a:t/>
            </a:r>
          </a:p>
          <a:p xmlns:a="http://schemas.openxmlformats.org/drawingml/2006/main">
            <a:r>
              <a:t>| Annual qualifying transfers | Net avoided cost in AED | First year surplus or loss in AED | First year ROI |</a:t>
            </a:r>
          </a:p>
          <a:p xmlns:a="http://schemas.openxmlformats.org/drawingml/2006/main">
            <a:r>
              <a:t>| --- | --- | --- | --- |</a:t>
            </a:r>
          </a:p>
          <a:p xmlns:a="http://schemas.openxmlformats.org/drawingml/2006/main">
            <a:r>
              <a:t>| 10 | 6,000 | -3,120 | -34.2% |</a:t>
            </a:r>
          </a:p>
          <a:p xmlns:a="http://schemas.openxmlformats.org/drawingml/2006/main">
            <a:r>
              <a:t>| 20 | 12,000 | 2,880 | 31.6% |</a:t>
            </a:r>
          </a:p>
          <a:p xmlns:a="http://schemas.openxmlformats.org/drawingml/2006/main">
            <a:r>
              <a:t>| 30 | 18,000 | 8,880 | 97.4% |</a:t>
            </a:r>
          </a:p>
          <a:p xmlns:a="http://schemas.openxmlformats.org/drawingml/2006/main">
            <a:r>
              <a:t/>
            </a:r>
          </a:p>
          <a:p xmlns:a="http://schemas.openxmlformats.org/drawingml/2006/main">
            <a:r>
              <a:t>At AED 600 per event, 15 transfers provide AED 9,000 and fall short of the AED 9,120 cost. A minimum of 16 qualifying transfers is therefore required for first-year break-even. If the net benefit is only AED 300 per event, the threshold rises to 31 transfers. If all 36 reserve hours are used, the first-year cost rises to AED 10,560, the 20-transfer ROI falls to 13.6%, and break-even requires 18 transfers.</a:t>
            </a:r>
          </a:p>
          <a:p xmlns:a="http://schemas.openxmlformats.org/drawingml/2006/main">
            <a:r>
              <a:t/>
            </a:r>
          </a:p>
          <a:p xmlns:a="http://schemas.openxmlformats.org/drawingml/2006/main">
            <a:r>
              <a:t>## Published hosting benchmark</a:t>
            </a:r>
          </a:p>
          <a:p xmlns:a="http://schemas.openxmlformats.org/drawingml/2006/main">
            <a:r>
              <a:t/>
            </a:r>
          </a:p>
          <a:p xmlns:a="http://schemas.openxmlformats.org/drawingml/2006/main">
            <a:r>
              <a:t>As checked on 28 September 2026, DigitalOcean lists a Basic Regular shared-CPU server with 8 GiB memory, 4 vCPUs and 160 GiB SSD at USD 48 per month [5]. This is a price benchmark, not a selected supplier or proof of equivalent performance to the proposed local computer. Using AED 3.6725 per USD from the Central Bank of the UAE's published exchange-rate table [6], the benchmark is AED 176.28 per month or AED 2,115.36 for 12 months. The conversion excludes payment fees, taxes, separately charged services and any additional support.</a:t>
            </a:r>
          </a:p>
          <a:p xmlns:a="http://schemas.openxmlformats.org/drawingml/2006/main">
            <a:r>
              <a:t/>
            </a:r>
          </a:p>
          <a:p xmlns:a="http://schemas.openxmlformats.org/drawingml/2006/main">
            <a:r>
              <a:t>If that server is added while retaining the base case's AED 600 annual AI and ancillary-service allowance and other costs, the first-year economic cost rises from AED 9,120 to AED 11,235.36. At 20 qualifying transfers, the surplus falls to AED 764.64 and ROI to 6.8%; break-even requires 19 transfers at AED 600 each. These are calculated sensitivities, not a complete production quotation. The paid-server cost alone exceeds the AED 50 monthly service allowance. A live pilot requires a fresh hosting, backup and support budget.</a:t>
            </a:r>
          </a:p>
          <a:p xmlns:a="http://schemas.openxmlformats.org/drawingml/2006/main">
            <a:r>
              <a:t/>
            </a:r>
          </a:p>
          <a:p xmlns:a="http://schemas.openxmlformats.org/drawingml/2006/main">
            <a:r>
              <a:t>The financial conclusion is conditional: a small prototype can be attempted within a limited cash ceiling, but a pilot's economic case depends on validated avoided purchases, unit costs and support requirements. A positive scenario is not a forecast, and no campus savings have been achieved by this project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ALI ALAWADHI</a:t>
            </a:r>
          </a:p>
          <a:p xmlns:a="http://schemas.openxmlformats.org/drawingml/2006/main">
            <a:r>
              <a:t/>
            </a:r>
          </a:p>
          <a:p xmlns:a="http://schemas.openxmlformats.org/drawingml/2006/main">
            <a:r>
              <a:t>5 Financial Analysis</a:t>
            </a:r>
          </a:p>
          <a:p xmlns:a="http://schemas.openxmlformats.org/drawingml/2006/main">
            <a:r>
              <a:t/>
            </a:r>
          </a:p>
          <a:p xmlns:a="http://schemas.openxmlformats.org/drawingml/2006/main">
            <a:r>
              <a:t>## Prototype cash and effort budget</a:t>
            </a:r>
          </a:p>
          <a:p xmlns:a="http://schemas.openxmlformats.org/drawingml/2006/main">
            <a:r>
              <a:t/>
            </a:r>
          </a:p>
          <a:p xmlns:a="http://schemas.openxmlformats.org/drawingml/2006/main">
            <a:r>
              <a:t>The cost estimate states scope and assumptions, separates cash expenditure from imputed labour, and tests sensitivity to transfer volume, unit benefit and additional hosting. The 180-hour estimate remains the provisional custom-development baseline. An adaptation decision requires a revised estimate covering configuration, extension, integration and maintenance; no saving from reused software is credited yet. Team hours, the labour valuation, transaction benefits and service allowances remain project assumptions until validated.</a:t>
            </a:r>
          </a:p>
          <a:p xmlns:a="http://schemas.openxmlformats.org/drawingml/2006/main">
            <a:r>
              <a:t/>
            </a:r>
          </a:p>
          <a:p xmlns:a="http://schemas.openxmlformats.org/drawingml/2006/main">
            <a:r>
              <a:t>The following amounts are proposed allowances in UAE dirhams, not supplier quotations, actual expenditure or an approved budget. Existing computers and internet access are assumed available. No new hardware or institutional integration is included. The team's time is counted separately so a low cash requirement is not mistaken for a cost-free project.</a:t>
            </a:r>
          </a:p>
          <a:p xmlns:a="http://schemas.openxmlformats.org/drawingml/2006/main">
            <a:r>
              <a:t/>
            </a:r>
          </a:p>
          <a:p xmlns:a="http://schemas.openxmlformats.org/drawingml/2006/main">
            <a:r>
              <a:t>| Prototype item | Proposed cash allowance in AED | Basis |</a:t>
            </a:r>
          </a:p>
          <a:p xmlns:a="http://schemas.openxmlformats.org/drawingml/2006/main">
            <a:r>
              <a:t>| --- | --- | --- |</a:t>
            </a:r>
          </a:p>
          <a:p xmlns:a="http://schemas.openxmlformats.org/drawingml/2006/main">
            <a:r>
              <a:t>| Existing computers and local open-source application tools | 0 incremental purchase | Reuse existing equipment; no dedicated GPU or paid database licence |</a:t>
            </a:r>
          </a:p>
          <a:p xmlns:a="http://schemas.openxmlformats.org/drawingml/2006/main">
            <a:r>
              <a:t>| Text-generation experiments | 150 | Spending ceiling across the development period; provider selection depends on fitting this limit |</a:t>
            </a:r>
          </a:p>
          <a:p xmlns:a="http://schemas.openxmlformats.org/drawingml/2006/main">
            <a:r>
              <a:t>| Optional short-term deployment or service testing | 100 | Allowance if a local demonstration is insufficient; not a quoted hosting plan |</a:t>
            </a:r>
          </a:p>
          <a:p xmlns:a="http://schemas.openxmlformats.org/drawingml/2006/main">
            <a:r>
              <a:t>| Backup media or incidental technical costs | 50 | Contingency allowance |</a:t>
            </a:r>
          </a:p>
          <a:p xmlns:a="http://schemas.openxmlformats.org/drawingml/2006/main">
            <a:r>
              <a:t>| Total prototype cash ceiling | 300 | Expenditure requires team agreement before purchase |</a:t>
            </a:r>
          </a:p>
          <a:p xmlns:a="http://schemas.openxmlformats.org/drawingml/2006/main">
            <a:r>
              <a:t/>
            </a:r>
          </a:p>
          <a:p xmlns:a="http://schemas.openxmlformats.org/drawingml/2006/main">
            <a:r>
              <a:t>Baseline development effort is 180 person-hours. At an illustrative valuation of AED 40 per hour, its economic value is AED 7,200. The hourly value is a sensitivity assumption, not a student wage or market salary. The 36-hour schedule reserve is outside the baseline; using all of it adds AED 1,440 to the imputed development cost. Actual cash payments for student time are not assumed.</a:t>
            </a:r>
          </a:p>
          <a:p xmlns:a="http://schemas.openxmlformats.org/drawingml/2006/main">
            <a:r>
              <a:t/>
            </a:r>
          </a:p>
          <a:p xmlns:a="http://schemas.openxmlformats.org/drawingml/2006/main">
            <a:r>
              <a:t>## Illustrative first year pilot economics</a:t>
            </a:r>
          </a:p>
          <a:p xmlns:a="http://schemas.openxmlformats.org/drawingml/2006/main">
            <a:r>
              <a:t/>
            </a:r>
          </a:p>
          <a:p xmlns:a="http://schemas.openxmlformats.org/drawingml/2006/main">
            <a:r>
              <a:t>This scenario asks whether reuse benefits in the first 12 months of pilot operation could cover upfront development and that year's running costs. It is separate from the semester cash budget and does not establish production funding. The base case assumes local hosting on existing equipment at no additional server charge; it excludes a new production server, institutional integration and extensive support. Such additions would require a new business case.</a:t>
            </a:r>
          </a:p>
          <a:p xmlns:a="http://schemas.openxmlformats.org/drawingml/2006/main">
            <a:r>
              <a:t/>
            </a:r>
          </a:p>
          <a:p xmlns:a="http://schemas.openxmlformats.org/drawingml/2006/main">
            <a:r>
              <a:t>| Cost component | Assumption | First year economic cost in AED |</a:t>
            </a:r>
          </a:p>
          <a:p xmlns:a="http://schemas.openxmlformats.org/drawingml/2006/main">
            <a:r>
              <a:t>| --- | --- | --- |</a:t>
            </a:r>
          </a:p>
          <a:p xmlns:a="http://schemas.openxmlformats.org/drawingml/2006/main">
            <a:r>
              <a:t>| Development time | 180 hours at AED 40 per hour | 7,200 |</a:t>
            </a:r>
          </a:p>
          <a:p xmlns:a="http://schemas.openxmlformats.org/drawingml/2006/main">
            <a:r>
              <a:t>| Initial prototype cash allowance | Full ceiling treated as spent | 300 |</a:t>
            </a:r>
          </a:p>
          <a:p xmlns:a="http://schemas.openxmlformats.org/drawingml/2006/main">
            <a:r>
              <a:t>| Pilot AI and ancillary services | AED 50 per month for 12 months; existing host | 600 |</a:t>
            </a:r>
          </a:p>
          <a:p xmlns:a="http://schemas.openxmlformats.org/drawingml/2006/main">
            <a:r>
              <a:t>| Pilot backup allowance | AED 5 per month for 12 months | 60 |</a:t>
            </a:r>
          </a:p>
          <a:p xmlns:a="http://schemas.openxmlformats.org/drawingml/2006/main">
            <a:r>
              <a:t>| Ongoing maintenance time | 2 hours per month for 12 months at AED 40 per hour | 960 |</a:t>
            </a:r>
          </a:p>
          <a:p xmlns:a="http://schemas.openxmlformats.org/drawingml/2006/main">
            <a:r>
              <a:t>| Total | Development, initial cash and one year of operation | 9,120 |</a:t>
            </a:r>
          </a:p>
          <a:p xmlns:a="http://schemas.openxmlformats.org/drawingml/2006/main">
            <a:r>
              <a:t/>
            </a:r>
          </a:p>
          <a:p xmlns:a="http://schemas.openxmlformats.org/drawingml/2006/main">
            <a:r>
              <a:t>The annual operating allowance is AED 1,620: AED 660 in services and backup plus AED 960 in maintenance effort. Including the initial AED 300, the first-year cash allowance is AED 960; the remaining AED 8,160 is imputed labour. The 24 pilot maintenance hours are additional to the semester development capacity. Two maintenance hours per month are a limited pilot assumption covering dependency checks, backup review and minor support. Actual support demand may be higher. Monetary benefits will be counted only where a completed reuse event avoids a purchase that would otherwise occur.</a:t>
            </a:r>
          </a:p>
          <a:p xmlns:a="http://schemas.openxmlformats.org/drawingml/2006/main">
            <a:r>
              <a:t/>
            </a:r>
          </a:p>
          <a:p xmlns:a="http://schemas.openxmlformats.org/drawingml/2006/main">
            <a:r>
              <a:t>For the illustrative unit benefit, the avoided replacement cost is AED 800, repair costs are AED 150 and transfer costs are AED 50. The net avoided cost is therefore AED 600 per qualifying event. Repair and transfer costs are deducted here and are not deducted again in the operating budget. A transfer without an avoided purchase may have reuse value, but it does not receive this financial benefit automatically.</a:t>
            </a:r>
          </a:p>
          <a:p xmlns:a="http://schemas.openxmlformats.org/drawingml/2006/main">
            <a:r>
              <a:t/>
            </a:r>
          </a:p>
          <a:p xmlns:a="http://schemas.openxmlformats.org/drawingml/2006/main">
            <a:r>
              <a:t>## Estimated benefits ROI and sensitivity</a:t>
            </a:r>
          </a:p>
          <a:p xmlns:a="http://schemas.openxmlformats.org/drawingml/2006/main">
            <a:r>
              <a:t/>
            </a:r>
          </a:p>
          <a:p xmlns:a="http://schemas.openxmlformats.org/drawingml/2006/main">
            <a:r>
              <a:t>The illustrative benefit estimate is AED 12,000 over 12 months: 20 qualifying transfers multiplied by (AED 800 avoided replacement cost minus AED 150 repair cost minus AED 50 transfer cost). This is net of those event costs but before the AED 9,120 development and operating cost. The resulting first-year surplus is AED 2,880. The inputs and transfer count are assumptions, not KU observations or supplier quotations. Better custody traceability and easier discovery are additional intended benefits; no percentage time saving or environmental reduction is claimed without a measured baseline.</a:t>
            </a:r>
          </a:p>
          <a:p xmlns:a="http://schemas.openxmlformats.org/drawingml/2006/main">
            <a:r>
              <a:t/>
            </a:r>
          </a:p>
          <a:p xmlns:a="http://schemas.openxmlformats.org/drawingml/2006/main">
            <a:r>
              <a:t>First-year ROI is calculated as the annual net avoided cost minus AED 9,120, divided by AED 9,120 and expressed as a percentage. The denominator includes imputed development and maintenance time. Environmental benefits and staff time savings are not monetized in this model.</a:t>
            </a:r>
          </a:p>
          <a:p xmlns:a="http://schemas.openxmlformats.org/drawingml/2006/main">
            <a:r>
              <a:t/>
            </a:r>
          </a:p>
          <a:p xmlns:a="http://schemas.openxmlformats.org/drawingml/2006/main">
            <a:r>
              <a:t>| Annual qualifying transfers | Net avoided cost in AED | First year surplus or loss in AED | First year ROI |</a:t>
            </a:r>
          </a:p>
          <a:p xmlns:a="http://schemas.openxmlformats.org/drawingml/2006/main">
            <a:r>
              <a:t>| --- | --- | --- | --- |</a:t>
            </a:r>
          </a:p>
          <a:p xmlns:a="http://schemas.openxmlformats.org/drawingml/2006/main">
            <a:r>
              <a:t>| 10 | 6,000 | -3,120 | -34.2% |</a:t>
            </a:r>
          </a:p>
          <a:p xmlns:a="http://schemas.openxmlformats.org/drawingml/2006/main">
            <a:r>
              <a:t>| 20 | 12,000 | 2,880 | 31.6% |</a:t>
            </a:r>
          </a:p>
          <a:p xmlns:a="http://schemas.openxmlformats.org/drawingml/2006/main">
            <a:r>
              <a:t>| 30 | 18,000 | 8,880 | 97.4% |</a:t>
            </a:r>
          </a:p>
          <a:p xmlns:a="http://schemas.openxmlformats.org/drawingml/2006/main">
            <a:r>
              <a:t/>
            </a:r>
          </a:p>
          <a:p xmlns:a="http://schemas.openxmlformats.org/drawingml/2006/main">
            <a:r>
              <a:t>At AED 600 per event, 15 transfers provide AED 9,000 and fall short of the AED 9,120 cost. A minimum of 16 qualifying transfers is therefore required for first-year break-even. If the net benefit is only AED 300 per event, the threshold rises to 31 transfers. If all 36 reserve hours are used, the first-year cost rises to AED 10,560, the 20-transfer ROI falls to 13.6%, and break-even requires 18 transfers.</a:t>
            </a:r>
          </a:p>
          <a:p xmlns:a="http://schemas.openxmlformats.org/drawingml/2006/main">
            <a:r>
              <a:t/>
            </a:r>
          </a:p>
          <a:p xmlns:a="http://schemas.openxmlformats.org/drawingml/2006/main">
            <a:r>
              <a:t>## Published hosting benchmark</a:t>
            </a:r>
          </a:p>
          <a:p xmlns:a="http://schemas.openxmlformats.org/drawingml/2006/main">
            <a:r>
              <a:t/>
            </a:r>
          </a:p>
          <a:p xmlns:a="http://schemas.openxmlformats.org/drawingml/2006/main">
            <a:r>
              <a:t>As checked on 28 September 2026, DigitalOcean lists a Basic Regular shared-CPU server with 8 GiB memory, 4 vCPUs and 160 GiB SSD at USD 48 per month [5]. This is a price benchmark, not a selected supplier or proof of equivalent performance to the proposed local computer. Using AED 3.6725 per USD from the Central Bank of the UAE's published exchange-rate table [6], the benchmark is AED 176.28 per month or AED 2,115.36 for 12 months. The conversion excludes payment fees, taxes, separately charged services and any additional support.</a:t>
            </a:r>
          </a:p>
          <a:p xmlns:a="http://schemas.openxmlformats.org/drawingml/2006/main">
            <a:r>
              <a:t/>
            </a:r>
          </a:p>
          <a:p xmlns:a="http://schemas.openxmlformats.org/drawingml/2006/main">
            <a:r>
              <a:t>If that server is added while retaining the base case's AED 600 annual AI and ancillary-service allowance and other costs, the first-year economic cost rises from AED 9,120 to AED 11,235.36. At 20 qualifying transfers, the surplus falls to AED 764.64 and ROI to 6.8%; break-even requires 19 transfers at AED 600 each. These are calculated sensitivities, not a complete production quotation. The paid-server cost alone exceeds the AED 50 monthly service allowance. A live pilot requires a fresh hosting, backup and support budget.</a:t>
            </a:r>
          </a:p>
          <a:p xmlns:a="http://schemas.openxmlformats.org/drawingml/2006/main">
            <a:r>
              <a:t/>
            </a:r>
          </a:p>
          <a:p xmlns:a="http://schemas.openxmlformats.org/drawingml/2006/main">
            <a:r>
              <a:t>The financial conclusion is conditional: a small prototype can be attempted within a limited cash ceiling, but a pilot's economic case depends on validated avoided purchases, unit costs and support requirements. A positive scenario is not a forecast, and no campus savings have been achieved by this project yet.</a:t>
            </a:r>
          </a:p>
          <a:p xmlns:a="http://schemas.openxmlformats.org/drawingml/2006/main">
            <a:r>
              <a:t/>
            </a:r>
          </a:p>
          <a:p xmlns:a="http://schemas.openxmlformats.org/drawingml/2006/main">
            <a:r>
              <a:t>References</a:t>
            </a:r>
          </a:p>
          <a:p xmlns:a="http://schemas.openxmlformats.org/drawingml/2006/main">
            <a:r>
              <a:t/>
            </a:r>
          </a:p>
          <a:p xmlns:a="http://schemas.openxmlformats.org/drawingml/2006/main">
            <a:r>
              <a:t>[5] DigitalOcean, “Droplet pricing.” Accessed: Sep. 28, 2026. [Online]. Available: https://www.digitalocean.com/pricing/droplets</a:t>
            </a:r>
          </a:p>
          <a:p xmlns:a="http://schemas.openxmlformats.org/drawingml/2006/main">
            <a:r>
              <a:t/>
            </a:r>
          </a:p>
          <a:p xmlns:a="http://schemas.openxmlformats.org/drawingml/2006/main">
            <a:r>
              <a:t>[6] Central Bank of the United Arab Emirates, “Exchange rates against UAE Dirham for VAT related obligations.” Accessed: Sep. 28, 2026. [Online]. Available: https://centralbank.ae/umbraco/Surface/Exchange/GetExchangeRateAllCurrency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HUMAID AL ALI</a:t>
            </a:r>
          </a:p>
          <a:p xmlns:a="http://schemas.openxmlformats.org/drawingml/2006/main">
            <a:r>
              <a:t/>
            </a:r>
          </a:p>
          <a:p xmlns:a="http://schemas.openxmlformats.org/drawingml/2006/main">
            <a:r>
              <a:t>6 Legal Regulatory and Ethical Analysis</a:t>
            </a:r>
          </a:p>
          <a:p xmlns:a="http://schemas.openxmlformats.org/drawingml/2006/main">
            <a:r>
              <a:t/>
            </a:r>
          </a:p>
          <a:p xmlns:a="http://schemas.openxmlformats.org/drawingml/2006/main">
            <a:r>
              <a:t>## Privacy and data authorization</a:t>
            </a:r>
          </a:p>
          <a:p xmlns:a="http://schemas.openxmlformats.org/drawingml/2006/main">
            <a:r>
              <a:t/>
            </a:r>
          </a:p>
          <a:p xmlns:a="http://schemas.openxmlformats.org/drawingml/2006/main">
            <a:r>
              <a:t>Names, account identifiers, staff responsibilities and request histories can be personal or confidential information. The prototype will use fictional operational data and will not import university accounts, purchase records or asset files without authorization. Real personal records, credentials and service keys must not enter the shared source repository or an external AI prompt.</a:t>
            </a:r>
          </a:p>
          <a:p xmlns:a="http://schemas.openxmlformats.org/drawingml/2006/main">
            <a:r>
              <a:t/>
            </a:r>
          </a:p>
          <a:p xmlns:a="http://schemas.openxmlformats.org/drawingml/2006/main">
            <a:r>
              <a:t>The UAE Personal Data Protection Law, Federal Decree-Law No. 45 of 2021, is relevant to a privacy review, but its scope contains exclusions, including government data and processing by governmental entities under Article 2 [7]. The applicable regime cannot be determined solely from the project's university setting. Before a live pilot, the university's authorized legal and data-governance staff must confirm applicable rules, permitted purposes, retention periods, access rights and any cross-border processing. This study is a feasibility screening, not a finding of legal compliance.</a:t>
            </a:r>
          </a:p>
          <a:p xmlns:a="http://schemas.openxmlformats.org/drawingml/2006/main">
            <a:r>
              <a:t/>
            </a:r>
          </a:p>
          <a:p xmlns:a="http://schemas.openxmlformats.org/drawingml/2006/main">
            <a:r>
              <a:t>Proposed controls are minimum-necessary fields, role and department restrictions, separate credentials, encrypted network connections for remote access and a documented process for deleting or correcting authorized personal records. Any external AI service requires review of its data retention, training use and processing location before real data are transmitted. Articles 5, 15 and 22–23 address processing controls, correction or erasure and cross-border transfers respectively [7]; their applicability must be confirmed before deployment. Until that review, AI experiments will use synthetic inputs only.</a:t>
            </a:r>
          </a:p>
          <a:p xmlns:a="http://schemas.openxmlformats.org/drawingml/2006/main">
            <a:r>
              <a:t/>
            </a:r>
          </a:p>
          <a:p xmlns:a="http://schemas.openxmlformats.org/drawingml/2006/main">
            <a:r>
              <a:t>## Intellectual property ownership and safety</a:t>
            </a:r>
          </a:p>
          <a:p xmlns:a="http://schemas.openxmlformats.org/drawingml/2006/main">
            <a:r>
              <a:t/>
            </a:r>
          </a:p>
          <a:p xmlns:a="http://schemas.openxmlformats.org/drawingml/2006/main">
            <a:r>
              <a:t>The IP review will cover source code, third-party libraries, model licences, photographs and uploaded documents. The UAE copyright framework includes Federal Decree-Law No. 38 of 2021 [8]. The team will retain applicable licence notices and use only images or documents it owns or has permission to use. An open-source dependency does not make every accompanying dataset or uploaded image unrestricted.</a:t>
            </a:r>
          </a:p>
          <a:p xmlns:a="http://schemas.openxmlformats.org/drawingml/2006/main">
            <a:r>
              <a:t/>
            </a:r>
          </a:p>
          <a:p xmlns:a="http://schemas.openxmlformats.org/drawingml/2006/main">
            <a:r>
              <a:t>| Constraint | Project control | Condition before a live pilot |</a:t>
            </a:r>
          </a:p>
          <a:p xmlns:a="http://schemas.openxmlformats.org/drawingml/2006/main">
            <a:r>
              <a:t>| --- | --- | --- |</a:t>
            </a:r>
          </a:p>
          <a:p xmlns:a="http://schemas.openxmlformats.org/drawingml/2006/main">
            <a:r>
              <a:t>| Asset ownership and procurement authority | Separate software access from permission to transfer, donate or dispose | Written approval rules and named institutional decision makers |</a:t>
            </a:r>
          </a:p>
          <a:p xmlns:a="http://schemas.openxmlformats.org/drawingml/2006/main">
            <a:r>
              <a:t>| Software and model licensing | Maintain a dependency and licence record; check the selected model and service terms | All distributed components and inputs have compatible permissions |</a:t>
            </a:r>
          </a:p>
          <a:p xmlns:a="http://schemas.openxmlformats.org/drawingml/2006/main">
            <a:r>
              <a:t>| Laboratory and electrical safety | Block unserviceable assets from working-resource matches; require qualified inspection where applicable | Safety review before an asset is released for physical use |</a:t>
            </a:r>
          </a:p>
          <a:p xmlns:a="http://schemas.openxmlformats.org/drawingml/2006/main">
            <a:r>
              <a:t>| AI accountability | Show supporting factors and uncertainty; require human decisions | No automatic disposal, approval or unreviewed change of custody |</a:t>
            </a:r>
          </a:p>
          <a:p xmlns:a="http://schemas.openxmlformats.org/drawingml/2006/main">
            <a:r>
              <a:t>| Security and confidentiality | Test permission boundaries and review repository contents | No unresolved critical access defect or exposed credential |</a:t>
            </a:r>
          </a:p>
          <a:p xmlns:a="http://schemas.openxmlformats.org/drawingml/2006/main">
            <a:r>
              <a:t/>
            </a:r>
          </a:p>
          <a:p xmlns:a="http://schemas.openxmlformats.org/drawingml/2006/main">
            <a:r>
              <a:t>Legal and ethical feasibility is acceptable for a synthetic-data classroom demonstration under these controls. Institutional deployment remains conditional on university authorization and specialist review.</a:t>
            </a:r>
          </a:p>
          <a:p xmlns:a="http://schemas.openxmlformats.org/drawingml/2006/main">
            <a:r>
              <a:t/>
            </a:r>
          </a:p>
          <a:p xmlns:a="http://schemas.openxmlformats.org/drawingml/2006/main">
            <a:r>
              <a:t>References</a:t>
            </a:r>
          </a:p>
          <a:p xmlns:a="http://schemas.openxmlformats.org/drawingml/2006/main">
            <a:r>
              <a:t/>
            </a:r>
          </a:p>
          <a:p xmlns:a="http://schemas.openxmlformats.org/drawingml/2006/main">
            <a:r>
              <a:t>[7] United Arab Emirates, “Federal Decree by Law No. (45) of 2021 Concerning the Protection of Personal Data,” UAE Legislation, 2021, arts. 2, 5, 15, 22–23. Accessed: Sep. 28, 2026. [Online]. Available: https://uaelegislation.gov.ae/en/legislations/1972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HUMAID AL ALI</a:t>
            </a:r>
          </a:p>
          <a:p xmlns:a="http://schemas.openxmlformats.org/drawingml/2006/main">
            <a:r>
              <a:t/>
            </a:r>
          </a:p>
          <a:p xmlns:a="http://schemas.openxmlformats.org/drawingml/2006/main">
            <a:r>
              <a:t>6 Legal Regulatory and Ethical Analysis</a:t>
            </a:r>
          </a:p>
          <a:p xmlns:a="http://schemas.openxmlformats.org/drawingml/2006/main">
            <a:r>
              <a:t/>
            </a:r>
          </a:p>
          <a:p xmlns:a="http://schemas.openxmlformats.org/drawingml/2006/main">
            <a:r>
              <a:t>## Privacy and data authorization</a:t>
            </a:r>
          </a:p>
          <a:p xmlns:a="http://schemas.openxmlformats.org/drawingml/2006/main">
            <a:r>
              <a:t/>
            </a:r>
          </a:p>
          <a:p xmlns:a="http://schemas.openxmlformats.org/drawingml/2006/main">
            <a:r>
              <a:t>Names, account identifiers, staff responsibilities and request histories can be personal or confidential information. The prototype will use fictional operational data and will not import university accounts, purchase records or asset files without authorization. Real personal records, credentials and service keys must not enter the shared source repository or an external AI prompt.</a:t>
            </a:r>
          </a:p>
          <a:p xmlns:a="http://schemas.openxmlformats.org/drawingml/2006/main">
            <a:r>
              <a:t/>
            </a:r>
          </a:p>
          <a:p xmlns:a="http://schemas.openxmlformats.org/drawingml/2006/main">
            <a:r>
              <a:t>The UAE Personal Data Protection Law, Federal Decree-Law No. 45 of 2021, is relevant to a privacy review, but its scope contains exclusions, including government data and processing by governmental entities under Article 2 [7]. The applicable regime cannot be determined solely from the project's university setting. Before a live pilot, the university's authorized legal and data-governance staff must confirm applicable rules, permitted purposes, retention periods, access rights and any cross-border processing. This study is a feasibility screening, not a finding of legal compliance.</a:t>
            </a:r>
          </a:p>
          <a:p xmlns:a="http://schemas.openxmlformats.org/drawingml/2006/main">
            <a:r>
              <a:t/>
            </a:r>
          </a:p>
          <a:p xmlns:a="http://schemas.openxmlformats.org/drawingml/2006/main">
            <a:r>
              <a:t>Proposed controls are minimum-necessary fields, role and department restrictions, separate credentials, encrypted network connections for remote access and a documented process for deleting or correcting authorized personal records. Any external AI service requires review of its data retention, training use and processing location before real data are transmitted. Articles 5, 15 and 22–23 address processing controls, correction or erasure and cross-border transfers respectively [7]; their applicability must be confirmed before deployment. Until that review, AI experiments will use synthetic inputs only.</a:t>
            </a:r>
          </a:p>
          <a:p xmlns:a="http://schemas.openxmlformats.org/drawingml/2006/main">
            <a:r>
              <a:t/>
            </a:r>
          </a:p>
          <a:p xmlns:a="http://schemas.openxmlformats.org/drawingml/2006/main">
            <a:r>
              <a:t>## Intellectual property ownership and safety</a:t>
            </a:r>
          </a:p>
          <a:p xmlns:a="http://schemas.openxmlformats.org/drawingml/2006/main">
            <a:r>
              <a:t/>
            </a:r>
          </a:p>
          <a:p xmlns:a="http://schemas.openxmlformats.org/drawingml/2006/main">
            <a:r>
              <a:t>The IP review will cover source code, third-party libraries, model licences, photographs and uploaded documents. The UAE copyright framework includes Federal Decree-Law No. 38 of 2021 [8]. The team will retain applicable licence notices and use only images or documents it owns or has permission to use. An open-source dependency does not make every accompanying dataset or uploaded image unrestricted.</a:t>
            </a:r>
          </a:p>
          <a:p xmlns:a="http://schemas.openxmlformats.org/drawingml/2006/main">
            <a:r>
              <a:t/>
            </a:r>
          </a:p>
          <a:p xmlns:a="http://schemas.openxmlformats.org/drawingml/2006/main">
            <a:r>
              <a:t>| Constraint | Project control | Condition before a live pilot |</a:t>
            </a:r>
          </a:p>
          <a:p xmlns:a="http://schemas.openxmlformats.org/drawingml/2006/main">
            <a:r>
              <a:t>| --- | --- | --- |</a:t>
            </a:r>
          </a:p>
          <a:p xmlns:a="http://schemas.openxmlformats.org/drawingml/2006/main">
            <a:r>
              <a:t>| Asset ownership and procurement authority | Separate software access from permission to transfer, donate or dispose | Written approval rules and named institutional decision makers |</a:t>
            </a:r>
          </a:p>
          <a:p xmlns:a="http://schemas.openxmlformats.org/drawingml/2006/main">
            <a:r>
              <a:t>| Software and model licensing | Maintain a dependency and licence record; check the selected model and service terms | All distributed components and inputs have compatible permissions |</a:t>
            </a:r>
          </a:p>
          <a:p xmlns:a="http://schemas.openxmlformats.org/drawingml/2006/main">
            <a:r>
              <a:t>| Laboratory and electrical safety | Block unserviceable assets from working-resource matches; require qualified inspection where applicable | Safety review before an asset is released for physical use |</a:t>
            </a:r>
          </a:p>
          <a:p xmlns:a="http://schemas.openxmlformats.org/drawingml/2006/main">
            <a:r>
              <a:t>| AI accountability | Show supporting factors and uncertainty; require human decisions | No automatic disposal, approval or unreviewed change of custody |</a:t>
            </a:r>
          </a:p>
          <a:p xmlns:a="http://schemas.openxmlformats.org/drawingml/2006/main">
            <a:r>
              <a:t>| Security and confidentiality | Test permission boundaries and review repository contents | No unresolved critical access defect or exposed credential |</a:t>
            </a:r>
          </a:p>
          <a:p xmlns:a="http://schemas.openxmlformats.org/drawingml/2006/main">
            <a:r>
              <a:t/>
            </a:r>
          </a:p>
          <a:p xmlns:a="http://schemas.openxmlformats.org/drawingml/2006/main">
            <a:r>
              <a:t>Legal and ethical feasibility is acceptable for a synthetic-data classroom demonstration under these controls. Institutional deployment remains conditional on university authorization and specialist review.</a:t>
            </a:r>
          </a:p>
          <a:p xmlns:a="http://schemas.openxmlformats.org/drawingml/2006/main">
            <a:r>
              <a:t/>
            </a:r>
          </a:p>
          <a:p xmlns:a="http://schemas.openxmlformats.org/drawingml/2006/main">
            <a:r>
              <a:t>References</a:t>
            </a:r>
          </a:p>
          <a:p xmlns:a="http://schemas.openxmlformats.org/drawingml/2006/main">
            <a:r>
              <a:t/>
            </a:r>
          </a:p>
          <a:p xmlns:a="http://schemas.openxmlformats.org/drawingml/2006/main">
            <a:r>
              <a:t>[8] World Intellectual Property Organization, “Federal Decree-Law No. 38 of 2021 on Copyrights and Neighboring Rights, United Arab Emirates,” WIPO Lex, record AE060, 2021. Accessed: Sep. 28, 2026. [Online]. Available: https://www.wipo.int/wipolex/en/legislation/details/21365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HUMAID AL ALI</a:t>
            </a:r>
          </a:p>
          <a:p xmlns:a="http://schemas.openxmlformats.org/drawingml/2006/main">
            <a:r>
              <a:t/>
            </a:r>
          </a:p>
          <a:p xmlns:a="http://schemas.openxmlformats.org/drawingml/2006/main">
            <a:r>
              <a:t>7 Risk Assessment and Contingencies</a:t>
            </a:r>
          </a:p>
          <a:p xmlns:a="http://schemas.openxmlformats.org/drawingml/2006/main">
            <a:r>
              <a:t/>
            </a:r>
          </a:p>
          <a:p xmlns:a="http://schemas.openxmlformats.org/drawingml/2006/main">
            <a:r>
              <a:t>The team will assign an owner to each risk and define an observable trigger and contingency. Matching and access tests will check unsafe recommendations and disclosure scenarios. Failed functions will be corrected or disabled before release, and owners will review unresolved risks against the next milestone. The numerical ratings below are the team's planning method.</a:t>
            </a:r>
          </a:p>
          <a:p xmlns:a="http://schemas.openxmlformats.org/drawingml/2006/main">
            <a:r>
              <a:t/>
            </a:r>
          </a:p>
          <a:p xmlns:a="http://schemas.openxmlformats.org/drawingml/2006/main">
            <a:r>
              <a:t>The following scores are planning judgements, not statistical probabilities. Likelihood is rated 1 for unlikely, 2 for plausible and 3 for likely. Impact is rated 1 for a small rework task, 2 for a threatened milestone and 3 for loss of required scope or unsafe data handling. The priority score is likelihood multiplied by impact. A score of 6 or 9 requires action before the affected milestone.</a:t>
            </a:r>
          </a:p>
          <a:p xmlns:a="http://schemas.openxmlformats.org/drawingml/2006/main">
            <a:r>
              <a:t/>
            </a:r>
          </a:p>
          <a:p xmlns:a="http://schemas.openxmlformats.org/drawingml/2006/main">
            <a:r>
              <a:t>| Risk and initial score | Observable trigger | Proposed owner | Contingency |</a:t>
            </a:r>
          </a:p>
          <a:p xmlns:a="http://schemas.openxmlformats.org/drawingml/2006/main">
            <a:r>
              <a:t>| --- | --- | --- | --- |</a:t>
            </a:r>
          </a:p>
          <a:p xmlns:a="http://schemas.openxmlformats.org/drawingml/2006/main">
            <a:r>
              <a:t>| Learning and integration effort exceeds plan 3 × 3 = 9 | The early end-to-end exercise exceeds its allocated effort or cannot run on the chosen computer | Saeed | Pair on the failing component, use reserve hours and revise the estimate before fixing the stack |</a:t>
            </a:r>
          </a:p>
          <a:p xmlns:a="http://schemas.openxmlformats.org/drawingml/2006/main">
            <a:r>
              <a:t>| Insufficient team availability 2 × 3 = 6 | Remaining capacity falls below remaining work plus a realistic defect allowance | All members | Reallocate tasks and simplify presentation or infrastructure work; seek approval for any change to required feature depth |</a:t>
            </a:r>
          </a:p>
          <a:p xmlns:a="http://schemas.openxmlformats.org/drawingml/2006/main">
            <a:r>
              <a:t>| Stakeholder research remains incomplete 3 × 2 = 6 | The 27 September initial target passed; no interviews were completed as of 28 September | Ali | Arrange direct consultations or seek TA approval for proxies; retain synthetic records and the conditional conclusion until evidence is obtained |</a:t>
            </a:r>
          </a:p>
          <a:p xmlns:a="http://schemas.openxmlformats.org/drawingml/2006/main">
            <a:r>
              <a:t>| AI recommendations are unsuitable 2 × 3 = 6 | Fewer than 16 of 20 requests meet the top-three target, or any negative eligibility case passes | Humaid | Fix mandatory filters, examine labels and compare alternatives without removing the baseline search |</a:t>
            </a:r>
          </a:p>
          <a:p xmlns:a="http://schemas.openxmlformats.org/drawingml/2006/main">
            <a:r>
              <a:t>| API cost or service failure 2 × 2 = 4 | Experimental spending reaches AED 120 of the AED 150 allowance, or the service fails | Humaid | Review usage before the ceiling; retain conventional functions and assess a compliant replacement |</a:t>
            </a:r>
          </a:p>
          <a:p xmlns:a="http://schemas.openxmlformats.org/drawingml/2006/main">
            <a:r>
              <a:t>| Unauthorized disclosure or access 2 × 3 = 6 | Any protected operation succeeds for an unauthorized role, or real confidential data appear in a test input | Ali | Stop the affected operation, remove the exposure and retest before release |</a:t>
            </a:r>
          </a:p>
          <a:p xmlns:a="http://schemas.openxmlformats.org/drawingml/2006/main">
            <a:r>
              <a:t>| Data inconsistency or overbooking 2 × 3 = 6 | Two concurrent requests reserve the same final item, or an interrupted transfer changes only part of the record | Saeed | Correct transaction handling and rerun concurrent and failure tests |</a:t>
            </a:r>
          </a:p>
          <a:p xmlns:a="http://schemas.openxmlformats.org/drawingml/2006/main">
            <a:r>
              <a:t>| Benefits are overstated 2 × 2 = 4 | A claimed saving lacks an avoided-purchase basis or a cost input | Humaid | Exclude the unsupported estimate and recalculate ROI from validated events |</a:t>
            </a:r>
          </a:p>
          <a:p xmlns:a="http://schemas.openxmlformats.org/drawingml/2006/main">
            <a:r>
              <a:t/>
            </a:r>
          </a:p>
          <a:p xmlns:a="http://schemas.openxmlformats.org/drawingml/2006/main">
            <a:r>
              <a:t>Owners and ratings are proposed. The stakeholder-research gap is already present; the other triggers describe risks to monitor. Risks will be reviewed weekly against actual hours, defects and the next deliverable. A failed privacy or authorization check prevents a live pilot regardless of the total risk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HUMAID AL ALI</a:t>
            </a:r>
          </a:p>
          <a:p xmlns:a="http://schemas.openxmlformats.org/drawingml/2006/main">
            <a:r>
              <a:t/>
            </a:r>
          </a:p>
          <a:p xmlns:a="http://schemas.openxmlformats.org/drawingml/2006/main">
            <a:r>
              <a:t>7 Risk Assessment and Contingencies</a:t>
            </a:r>
          </a:p>
          <a:p xmlns:a="http://schemas.openxmlformats.org/drawingml/2006/main">
            <a:r>
              <a:t/>
            </a:r>
          </a:p>
          <a:p xmlns:a="http://schemas.openxmlformats.org/drawingml/2006/main">
            <a:r>
              <a:t>The team will assign an owner to each risk and define an observable trigger and contingency. Matching and access tests will check unsafe recommendations and disclosure scenarios. Failed functions will be corrected or disabled before release, and owners will review unresolved risks against the next milestone. The numerical ratings below are the team's planning method.</a:t>
            </a:r>
          </a:p>
          <a:p xmlns:a="http://schemas.openxmlformats.org/drawingml/2006/main">
            <a:r>
              <a:t/>
            </a:r>
          </a:p>
          <a:p xmlns:a="http://schemas.openxmlformats.org/drawingml/2006/main">
            <a:r>
              <a:t>The following scores are planning judgements, not statistical probabilities. Likelihood is rated 1 for unlikely, 2 for plausible and 3 for likely. Impact is rated 1 for a small rework task, 2 for a threatened milestone and 3 for loss of required scope or unsafe data handling. The priority score is likelihood multiplied by impact. A score of 6 or 9 requires action before the affected milestone.</a:t>
            </a:r>
          </a:p>
          <a:p xmlns:a="http://schemas.openxmlformats.org/drawingml/2006/main">
            <a:r>
              <a:t/>
            </a:r>
          </a:p>
          <a:p xmlns:a="http://schemas.openxmlformats.org/drawingml/2006/main">
            <a:r>
              <a:t>| Risk and initial score | Observable trigger | Proposed owner | Contingency |</a:t>
            </a:r>
          </a:p>
          <a:p xmlns:a="http://schemas.openxmlformats.org/drawingml/2006/main">
            <a:r>
              <a:t>| --- | --- | --- | --- |</a:t>
            </a:r>
          </a:p>
          <a:p xmlns:a="http://schemas.openxmlformats.org/drawingml/2006/main">
            <a:r>
              <a:t>| Learning and integration effort exceeds plan 3 × 3 = 9 | The early end-to-end exercise exceeds its allocated effort or cannot run on the chosen computer | Saeed | Pair on the failing component, use reserve hours and revise the estimate before fixing the stack |</a:t>
            </a:r>
          </a:p>
          <a:p xmlns:a="http://schemas.openxmlformats.org/drawingml/2006/main">
            <a:r>
              <a:t>| Insufficient team availability 2 × 3 = 6 | Remaining capacity falls below remaining work plus a realistic defect allowance | All members | Reallocate tasks and simplify presentation or infrastructure work; seek approval for any change to required feature depth |</a:t>
            </a:r>
          </a:p>
          <a:p xmlns:a="http://schemas.openxmlformats.org/drawingml/2006/main">
            <a:r>
              <a:t>| Stakeholder research remains incomplete 3 × 2 = 6 | The 27 September initial target passed; no interviews were completed as of 28 September | Ali | Arrange direct consultations or seek TA approval for proxies; retain synthetic records and the conditional conclusion until evidence is obtained |</a:t>
            </a:r>
          </a:p>
          <a:p xmlns:a="http://schemas.openxmlformats.org/drawingml/2006/main">
            <a:r>
              <a:t>| AI recommendations are unsuitable 2 × 3 = 6 | Fewer than 16 of 20 requests meet the top-three target, or any negative eligibility case passes | Humaid | Fix mandatory filters, examine labels and compare alternatives without removing the baseline search |</a:t>
            </a:r>
          </a:p>
          <a:p xmlns:a="http://schemas.openxmlformats.org/drawingml/2006/main">
            <a:r>
              <a:t>| API cost or service failure 2 × 2 = 4 | Experimental spending reaches AED 120 of the AED 150 allowance, or the service fails | Humaid | Review usage before the ceiling; retain conventional functions and assess a compliant replacement |</a:t>
            </a:r>
          </a:p>
          <a:p xmlns:a="http://schemas.openxmlformats.org/drawingml/2006/main">
            <a:r>
              <a:t>| Unauthorized disclosure or access 2 × 3 = 6 | Any protected operation succeeds for an unauthorized role, or real confidential data appear in a test input | Ali | Stop the affected operation, remove the exposure and retest before release |</a:t>
            </a:r>
          </a:p>
          <a:p xmlns:a="http://schemas.openxmlformats.org/drawingml/2006/main">
            <a:r>
              <a:t>| Data inconsistency or overbooking 2 × 3 = 6 | Two concurrent requests reserve the same final item, or an interrupted transfer changes only part of the record | Saeed | Correct transaction handling and rerun concurrent and failure tests |</a:t>
            </a:r>
          </a:p>
          <a:p xmlns:a="http://schemas.openxmlformats.org/drawingml/2006/main">
            <a:r>
              <a:t>| Benefits are overstated 2 × 2 = 4 | A claimed saving lacks an avoided-purchase basis or a cost input | Humaid | Exclude the unsupported estimate and recalculate ROI from validated events |</a:t>
            </a:r>
          </a:p>
          <a:p xmlns:a="http://schemas.openxmlformats.org/drawingml/2006/main">
            <a:r>
              <a:t/>
            </a:r>
          </a:p>
          <a:p xmlns:a="http://schemas.openxmlformats.org/drawingml/2006/main">
            <a:r>
              <a:t>Owners and ratings are proposed. The stakeholder-research gap is already present; the other triggers describe risks to monitor. Risks will be reviewed weekly against actual hours, defects and the next deliverable. A failed privacy or authorization check prevents a live pilot regardless of the total risk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HUMAID AL ALI</a:t>
            </a:r>
          </a:p>
          <a:p xmlns:a="http://schemas.openxmlformats.org/drawingml/2006/main">
            <a:r>
              <a:t/>
            </a:r>
          </a:p>
          <a:p xmlns:a="http://schemas.openxmlformats.org/drawingml/2006/main">
            <a:r>
              <a:t>7 Risk Assessment and Contingencies</a:t>
            </a:r>
          </a:p>
          <a:p xmlns:a="http://schemas.openxmlformats.org/drawingml/2006/main">
            <a:r>
              <a:t/>
            </a:r>
          </a:p>
          <a:p xmlns:a="http://schemas.openxmlformats.org/drawingml/2006/main">
            <a:r>
              <a:t>The team will assign an owner to each risk and define an observable trigger and contingency. Matching and access tests will check unsafe recommendations and disclosure scenarios. Failed functions will be corrected or disabled before release, and owners will review unresolved risks against the next milestone. The numerical ratings below are the team's planning method.</a:t>
            </a:r>
          </a:p>
          <a:p xmlns:a="http://schemas.openxmlformats.org/drawingml/2006/main">
            <a:r>
              <a:t/>
            </a:r>
          </a:p>
          <a:p xmlns:a="http://schemas.openxmlformats.org/drawingml/2006/main">
            <a:r>
              <a:t>The following scores are planning judgements, not statistical probabilities. Likelihood is rated 1 for unlikely, 2 for plausible and 3 for likely. Impact is rated 1 for a small rework task, 2 for a threatened milestone and 3 for loss of required scope or unsafe data handling. The priority score is likelihood multiplied by impact. A score of 6 or 9 requires action before the affected milestone.</a:t>
            </a:r>
          </a:p>
          <a:p xmlns:a="http://schemas.openxmlformats.org/drawingml/2006/main">
            <a:r>
              <a:t/>
            </a:r>
          </a:p>
          <a:p xmlns:a="http://schemas.openxmlformats.org/drawingml/2006/main">
            <a:r>
              <a:t>| Risk and initial score | Observable trigger | Proposed owner | Contingency |</a:t>
            </a:r>
          </a:p>
          <a:p xmlns:a="http://schemas.openxmlformats.org/drawingml/2006/main">
            <a:r>
              <a:t>| --- | --- | --- | --- |</a:t>
            </a:r>
          </a:p>
          <a:p xmlns:a="http://schemas.openxmlformats.org/drawingml/2006/main">
            <a:r>
              <a:t>| Learning and integration effort exceeds plan 3 × 3 = 9 | The early end-to-end exercise exceeds its allocated effort or cannot run on the chosen computer | Saeed | Pair on the failing component, use reserve hours and revise the estimate before fixing the stack |</a:t>
            </a:r>
          </a:p>
          <a:p xmlns:a="http://schemas.openxmlformats.org/drawingml/2006/main">
            <a:r>
              <a:t>| Insufficient team availability 2 × 3 = 6 | Remaining capacity falls below remaining work plus a realistic defect allowance | All members | Reallocate tasks and simplify presentation or infrastructure work; seek approval for any change to required feature depth |</a:t>
            </a:r>
          </a:p>
          <a:p xmlns:a="http://schemas.openxmlformats.org/drawingml/2006/main">
            <a:r>
              <a:t>| Stakeholder research remains incomplete 3 × 2 = 6 | The 27 September initial target passed; no interviews were completed as of 28 September | Ali | Arrange direct consultations or seek TA approval for proxies; retain synthetic records and the conditional conclusion until evidence is obtained |</a:t>
            </a:r>
          </a:p>
          <a:p xmlns:a="http://schemas.openxmlformats.org/drawingml/2006/main">
            <a:r>
              <a:t>| AI recommendations are unsuitable 2 × 3 = 6 | Fewer than 16 of 20 requests meet the top-three target, or any negative eligibility case passes | Humaid | Fix mandatory filters, examine labels and compare alternatives without removing the baseline search |</a:t>
            </a:r>
          </a:p>
          <a:p xmlns:a="http://schemas.openxmlformats.org/drawingml/2006/main">
            <a:r>
              <a:t>| API cost or service failure 2 × 2 = 4 | Experimental spending reaches AED 120 of the AED 150 allowance, or the service fails | Humaid | Review usage before the ceiling; retain conventional functions and assess a compliant replacement |</a:t>
            </a:r>
          </a:p>
          <a:p xmlns:a="http://schemas.openxmlformats.org/drawingml/2006/main">
            <a:r>
              <a:t>| Unauthorized disclosure or access 2 × 3 = 6 | Any protected operation succeeds for an unauthorized role, or real confidential data appear in a test input | Ali | Stop the affected operation, remove the exposure and retest before release |</a:t>
            </a:r>
          </a:p>
          <a:p xmlns:a="http://schemas.openxmlformats.org/drawingml/2006/main">
            <a:r>
              <a:t>| Data inconsistency or overbooking 2 × 3 = 6 | Two concurrent requests reserve the same final item, or an interrupted transfer changes only part of the record | Saeed | Correct transaction handling and rerun concurrent and failure tests |</a:t>
            </a:r>
          </a:p>
          <a:p xmlns:a="http://schemas.openxmlformats.org/drawingml/2006/main">
            <a:r>
              <a:t>| Benefits are overstated 2 × 2 = 4 | A claimed saving lacks an avoided-purchase basis or a cost input | Humaid | Exclude the unsupported estimate and recalculate ROI from validated events |</a:t>
            </a:r>
          </a:p>
          <a:p xmlns:a="http://schemas.openxmlformats.org/drawingml/2006/main">
            <a:r>
              <a:t/>
            </a:r>
          </a:p>
          <a:p xmlns:a="http://schemas.openxmlformats.org/drawingml/2006/main">
            <a:r>
              <a:t>Owners and ratings are proposed. The stakeholder-research gap is already present; the other triggers describe risks to monitor. Risks will be reviewed weekly against actual hours, defects and the next deliverable. A failed privacy or authorization check prevents a live pilot regardless of the total risk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HUMAID AL ALI</a:t>
            </a:r>
          </a:p>
          <a:p xmlns:a="http://schemas.openxmlformats.org/drawingml/2006/main">
            <a:r>
              <a:t/>
            </a:r>
          </a:p>
          <a:p xmlns:a="http://schemas.openxmlformats.org/drawingml/2006/main">
            <a:r>
              <a:t>8 Project Schedule and Resources</a:t>
            </a:r>
          </a:p>
          <a:p xmlns:a="http://schemas.openxmlformats.org/drawingml/2006/main">
            <a:r>
              <a:t/>
            </a:r>
          </a:p>
          <a:p xmlns:a="http://schemas.openxmlformats.org/drawingml/2006/main">
            <a:r>
              <a:t>## Capacity and milestones</a:t>
            </a:r>
          </a:p>
          <a:p xmlns:a="http://schemas.openxmlformats.org/drawingml/2006/main">
            <a:r>
              <a:t/>
            </a:r>
          </a:p>
          <a:p xmlns:a="http://schemas.openxmlformats.org/drawingml/2006/main">
            <a:r>
              <a:t>The milestone baseline follows slide 2 of the supplied Phase 2 feasibility-study presentation, as directed by the TA. The later one-week Phase 2 extension is applied separately. The older tentative timetable in the full project brief is not the scheduling baseline. The slide milestones specify lab weeks; the confirmed online Phase 2 deadline is stated below. Capacity and hour allocations remain team assumptions.</a:t>
            </a:r>
          </a:p>
          <a:p xmlns:a="http://schemas.openxmlformats.org/drawingml/2006/main">
            <a:r>
              <a:t/>
            </a:r>
          </a:p>
          <a:p xmlns:a="http://schemas.openxmlformats.org/drawingml/2006/main">
            <a:r>
              <a:t>The slide schedule places Phase 2 in the week of 21 September 2026, Phase 3 requirements in the week of 5 October, Phases 4 and 5 design in the week of 26 October, Phase 6 draft implementation in the week of 16 November, and Phases 7 and 8 testing, final submission and demonstration in the week of 23 November. Following the separately announced one-week extension, Phase 2 moves to the lab week of 28 September. The confirmed Blackboard submission deadline is Monday, 28 September 2026 at 6:00 p.m. UAE time. The extension does not by itself shift later milestones or add development capacity.</a:t>
            </a:r>
          </a:p>
          <a:p xmlns:a="http://schemas.openxmlformats.org/drawingml/2006/main">
            <a:r>
              <a:t/>
            </a:r>
          </a:p>
          <a:p xmlns:a="http://schemas.openxmlformats.org/drawingml/2006/main">
            <a:r>
              <a:t>The original capacity baseline covers 21 September through 22 November: 3 students × 8 hours × 9 weeks = 216 person-hours. Baseline work totals 180 hours, with a planned 36-hour reserve equal to 20% of baseline effort and 16.7% of total capacity. The estimate excludes Phase 1 work already completed. The table below preserves these original allocations; it is not a record of hours worked.</a:t>
            </a:r>
          </a:p>
          <a:p xmlns:a="http://schemas.openxmlformats.org/drawingml/2006/main">
            <a:r>
              <a:t/>
            </a:r>
          </a:p>
          <a:p xmlns:a="http://schemas.openxmlformats.org/drawingml/2006/main">
            <a:r>
              <a:t>As of 28 September, eight scheduled weeks remain through 22 November, giving 192 person-hours at 24 team-hours per week. Actual effort and reserve use during 21–27 September have not been reconciled, so neither the remaining workload nor the unused reserve can be stated as a verified figure. The team must compare completed work with the original allocations and confirm availability before treating the plan as achievable.</a:t>
            </a:r>
          </a:p>
          <a:p xmlns:a="http://schemas.openxmlformats.org/drawingml/2006/main">
            <a:r>
              <a:t/>
            </a:r>
          </a:p>
          <a:p xmlns:a="http://schemas.openxmlformats.org/drawingml/2006/main">
            <a:r>
              <a:t>| Work period | Baseline team hours | Deliverable and dependency |</a:t>
            </a:r>
          </a:p>
          <a:p xmlns:a="http://schemas.openxmlformats.org/drawingml/2006/main">
            <a:r>
              <a:t>| --- | --- | --- |</a:t>
            </a:r>
          </a:p>
          <a:p xmlns:a="http://schemas.openxmlformats.org/drawingml/2006/main">
            <a:r>
              <a:t>| 21 September to 4 October | 40 | Revise Phase 2, validate assumptions, compare adaptation with custom development, prepare sample data and complete the technical proof and requirements specification |</a:t>
            </a:r>
          </a:p>
          <a:p xmlns:a="http://schemas.openxmlformats.org/drawingml/2006/main">
            <a:r>
              <a:t>| 5 to 25 October | 60 | Complete architecture, data model, permission rules and detailed design; develop component proofs before full implementation |</a:t>
            </a:r>
          </a:p>
          <a:p xmlns:a="http://schemas.openxmlformats.org/drawingml/2006/main">
            <a:r>
              <a:t>| 26 October to 15 November | 60 | Integrate the exchange workflow, maintenance, notifications, reports and all AI functions; execute tests during development |</a:t>
            </a:r>
          </a:p>
          <a:p xmlns:a="http://schemas.openxmlformats.org/drawingml/2006/main">
            <a:r>
              <a:t>| 16 to 22 November | 20 | Run final regression and evaluation cases, correct defects, finish documentation and prepare the demonstration |</a:t>
            </a:r>
          </a:p>
          <a:p xmlns:a="http://schemas.openxmlformats.org/drawingml/2006/main">
            <a:r>
              <a:t>| Total baseline | 180 | Final milestone in the week of 23 November |</a:t>
            </a:r>
          </a:p>
          <a:p xmlns:a="http://schemas.openxmlformats.org/drawingml/2006/main">
            <a:r>
              <a:t/>
            </a:r>
          </a:p>
          <a:p xmlns:a="http://schemas.openxmlformats.org/drawingml/2006/main">
            <a:r>
              <a:t>The original baseline averages 20 team-hours per week within an assumed 24-hour weekly capacity, providing a planned margin of 4 hours weekly across nine weeks. This describes the original 36-hour allowance, not a confirmed remaining reserve. Testing occurs throughout development; the final week is reserved for regression and completion, not the first discovery of integration failures.</a:t>
            </a:r>
          </a:p>
          <a:p xmlns:a="http://schemas.openxmlformats.org/drawingml/2006/main">
            <a:r>
              <a:t/>
            </a:r>
          </a:p>
          <a:p xmlns:a="http://schemas.openxmlformats.org/drawingml/2006/main">
            <a:r>
              <a:t>## Development task owners</a:t>
            </a:r>
          </a:p>
          <a:p xmlns:a="http://schemas.openxmlformats.org/drawingml/2006/main">
            <a:r>
              <a:t/>
            </a:r>
          </a:p>
          <a:p xmlns:a="http://schemas.openxmlformats.org/drawingml/2006/main">
            <a:r>
              <a:t>| Member | Primary work | Planned baseline contribution |</a:t>
            </a:r>
          </a:p>
          <a:p xmlns:a="http://schemas.openxmlformats.org/drawingml/2006/main">
            <a:r>
              <a:t>| --- | --- | --- |</a:t>
            </a:r>
          </a:p>
          <a:p xmlns:a="http://schemas.openxmlformats.org/drawingml/2006/main">
            <a:r>
              <a:t>| SAEED ALKAABI 100063100 | Platform decision and application integration; asset and transfer workflow; repository coordination; ownership of the 10 workflow test cases | 60 person-hours |</a:t>
            </a:r>
          </a:p>
          <a:p xmlns:a="http://schemas.openxmlformats.org/drawingml/2006/main">
            <a:r>
              <a:t>| ALI ALAWADHI 100063186 | KU process validation and stakeholder requirements; data model, permissions and forms; ownership of permission and usability tests | 60 person-hours |</a:t>
            </a:r>
          </a:p>
          <a:p xmlns:a="http://schemas.openxmlformats.org/drawingml/2006/main">
            <a:r>
              <a:t>| HUMAID AL ALI 100062914 | Matching and AI interface; benefit and reporting calculations; ownership of search performance, matching and calculation tests | 60 person-hours |</a:t>
            </a:r>
          </a:p>
          <a:p xmlns:a="http://schemas.openxmlformats.org/drawingml/2006/main">
            <a:r>
              <a:t/>
            </a:r>
          </a:p>
          <a:p xmlns:a="http://schemas.openxmlformats.org/drawingml/2006/main">
            <a:r>
              <a:t>Each named student is accountable for completing the assigned task and retaining its evidence, with another member reviewing major changes. The original allocation is 60 baseline hours and 12 reserve hours per member; these are not remaining-hour balances. Responsibilities may be redistributed after the skills exercise, but every task must retain a named owner. All three members must understand the complete workflow. These allocations are proposed responsibilities, not claims of completed contributions or confirmed availability.</a:t>
            </a:r>
          </a:p>
          <a:p xmlns:a="http://schemas.openxmlformats.org/drawingml/2006/main">
            <a:r>
              <a:t/>
            </a:r>
          </a:p>
          <a:p xmlns:a="http://schemas.openxmlformats.org/drawingml/2006/main">
            <a:r>
              <a:t>The critical dependency sequence is validated scope, then data and permission definitions, then a working request-to-receipt exchange, followed by reliable AI integration and final evaluation. The system cannot be declared complete while a required function is replaced by a screenshot or an unimplemented placeholder. If effort exceeds capacity, the team must revise the delivery plan with the instructor rather than silently remove required functions.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HUMAID AL ALI</a:t>
            </a:r>
          </a:p>
          <a:p xmlns:a="http://schemas.openxmlformats.org/drawingml/2006/main">
            <a:r>
              <a:t/>
            </a:r>
          </a:p>
          <a:p xmlns:a="http://schemas.openxmlformats.org/drawingml/2006/main">
            <a:r>
              <a:t>8 Project Schedule and Resources</a:t>
            </a:r>
          </a:p>
          <a:p xmlns:a="http://schemas.openxmlformats.org/drawingml/2006/main">
            <a:r>
              <a:t/>
            </a:r>
          </a:p>
          <a:p xmlns:a="http://schemas.openxmlformats.org/drawingml/2006/main">
            <a:r>
              <a:t>## Capacity and milestones</a:t>
            </a:r>
          </a:p>
          <a:p xmlns:a="http://schemas.openxmlformats.org/drawingml/2006/main">
            <a:r>
              <a:t/>
            </a:r>
          </a:p>
          <a:p xmlns:a="http://schemas.openxmlformats.org/drawingml/2006/main">
            <a:r>
              <a:t>The milestone baseline follows slide 2 of the supplied Phase 2 feasibility-study presentation, as directed by the TA. The later one-week Phase 2 extension is applied separately. The older tentative timetable in the full project brief is not the scheduling baseline. The slide milestones specify lab weeks; the confirmed online Phase 2 deadline is stated below. Capacity and hour allocations remain team assumptions.</a:t>
            </a:r>
          </a:p>
          <a:p xmlns:a="http://schemas.openxmlformats.org/drawingml/2006/main">
            <a:r>
              <a:t/>
            </a:r>
          </a:p>
          <a:p xmlns:a="http://schemas.openxmlformats.org/drawingml/2006/main">
            <a:r>
              <a:t>The slide schedule places Phase 2 in the week of 21 September 2026, Phase 3 requirements in the week of 5 October, Phases 4 and 5 design in the week of 26 October, Phase 6 draft implementation in the week of 16 November, and Phases 7 and 8 testing, final submission and demonstration in the week of 23 November. Following the separately announced one-week extension, Phase 2 moves to the lab week of 28 September. The confirmed Blackboard submission deadline is Monday, 28 September 2026 at 6:00 p.m. UAE time. The extension does not by itself shift later milestones or add development capacity.</a:t>
            </a:r>
          </a:p>
          <a:p xmlns:a="http://schemas.openxmlformats.org/drawingml/2006/main">
            <a:r>
              <a:t/>
            </a:r>
          </a:p>
          <a:p xmlns:a="http://schemas.openxmlformats.org/drawingml/2006/main">
            <a:r>
              <a:t>The original capacity baseline covers 21 September through 22 November: 3 students × 8 hours × 9 weeks = 216 person-hours. Baseline work totals 180 hours, with a planned 36-hour reserve equal to 20% of baseline effort and 16.7% of total capacity. The estimate excludes Phase 1 work already completed. The table below preserves these original allocations; it is not a record of hours worked.</a:t>
            </a:r>
          </a:p>
          <a:p xmlns:a="http://schemas.openxmlformats.org/drawingml/2006/main">
            <a:r>
              <a:t/>
            </a:r>
          </a:p>
          <a:p xmlns:a="http://schemas.openxmlformats.org/drawingml/2006/main">
            <a:r>
              <a:t>As of 28 September, eight scheduled weeks remain through 22 November, giving 192 person-hours at 24 team-hours per week. Actual effort and reserve use during 21–27 September have not been reconciled, so neither the remaining workload nor the unused reserve can be stated as a verified figure. The team must compare completed work with the original allocations and confirm availability before treating the plan as achievable.</a:t>
            </a:r>
          </a:p>
          <a:p xmlns:a="http://schemas.openxmlformats.org/drawingml/2006/main">
            <a:r>
              <a:t/>
            </a:r>
          </a:p>
          <a:p xmlns:a="http://schemas.openxmlformats.org/drawingml/2006/main">
            <a:r>
              <a:t>| Work period | Baseline team hours | Deliverable and dependency |</a:t>
            </a:r>
          </a:p>
          <a:p xmlns:a="http://schemas.openxmlformats.org/drawingml/2006/main">
            <a:r>
              <a:t>| --- | --- | --- |</a:t>
            </a:r>
          </a:p>
          <a:p xmlns:a="http://schemas.openxmlformats.org/drawingml/2006/main">
            <a:r>
              <a:t>| 21 September to 4 October | 40 | Revise Phase 2, validate assumptions, compare adaptation with custom development, prepare sample data and complete the technical proof and requirements specification |</a:t>
            </a:r>
          </a:p>
          <a:p xmlns:a="http://schemas.openxmlformats.org/drawingml/2006/main">
            <a:r>
              <a:t>| 5 to 25 October | 60 | Complete architecture, data model, permission rules and detailed design; develop component proofs before full implementation |</a:t>
            </a:r>
          </a:p>
          <a:p xmlns:a="http://schemas.openxmlformats.org/drawingml/2006/main">
            <a:r>
              <a:t>| 26 October to 15 November | 60 | Integrate the exchange workflow, maintenance, notifications, reports and all AI functions; execute tests during development |</a:t>
            </a:r>
          </a:p>
          <a:p xmlns:a="http://schemas.openxmlformats.org/drawingml/2006/main">
            <a:r>
              <a:t>| 16 to 22 November | 20 | Run final regression and evaluation cases, correct defects, finish documentation and prepare the demonstration |</a:t>
            </a:r>
          </a:p>
          <a:p xmlns:a="http://schemas.openxmlformats.org/drawingml/2006/main">
            <a:r>
              <a:t>| Total baseline | 180 | Final milestone in the week of 23 November |</a:t>
            </a:r>
          </a:p>
          <a:p xmlns:a="http://schemas.openxmlformats.org/drawingml/2006/main">
            <a:r>
              <a:t/>
            </a:r>
          </a:p>
          <a:p xmlns:a="http://schemas.openxmlformats.org/drawingml/2006/main">
            <a:r>
              <a:t>The original baseline averages 20 team-hours per week within an assumed 24-hour weekly capacity, providing a planned margin of 4 hours weekly across nine weeks. This describes the original 36-hour allowance, not a confirmed remaining reserve. Testing occurs throughout development; the final week is reserved for regression and completion, not the first discovery of integration failures.</a:t>
            </a:r>
          </a:p>
          <a:p xmlns:a="http://schemas.openxmlformats.org/drawingml/2006/main">
            <a:r>
              <a:t/>
            </a:r>
          </a:p>
          <a:p xmlns:a="http://schemas.openxmlformats.org/drawingml/2006/main">
            <a:r>
              <a:t>## Development task owners</a:t>
            </a:r>
          </a:p>
          <a:p xmlns:a="http://schemas.openxmlformats.org/drawingml/2006/main">
            <a:r>
              <a:t/>
            </a:r>
          </a:p>
          <a:p xmlns:a="http://schemas.openxmlformats.org/drawingml/2006/main">
            <a:r>
              <a:t>| Member | Primary work | Planned baseline contribution |</a:t>
            </a:r>
          </a:p>
          <a:p xmlns:a="http://schemas.openxmlformats.org/drawingml/2006/main">
            <a:r>
              <a:t>| --- | --- | --- |</a:t>
            </a:r>
          </a:p>
          <a:p xmlns:a="http://schemas.openxmlformats.org/drawingml/2006/main">
            <a:r>
              <a:t>| SAEED ALKAABI 100063100 | Platform decision and application integration; asset and transfer workflow; repository coordination; ownership of the 10 workflow test cases | 60 person-hours |</a:t>
            </a:r>
          </a:p>
          <a:p xmlns:a="http://schemas.openxmlformats.org/drawingml/2006/main">
            <a:r>
              <a:t>| ALI ALAWADHI 100063186 | KU process validation and stakeholder requirements; data model, permissions and forms; ownership of permission and usability tests | 60 person-hours |</a:t>
            </a:r>
          </a:p>
          <a:p xmlns:a="http://schemas.openxmlformats.org/drawingml/2006/main">
            <a:r>
              <a:t>| HUMAID AL ALI 100062914 | Matching and AI interface; benefit and reporting calculations; ownership of search performance, matching and calculation tests | 60 person-hours |</a:t>
            </a:r>
          </a:p>
          <a:p xmlns:a="http://schemas.openxmlformats.org/drawingml/2006/main">
            <a:r>
              <a:t/>
            </a:r>
          </a:p>
          <a:p xmlns:a="http://schemas.openxmlformats.org/drawingml/2006/main">
            <a:r>
              <a:t>Each named student is accountable for completing the assigned task and retaining its evidence, with another member reviewing major changes. The original allocation is 60 baseline hours and 12 reserve hours per member; these are not remaining-hour balances. Responsibilities may be redistributed after the skills exercise, but every task must retain a named owner. All three members must understand the complete workflow. These allocations are proposed responsibilities, not claims of completed contributions or confirmed availability.</a:t>
            </a:r>
          </a:p>
          <a:p xmlns:a="http://schemas.openxmlformats.org/drawingml/2006/main">
            <a:r>
              <a:t/>
            </a:r>
          </a:p>
          <a:p xmlns:a="http://schemas.openxmlformats.org/drawingml/2006/main">
            <a:r>
              <a:t>The critical dependency sequence is validated scope, then data and permission definitions, then a working request-to-receipt exchange, followed by reliable AI integration and final evaluation. The system cannot be declared complete while a required function is replaced by a screenshot or an unimplemented placeholder. If effort exceeds capacity, the team must revise the delivery plan with the instructor rather than silently remove required functions.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HUMAID AL ALI</a:t>
            </a:r>
          </a:p>
          <a:p xmlns:a="http://schemas.openxmlformats.org/drawingml/2006/main">
            <a:r>
              <a:t/>
            </a:r>
          </a:p>
          <a:p xmlns:a="http://schemas.openxmlformats.org/drawingml/2006/main">
            <a:r>
              <a:t>9 Recommendation and Implementation Action Plan</a:t>
            </a:r>
          </a:p>
          <a:p xmlns:a="http://schemas.openxmlformats.org/drawingml/2006/main">
            <a:r>
              <a:t/>
            </a:r>
          </a:p>
          <a:p xmlns:a="http://schemas.openxmlformats.org/drawingml/2006/main">
            <a:r>
              <a:t>## Feasibility decision</a:t>
            </a:r>
          </a:p>
          <a:p xmlns:a="http://schemas.openxmlformats.org/drawingml/2006/main">
            <a:r>
              <a:t/>
            </a:r>
          </a:p>
          <a:p xmlns:a="http://schemas.openxmlformats.org/drawingml/2006/main">
            <a:r>
              <a:t>The recommendation is a conditional go for an educational prototype, with an adaptation assessment before committing to custom development. The preferred route will be the one that can satisfy the full requirements and acceptance tests within validated effort and licence constraints. The 500-asset dataset permits a bounded AI evaluation, but technical suitability, the 180-hour baseline and local demand remain unverified. Neither route authorizes institutional deployment.</a:t>
            </a:r>
          </a:p>
          <a:p xmlns:a="http://schemas.openxmlformats.org/drawingml/2006/main">
            <a:r>
              <a:t/>
            </a:r>
          </a:p>
          <a:p xmlns:a="http://schemas.openxmlformats.org/drawingml/2006/main">
            <a:r>
              <a:t>Financially, the AED 300 cash ceiling makes the classroom implementation a limited expenditure proposal. The hypothetical pilot breaks even at 16 qualifying transfers under the stated cost assumptions, but loses money in the 10-transfer scenario. Adding the published paid-server benchmark raises the break-even point to 19 transfers and reduces the 20-transfer ROI to 6.8%. This sensitivity prevents the study from treating reuse benefits as guaranteed income or assuming that free software eliminates maintenance cost.</a:t>
            </a:r>
          </a:p>
          <a:p xmlns:a="http://schemas.openxmlformats.org/drawingml/2006/main">
            <a:r>
              <a:t/>
            </a:r>
          </a:p>
          <a:p xmlns:a="http://schemas.openxmlformats.org/drawingml/2006/main">
            <a:r>
              <a:t>| Decision point | Required evidence | Action if the condition is not met |</a:t>
            </a:r>
          </a:p>
          <a:p xmlns:a="http://schemas.openxmlformats.org/drawingml/2006/main">
            <a:r>
              <a:t>| --- | --- | --- |</a:t>
            </a:r>
          </a:p>
          <a:p xmlns:a="http://schemas.openxmlformats.org/drawingml/2006/main">
            <a:r>
              <a:t>| Phase 2 evidence status on 28 September | No KU staff or potential-user interviews completed. The current workflow, institutional roles and local demand remain assumptions. | Retain the conditional operational conclusion and complete follow-up research; request TA guidance if an approved alternative is needed |</a:t>
            </a:r>
          </a:p>
          <a:p xmlns:a="http://schemas.openxmlformats.org/drawingml/2006/main">
            <a:r>
              <a:t>| Before selecting the implementation route | Adaptation versus custom requirements map and effort comparison; login-to-transfer proof; ranked search over 20 assets; recorded hardware and team availability | Revise the platform choice, effort estimate or assignment before further implementation |</a:t>
            </a:r>
          </a:p>
          <a:p xmlns:a="http://schemas.openxmlformats.org/drawingml/2006/main">
            <a:r>
              <a:t>| Before the design milestone | Defined approval and reservation rules, complete data fields, test cases and reviewed service terms | Resolve the specific dependency or keep the affected work on synthetic inputs |</a:t>
            </a:r>
          </a:p>
          <a:p xmlns:a="http://schemas.openxmlformats.org/drawingml/2006/main">
            <a:r>
              <a:t>| Before final submission | All required capabilities demonstrated; 10 workflow and 10 calculation cases pass; permission, search, usability and matching targets evaluated | Correct defects and report any unmet target honestly |</a:t>
            </a:r>
          </a:p>
          <a:p xmlns:a="http://schemas.openxmlformats.org/drawingml/2006/main">
            <a:r>
              <a:t>| Before any live university pilot | Data and safety authorization, named operational owners, validated demand, cost inputs and hosting arrangements | Continue only the educational demonstration; do not import live records or release assets |</a:t>
            </a:r>
          </a:p>
          <a:p xmlns:a="http://schemas.openxmlformats.org/drawingml/2006/main">
            <a:r>
              <a:t/>
            </a:r>
          </a:p>
          <a:p xmlns:a="http://schemas.openxmlformats.org/drawingml/2006/main">
            <a:r>
              <a:t>The immediate priority is to address the missed initial consultation target and record findings against the affected requirements. The proposed follow-up target remains 4 October; no completed interviews are claimed in this submission. The team will reconcile actual effort and availability, compare adaptation with custom development, and complete the candidate route's technical proof before finalizing requirements and permission rules. It will then establish a complete request-to-receipt exchange and integrate the remaining AI and reporting functions. Named task owners will retain evidence against the success criteria. A live university pilot remains a separate decision requiring a confirmed functional owner, authorization and validated economics.</a:t>
            </a:r>
          </a:p>
          <a:p xmlns:a="http://schemas.openxmlformats.org/drawingml/2006/main">
            <a:r>
              <a:t/>
            </a:r>
          </a:p>
          <a:p xmlns:a="http://schemas.openxmlformats.org/drawingml/2006/main">
            <a:r>
              <a:t>## AI assistance in Phase 2</a:t>
            </a:r>
          </a:p>
          <a:p xmlns:a="http://schemas.openxmlformats.org/drawingml/2006/main">
            <a:r>
              <a:t/>
            </a:r>
          </a:p>
          <a:p xmlns:a="http://schemas.openxmlformats.org/drawingml/2006/main">
            <a:r>
              <a:t>We used OpenAI Codex to assist with drafting substantial portions of this feasibility report, organizing the analysis, identifying and checking candidate external sources, checking calculations, formatting IEEE citations and preparing presentation material. AI also supported revisions following the lab feedback. The cited publications, rather than AI-generated text, support the external factual claims. AI assistance does not establish completed stakeholder consultation, measured KU benefits, tested system performance or university approval. The three authors remain responsible for reviewing the sources and assumptions, understanding the analysis and approving the final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presenter: HUMAID AL ALI</a:t>
            </a:r>
          </a:p>
          <a:p xmlns:a="http://schemas.openxmlformats.org/drawingml/2006/main">
            <a:r>
              <a:t/>
            </a:r>
          </a:p>
          <a:p xmlns:a="http://schemas.openxmlformats.org/drawingml/2006/main">
            <a:r>
              <a:t>9 Recommendation and Implementation Action Plan</a:t>
            </a:r>
          </a:p>
          <a:p xmlns:a="http://schemas.openxmlformats.org/drawingml/2006/main">
            <a:r>
              <a:t/>
            </a:r>
          </a:p>
          <a:p xmlns:a="http://schemas.openxmlformats.org/drawingml/2006/main">
            <a:r>
              <a:t>## Feasibility decision</a:t>
            </a:r>
          </a:p>
          <a:p xmlns:a="http://schemas.openxmlformats.org/drawingml/2006/main">
            <a:r>
              <a:t/>
            </a:r>
          </a:p>
          <a:p xmlns:a="http://schemas.openxmlformats.org/drawingml/2006/main">
            <a:r>
              <a:t>The recommendation is a conditional go for an educational prototype, with an adaptation assessment before committing to custom development. The preferred route will be the one that can satisfy the full requirements and acceptance tests within validated effort and licence constraints. The 500-asset dataset permits a bounded AI evaluation, but technical suitability, the 180-hour baseline and local demand remain unverified. Neither route authorizes institutional deployment.</a:t>
            </a:r>
          </a:p>
          <a:p xmlns:a="http://schemas.openxmlformats.org/drawingml/2006/main">
            <a:r>
              <a:t/>
            </a:r>
          </a:p>
          <a:p xmlns:a="http://schemas.openxmlformats.org/drawingml/2006/main">
            <a:r>
              <a:t>Financially, the AED 300 cash ceiling makes the classroom implementation a limited expenditure proposal. The hypothetical pilot breaks even at 16 qualifying transfers under the stated cost assumptions, but loses money in the 10-transfer scenario. Adding the published paid-server benchmark raises the break-even point to 19 transfers and reduces the 20-transfer ROI to 6.8%. This sensitivity prevents the study from treating reuse benefits as guaranteed income or assuming that free software eliminates maintenance cost.</a:t>
            </a:r>
          </a:p>
          <a:p xmlns:a="http://schemas.openxmlformats.org/drawingml/2006/main">
            <a:r>
              <a:t/>
            </a:r>
          </a:p>
          <a:p xmlns:a="http://schemas.openxmlformats.org/drawingml/2006/main">
            <a:r>
              <a:t>| Decision point | Required evidence | Action if the condition is not met |</a:t>
            </a:r>
          </a:p>
          <a:p xmlns:a="http://schemas.openxmlformats.org/drawingml/2006/main">
            <a:r>
              <a:t>| --- | --- | --- |</a:t>
            </a:r>
          </a:p>
          <a:p xmlns:a="http://schemas.openxmlformats.org/drawingml/2006/main">
            <a:r>
              <a:t>| Phase 2 evidence status on 28 September | No KU staff or potential-user interviews completed. The current workflow, institutional roles and local demand remain assumptions. | Retain the conditional operational conclusion and complete follow-up research; request TA guidance if an approved alternative is needed |</a:t>
            </a:r>
          </a:p>
          <a:p xmlns:a="http://schemas.openxmlformats.org/drawingml/2006/main">
            <a:r>
              <a:t>| Before selecting the implementation route | Adaptation versus custom requirements map and effort comparison; login-to-transfer proof; ranked search over 20 assets; recorded hardware and team availability | Revise the platform choice, effort estimate or assignment before further implementation |</a:t>
            </a:r>
          </a:p>
          <a:p xmlns:a="http://schemas.openxmlformats.org/drawingml/2006/main">
            <a:r>
              <a:t>| Before the design milestone | Defined approval and reservation rules, complete data fields, test cases and reviewed service terms | Resolve the specific dependency or keep the affected work on synthetic inputs |</a:t>
            </a:r>
          </a:p>
          <a:p xmlns:a="http://schemas.openxmlformats.org/drawingml/2006/main">
            <a:r>
              <a:t>| Before final submission | All required capabilities demonstrated; 10 workflow and 10 calculation cases pass; permission, search, usability and matching targets evaluated | Correct defects and report any unmet target honestly |</a:t>
            </a:r>
          </a:p>
          <a:p xmlns:a="http://schemas.openxmlformats.org/drawingml/2006/main">
            <a:r>
              <a:t>| Before any live university pilot | Data and safety authorization, named operational owners, validated demand, cost inputs and hosting arrangements | Continue only the educational demonstration; do not import live records or release assets |</a:t>
            </a:r>
          </a:p>
          <a:p xmlns:a="http://schemas.openxmlformats.org/drawingml/2006/main">
            <a:r>
              <a:t/>
            </a:r>
          </a:p>
          <a:p xmlns:a="http://schemas.openxmlformats.org/drawingml/2006/main">
            <a:r>
              <a:t>The immediate priority is to address the missed initial consultation target and record findings against the affected requirements. The proposed follow-up target remains 4 October; no completed interviews are claimed in this submission. The team will reconcile actual effort and availability, compare adaptation with custom development, and complete the candidate route's technical proof before finalizing requirements and permission rules. It will then establish a complete request-to-receipt exchange and integrate the remaining AI and reporting functions. Named task owners will retain evidence against the success criteria. A live university pilot remains a separate decision requiring a confirmed functional owner, authorization and validated economics.</a:t>
            </a:r>
          </a:p>
          <a:p xmlns:a="http://schemas.openxmlformats.org/drawingml/2006/main">
            <a:r>
              <a:t/>
            </a:r>
          </a:p>
          <a:p xmlns:a="http://schemas.openxmlformats.org/drawingml/2006/main">
            <a:r>
              <a:t>## AI assistance in Phase 2</a:t>
            </a:r>
          </a:p>
          <a:p xmlns:a="http://schemas.openxmlformats.org/drawingml/2006/main">
            <a:r>
              <a:t/>
            </a:r>
          </a:p>
          <a:p xmlns:a="http://schemas.openxmlformats.org/drawingml/2006/main">
            <a:r>
              <a:t>We used OpenAI Codex to assist with drafting substantial portions of this feasibility report, organizing the analysis, identifying and checking candidate external sources, checking calculations, formatting IEEE citations and preparing presentation material. AI also supported revisions following the lab feedback. The cited publications, rather than AI-generated text, support the external factual claims. AI assistance does not establish completed stakeholder consultation, measured KU benefits, tested system performance or university approval. The three authors remain responsible for reviewing the sources and assumptions, understanding the analysis and approving the final submission.</a:t>
            </a:r>
          </a:p>
          <a:p xmlns:a="http://schemas.openxmlformats.org/drawingml/2006/main">
            <a:r>
              <a:t/>
            </a:r>
          </a:p>
          <a:p xmlns:a="http://schemas.openxmlformats.org/drawingml/2006/main">
            <a:r>
              <a:t>8 Project Schedule and Resources</a:t>
            </a:r>
          </a:p>
          <a:p xmlns:a="http://schemas.openxmlformats.org/drawingml/2006/main">
            <a:r>
              <a:t/>
            </a:r>
          </a:p>
          <a:p xmlns:a="http://schemas.openxmlformats.org/drawingml/2006/main">
            <a:r>
              <a:t>## Capacity and milestones</a:t>
            </a:r>
          </a:p>
          <a:p xmlns:a="http://schemas.openxmlformats.org/drawingml/2006/main">
            <a:r>
              <a:t/>
            </a:r>
          </a:p>
          <a:p xmlns:a="http://schemas.openxmlformats.org/drawingml/2006/main">
            <a:r>
              <a:t>The milestone baseline follows slide 2 of the supplied Phase 2 feasibility-study presentation, as directed by the TA. The later one-week Phase 2 extension is applied separately. The older tentative timetable in the full project brief is not the scheduling baseline. The slide milestones specify lab weeks; the confirmed online Phase 2 deadline is stated below. Capacity and hour allocations remain team assumptions.</a:t>
            </a:r>
          </a:p>
          <a:p xmlns:a="http://schemas.openxmlformats.org/drawingml/2006/main">
            <a:r>
              <a:t/>
            </a:r>
          </a:p>
          <a:p xmlns:a="http://schemas.openxmlformats.org/drawingml/2006/main">
            <a:r>
              <a:t>The slide schedule places Phase 2 in the week of 21 September 2026, Phase 3 requirements in the week of 5 October, Phases 4 and 5 design in the week of 26 October, Phase 6 draft implementation in the week of 16 November, and Phases 7 and 8 testing, final submission and demonstration in the week of 23 November. Following the separately announced one-week extension, Phase 2 moves to the lab week of 28 September. The confirmed Blackboard submission deadline is Monday, 28 September 2026 at 6:00 p.m. UAE time. The extension does not by itself shift later milestones or add development capacity.</a:t>
            </a:r>
          </a:p>
          <a:p xmlns:a="http://schemas.openxmlformats.org/drawingml/2006/main">
            <a:r>
              <a:t/>
            </a:r>
          </a:p>
          <a:p xmlns:a="http://schemas.openxmlformats.org/drawingml/2006/main">
            <a:r>
              <a:t>The original capacity baseline covers 21 September through 22 November: 3 students × 8 hours × 9 weeks = 216 person-hours. Baseline work totals 180 hours, with a planned 36-hour reserve equal to 20% of baseline effort and 16.7% of total capacity. The estimate excludes Phase 1 work already completed. The table below preserves these original allocations; it is not a record of hours worked.</a:t>
            </a:r>
          </a:p>
          <a:p xmlns:a="http://schemas.openxmlformats.org/drawingml/2006/main">
            <a:r>
              <a:t/>
            </a:r>
          </a:p>
          <a:p xmlns:a="http://schemas.openxmlformats.org/drawingml/2006/main">
            <a:r>
              <a:t>As of 28 September, eight scheduled weeks remain through 22 November, giving 192 person-hours at 24 team-hours per week. Actual effort and reserve use during 21–27 September have not been reconciled, so neither the remaining workload nor the unused reserve can be stated as a verified figure. The team must compare completed work with the original allocations and confirm availability before treating the plan as achievable.</a:t>
            </a:r>
          </a:p>
          <a:p xmlns:a="http://schemas.openxmlformats.org/drawingml/2006/main">
            <a:r>
              <a:t/>
            </a:r>
          </a:p>
          <a:p xmlns:a="http://schemas.openxmlformats.org/drawingml/2006/main">
            <a:r>
              <a:t>| Work period | Baseline team hours | Deliverable and dependency |</a:t>
            </a:r>
          </a:p>
          <a:p xmlns:a="http://schemas.openxmlformats.org/drawingml/2006/main">
            <a:r>
              <a:t>| --- | --- | --- |</a:t>
            </a:r>
          </a:p>
          <a:p xmlns:a="http://schemas.openxmlformats.org/drawingml/2006/main">
            <a:r>
              <a:t>| 21 September to 4 October | 40 | Revise Phase 2, validate assumptions, compare adaptation with custom development, prepare sample data and complete the technical proof and requirements specification |</a:t>
            </a:r>
          </a:p>
          <a:p xmlns:a="http://schemas.openxmlformats.org/drawingml/2006/main">
            <a:r>
              <a:t>| 5 to 25 October | 60 | Complete architecture, data model, permission rules and detailed design; develop component proofs before full implementation |</a:t>
            </a:r>
          </a:p>
          <a:p xmlns:a="http://schemas.openxmlformats.org/drawingml/2006/main">
            <a:r>
              <a:t>| 26 October to 15 November | 60 | Integrate the exchange workflow, maintenance, notifications, reports and all AI functions; execute tests during development |</a:t>
            </a:r>
          </a:p>
          <a:p xmlns:a="http://schemas.openxmlformats.org/drawingml/2006/main">
            <a:r>
              <a:t>| 16 to 22 November | 20 | Run final regression and evaluation cases, correct defects, finish documentation and prepare the demonstration |</a:t>
            </a:r>
          </a:p>
          <a:p xmlns:a="http://schemas.openxmlformats.org/drawingml/2006/main">
            <a:r>
              <a:t>| Total baseline | 180 | Final milestone in the week of 23 November |</a:t>
            </a:r>
          </a:p>
          <a:p xmlns:a="http://schemas.openxmlformats.org/drawingml/2006/main">
            <a:r>
              <a:t/>
            </a:r>
          </a:p>
          <a:p xmlns:a="http://schemas.openxmlformats.org/drawingml/2006/main">
            <a:r>
              <a:t>The original baseline averages 20 team-hours per week within an assumed 24-hour weekly capacity, providing a planned margin of 4 hours weekly across nine weeks. This describes the original 36-hour allowance, not a confirmed remaining reserve. Testing occurs throughout development; the final week is reserved for regression and completion, not the first discovery of integration failures.</a:t>
            </a:r>
          </a:p>
          <a:p xmlns:a="http://schemas.openxmlformats.org/drawingml/2006/main">
            <a:r>
              <a:t/>
            </a:r>
          </a:p>
          <a:p xmlns:a="http://schemas.openxmlformats.org/drawingml/2006/main">
            <a:r>
              <a:t>## Development task owners</a:t>
            </a:r>
          </a:p>
          <a:p xmlns:a="http://schemas.openxmlformats.org/drawingml/2006/main">
            <a:r>
              <a:t/>
            </a:r>
          </a:p>
          <a:p xmlns:a="http://schemas.openxmlformats.org/drawingml/2006/main">
            <a:r>
              <a:t>| Member | Primary work | Planned baseline contribution |</a:t>
            </a:r>
          </a:p>
          <a:p xmlns:a="http://schemas.openxmlformats.org/drawingml/2006/main">
            <a:r>
              <a:t>| --- | --- | --- |</a:t>
            </a:r>
          </a:p>
          <a:p xmlns:a="http://schemas.openxmlformats.org/drawingml/2006/main">
            <a:r>
              <a:t>| SAEED ALKAABI 100063100 | Platform decision and application integration; asset and transfer workflow; repository coordination; ownership of the 10 workflow test cases | 60 person-hours |</a:t>
            </a:r>
          </a:p>
          <a:p xmlns:a="http://schemas.openxmlformats.org/drawingml/2006/main">
            <a:r>
              <a:t>| ALI ALAWADHI 100063186 | KU process validation and stakeholder requirements; data model, permissions and forms; ownership of permission and usability tests | 60 person-hours |</a:t>
            </a:r>
          </a:p>
          <a:p xmlns:a="http://schemas.openxmlformats.org/drawingml/2006/main">
            <a:r>
              <a:t>| HUMAID AL ALI 100062914 | Matching and AI interface; benefit and reporting calculations; ownership of search performance, matching and calculation tests | 60 person-hours |</a:t>
            </a:r>
          </a:p>
          <a:p xmlns:a="http://schemas.openxmlformats.org/drawingml/2006/main">
            <a:r>
              <a:t/>
            </a:r>
          </a:p>
          <a:p xmlns:a="http://schemas.openxmlformats.org/drawingml/2006/main">
            <a:r>
              <a:t>Each named student is accountable for completing the assigned task and retaining its evidence, with another member reviewing major changes. The original allocation is 60 baseline hours and 12 reserve hours per member; these are not remaining-hour balances. Responsibilities may be redistributed after the skills exercise, but every task must retain a named owner. All three members must understand the complete workflow. These allocations are proposed responsibilities, not claims of completed contributions or confirmed availability.</a:t>
            </a:r>
          </a:p>
          <a:p xmlns:a="http://schemas.openxmlformats.org/drawingml/2006/main">
            <a:r>
              <a:t/>
            </a:r>
          </a:p>
          <a:p xmlns:a="http://schemas.openxmlformats.org/drawingml/2006/main">
            <a:r>
              <a:t>The critical dependency sequence is validated scope, then data and permission definitions, then a working request-to-receipt exchange, followed by reliable AI integration and final evaluation. The system cannot be declared complete while a required function is replaced by a screenshot or an unimplemented placeholder. If effort exceeds capacity, the team must revise the delivery plan with the instructor rather than silently remove required functions.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University College London, “Warp-it reuse platform,” Oct. 7, 2020. Accessed: Sep. 28, 2026. [Online]. Available: https://www.ucl.ac.uk/sustainable-development-goals/case-studies/2020/oct/warp-it-reuse-platform</a:t>
            </a:r>
          </a:p>
          <a:p xmlns:a="http://schemas.openxmlformats.org/drawingml/2006/main">
            <a:r>
              <a:t/>
            </a:r>
          </a:p>
          <a:p xmlns:a="http://schemas.openxmlformats.org/drawingml/2006/main">
            <a:r>
              <a:t>[2] Snipe-IT, “Features and overview.” Accessed: Sep. 28, 2026. [Online]. Available: https://snipeitapp.com/product</a:t>
            </a:r>
          </a:p>
          <a:p xmlns:a="http://schemas.openxmlformats.org/drawingml/2006/main">
            <a:r>
              <a:t/>
            </a:r>
          </a:p>
          <a:p xmlns:a="http://schemas.openxmlformats.org/drawingml/2006/main">
            <a:r>
              <a:t>[3] Sentence Transformers, “all-MiniLM-L6-v2,” Hugging Face, model card. Accessed: Sep. 28, 2026. [Online]. Available: https://huggingface.co/sentence-transformers/all-MiniLM-L6-v2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OWASP Foundation, “LLM prompt injection prevention cheat sheet,” OWASP Cheat Sheet Series. Accessed: Sep. 28, 2026. [Online]. Available: https://cheatsheetseries.owasp.org/cheatsheets/LLM_Prompt_Injection_Prevention_Cheat_Sheet.html</a:t>
            </a:r>
          </a:p>
          <a:p xmlns:a="http://schemas.openxmlformats.org/drawingml/2006/main">
            <a:r>
              <a:t/>
            </a:r>
          </a:p>
          <a:p xmlns:a="http://schemas.openxmlformats.org/drawingml/2006/main">
            <a:r>
              <a:t>[5] DigitalOcean, “Droplet pricing.” Accessed: Sep. 28, 2026. [Online]. Available: https://www.digitalocean.com/pricing/droplets</a:t>
            </a:r>
          </a:p>
          <a:p xmlns:a="http://schemas.openxmlformats.org/drawingml/2006/main">
            <a:r>
              <a:t/>
            </a:r>
          </a:p>
          <a:p xmlns:a="http://schemas.openxmlformats.org/drawingml/2006/main">
            <a:r>
              <a:t>[6] Central Bank of the United Arab Emirates, “Exchange rates against UAE Dirham for VAT related obligations.” Accessed: Sep. 28, 2026. [Online]. Available: https://centralbank.ae/umbraco/Surface/Exchange/GetExchangeRateAllCurrency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United Arab Emirates, “Federal Decree by Law No. (45) of 2021 Concerning the Protection of Personal Data,” UAE Legislation, 2021, arts. 2, 5, 15, 22–23. Accessed: Sep. 28, 2026. [Online]. Available: https://uaelegislation.gov.ae/en/legislations/1972</a:t>
            </a:r>
          </a:p>
          <a:p xmlns:a="http://schemas.openxmlformats.org/drawingml/2006/main">
            <a:r>
              <a:t/>
            </a:r>
          </a:p>
          <a:p xmlns:a="http://schemas.openxmlformats.org/drawingml/2006/main">
            <a:r>
              <a:t>[8] World Intellectual Property Organization, “Federal Decree-Law No. 38 of 2021 on Copyrights and Neighboring Rights, United Arab Emirates,” WIPO Lex, record AE060, 2021. Accessed: Sep. 28, 2026. [Online]. Available: https://www.wipo.int/wipolex/en/legislation/details/21365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c3909cb90846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77de5b789140ab" /><Relationship Type="http://schemas.openxmlformats.org/officeDocument/2006/relationships/slideLayout" Target="/ppt/slideLayouts/slideLayout1.xml" Id="R5ecfc075cd9348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cfc075cd9348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dc62bdbefb44a0" /><Relationship Type="http://schemas.openxmlformats.org/officeDocument/2006/relationships/notesSlide" Target="/ppt/notesSlides/notesSlide1.xml" Id="R4304025b02484c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7e0940b00d462c" /><Relationship Type="http://schemas.openxmlformats.org/officeDocument/2006/relationships/notesSlide" Target="/ppt/notesSlides/notesSlide2.xml" Id="R34ffad6fb67f42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e420ec2e6f4343" /><Relationship Type="http://schemas.openxmlformats.org/officeDocument/2006/relationships/notesSlide" Target="/ppt/notesSlides/notesSlide3.xml" Id="R637722aee49d44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3e20c352cd4f88" /><Relationship Type="http://schemas.openxmlformats.org/officeDocument/2006/relationships/notesSlide" Target="/ppt/notesSlides/notesSlide4.xml" Id="Rae00349b85a34e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9541e77e7a54a67" /><Relationship Type="http://schemas.openxmlformats.org/officeDocument/2006/relationships/notesSlide" Target="/ppt/notesSlides/notesSlide5.xml" Id="Ra20f79088a1c41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b2e6f34df15428d" /><Relationship Type="http://schemas.openxmlformats.org/officeDocument/2006/relationships/notesSlide" Target="/ppt/notesSlides/notesSlide6.xml" Id="R11bc40b49ff24c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1b151e2ce274144" /><Relationship Type="http://schemas.openxmlformats.org/officeDocument/2006/relationships/notesSlide" Target="/ppt/notesSlides/notesSlide7.xml" Id="R8462f5714958471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d78474af1914a22" /><Relationship Type="http://schemas.openxmlformats.org/officeDocument/2006/relationships/notesSlide" Target="/ppt/notesSlides/notesSlide8.xml" Id="R6ff597e00e9440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f8cd14b3edc4b98" /><Relationship Type="http://schemas.openxmlformats.org/officeDocument/2006/relationships/notesSlide" Target="/ppt/notesSlides/notesSlide9.xml" Id="Rb370e48c577b402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c7641d035d94ac4" /><Relationship Type="http://schemas.openxmlformats.org/officeDocument/2006/relationships/notesSlide" Target="/ppt/notesSlides/notesSlide10.xml" Id="R9f4cbf416a014bf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29a628e21e842da" /><Relationship Type="http://schemas.openxmlformats.org/officeDocument/2006/relationships/notesSlide" Target="/ppt/notesSlides/notesSlide11.xml" Id="Rcf65661a51c842b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6dea9e7cbe14f96" /><Relationship Type="http://schemas.openxmlformats.org/officeDocument/2006/relationships/notesSlide" Target="/ppt/notesSlides/notesSlide12.xml" Id="R813cc5d468bf4e4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3ad2b7cf1b94fcc" /><Relationship Type="http://schemas.openxmlformats.org/officeDocument/2006/relationships/notesSlide" Target="/ppt/notesSlides/notesSlide13.xml" Id="Re1664d8db08b4f9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9821d12f0374fbb" /><Relationship Type="http://schemas.openxmlformats.org/officeDocument/2006/relationships/notesSlide" Target="/ppt/notesSlides/notesSlide14.xml" Id="R928be47c674447b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4c25726b1fb4771" /><Relationship Type="http://schemas.openxmlformats.org/officeDocument/2006/relationships/notesSlide" Target="/ppt/notesSlides/notesSlide15.xml" Id="Re6d1befb240c4af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4a5a95786bb4e79" /><Relationship Type="http://schemas.openxmlformats.org/officeDocument/2006/relationships/notesSlide" Target="/ppt/notesSlides/notesSlide16.xml" Id="R0337f29f970343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99ba67248c9455f" /><Relationship Type="http://schemas.openxmlformats.org/officeDocument/2006/relationships/notesSlide" Target="/ppt/notesSlides/notesSlide17.xml" Id="Re27d74c1e919493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52a24e2aedd49e7" /><Relationship Type="http://schemas.openxmlformats.org/officeDocument/2006/relationships/notesSlide" Target="/ppt/notesSlides/notesSlide18.xml" Id="R210de333b1b84ee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ad348c8bba349ac" /><Relationship Type="http://schemas.openxmlformats.org/officeDocument/2006/relationships/notesSlide" Target="/ppt/notesSlides/notesSlide19.xml" Id="R76c5fbdbae374d4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a6f15f6148245f9" /><Relationship Type="http://schemas.openxmlformats.org/officeDocument/2006/relationships/notesSlide" Target="/ppt/notesSlides/notesSlide20.xml" Id="R873479100a4446f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fc7aaa94c5f418a" /><Relationship Type="http://schemas.openxmlformats.org/officeDocument/2006/relationships/notesSlide" Target="/ppt/notesSlides/notesSlide21.xml" Id="Rf41850f563cd476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76037fb9a3e4e5c" /><Relationship Type="http://schemas.openxmlformats.org/officeDocument/2006/relationships/notesSlide" Target="/ppt/notesSlides/notesSlide22.xml" Id="R6ce5bc83d78f433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9f000dccd15487b" /><Relationship Type="http://schemas.openxmlformats.org/officeDocument/2006/relationships/notesSlide" Target="/ppt/notesSlides/notesSlide23.xml" Id="R2eee813b093c46a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e94623188894979" /><Relationship Type="http://schemas.openxmlformats.org/officeDocument/2006/relationships/notesSlide" Target="/ppt/notesSlides/notesSlide24.xml" Id="R40ca6f67d0c3410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4c05c991a2f4464" /><Relationship Type="http://schemas.openxmlformats.org/officeDocument/2006/relationships/notesSlide" Target="/ppt/notesSlides/notesSlide25.xml" Id="R2e5ff30bb989402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9403210ed574ad4" /><Relationship Type="http://schemas.openxmlformats.org/officeDocument/2006/relationships/notesSlide" Target="/ppt/notesSlides/notesSlide26.xml" Id="Re448f7f9ba9c41f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a1911e442664cac" /><Relationship Type="http://schemas.openxmlformats.org/officeDocument/2006/relationships/notesSlide" Target="/ppt/notesSlides/notesSlide27.xml" Id="R86f652c59b3f49f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a2933625d084f6e" /><Relationship Type="http://schemas.openxmlformats.org/officeDocument/2006/relationships/notesSlide" Target="/ppt/notesSlides/notesSlide28.xml" Id="R03e2448b538d47d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b9ba19eae624c52" /><Relationship Type="http://schemas.openxmlformats.org/officeDocument/2006/relationships/notesSlide" Target="/ppt/notesSlides/notesSlide29.xml" Id="R5ce248ae2d7a476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8768b819da94d1e" /><Relationship Type="http://schemas.openxmlformats.org/officeDocument/2006/relationships/hyperlink" Target="https://www.ucl.ac.uk/sustainable-development-goals/case-studies/2020/oct/warp-it-reuse-platform" TargetMode="External" Id="R461bb67810904aa9" /><Relationship Type="http://schemas.openxmlformats.org/officeDocument/2006/relationships/hyperlink" Target="https://snipeitapp.com/product" TargetMode="External" Id="Re709eaa356a344a3" /><Relationship Type="http://schemas.openxmlformats.org/officeDocument/2006/relationships/hyperlink" Target="https://huggingface.co/sentence-transformers/all-MiniLM-L6-v2" TargetMode="External" Id="R5e27577194ca49a0" /><Relationship Type="http://schemas.openxmlformats.org/officeDocument/2006/relationships/notesSlide" Target="/ppt/notesSlides/notesSlide30.xml" Id="R6a265981992c482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eb09a4911e6484a" /><Relationship Type="http://schemas.openxmlformats.org/officeDocument/2006/relationships/hyperlink" Target="https://cheatsheetseries.owasp.org/cheatsheets/LLM_Prompt_Injection_Prevention_Cheat_Sheet.html" TargetMode="External" Id="R5723e01f776643de" /><Relationship Type="http://schemas.openxmlformats.org/officeDocument/2006/relationships/hyperlink" Target="https://www.digitalocean.com/pricing/droplets" TargetMode="External" Id="Re1a114e4ec184f10" /><Relationship Type="http://schemas.openxmlformats.org/officeDocument/2006/relationships/hyperlink" Target="https://centralbank.ae/umbraco/Surface/Exchange/GetExchangeRateAllCurrency" TargetMode="External" Id="R660a59adca2641ca" /><Relationship Type="http://schemas.openxmlformats.org/officeDocument/2006/relationships/notesSlide" Target="/ppt/notesSlides/notesSlide31.xml" Id="Recd13e5387b84cc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dfc2889ef514f25" /><Relationship Type="http://schemas.openxmlformats.org/officeDocument/2006/relationships/hyperlink" Target="https://uaelegislation.gov.ae/en/legislations/1972" TargetMode="External" Id="R19166e45f5a94766" /><Relationship Type="http://schemas.openxmlformats.org/officeDocument/2006/relationships/hyperlink" Target="https://www.wipo.int/wipolex/en/legislation/details/21365" TargetMode="External" Id="R8f70ac4ace134ef2" /><Relationship Type="http://schemas.openxmlformats.org/officeDocument/2006/relationships/notesSlide" Target="/ppt/notesSlides/notesSlide32.xml" Id="Raac01e46d43942ca" /></Relationships>
</file>

<file path=ppt/slides/slide1.xml><?xml version="1.0" encoding="utf-8"?>
<p:sld xmlns:p="http://schemas.openxmlformats.org/presentationml/2006/main">
  <p:cSld>
    <p:bg>
      <p:bgPr>
        <a:solidFill xmlns:a="http://schemas.openxmlformats.org/drawingml/2006/main">
          <a:srgbClr val="142F43"/>
        </a:solidFill>
      </p:bgPr>
    </p:bg>
    <p:spTree>
      <p:nvGrpSpPr>
        <p:cNvPr id="1" name=""/>
        <p:cNvGrpSpPr/>
        <p:nvPr/>
      </p:nvGrpSpPr>
      <p:grpSpPr>
        <a:xfrm xmlns:a="http://schemas.openxmlformats.org/drawingml/2006/main"/>
      </p:grpSpPr>
      <p:sp>
        <p:nvSpPr>
          <p:cNvPr id="6" name="deck-title">
            <a:extLst xmlns:a="http://schemas.openxmlformats.org/drawingml/2006/main">
              <a:ext uri="{FF2B5EF4-FFF2-40B4-BE49-F238E27FC236}">
                <a16:creationId xmlns:a16="http://schemas.microsoft.com/office/drawing/2014/main" id="{F787BF3F-8211-4D6A-AD6F-BD470867A6B6}"/>
              </a:ext>
            </a:extLst>
          </p:cNvPr>
          <p:cNvSpPr>
            <a:spLocks xmlns:a="http://schemas.openxmlformats.org/drawingml/2006/main" noGrp="1"/>
          </p:cNvSpPr>
          <p:nvPr/>
        </p:nvSpPr>
        <p:spPr>
          <a:xfrm xmlns:a="http://schemas.openxmlformats.org/drawingml/2006/main">
            <a:off x="666750" y="9048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700" b="1">
                <a:solidFill>
                  <a:srgbClr val="FFFFFF"/>
                </a:solidFill>
                <a:latin typeface="Arial"/>
                <a:ea typeface="Arial"/>
                <a:cs typeface="Arial"/>
              </a:defRPr>
            </a:pPr>
            <a:r>
              <a:rPr sz="5700" b="1">
                <a:solidFill>
                  <a:srgbClr val="FFFFFF"/>
                </a:solidFill>
                <a:latin typeface="Arial"/>
                <a:ea typeface="Arial"/>
                <a:cs typeface="Arial"/>
              </a:rPr>
              <a:t>Circular Campus</a:t>
            </a:r>
          </a:p>
        </p:txBody>
      </p:sp>
      <p:sp>
        <p:nvSpPr>
          <p:cNvPr id="2" name="subtitle">
            <a:extLst xmlns:a="http://schemas.openxmlformats.org/drawingml/2006/main">
              <a:ext uri="{FF2B5EF4-FFF2-40B4-BE49-F238E27FC236}">
                <a16:creationId xmlns:a16="http://schemas.microsoft.com/office/drawing/2014/main" id="{5A4C66D5-89AB-4461-BC53-C340585D2045}"/>
              </a:ext>
            </a:extLst>
          </p:cNvPr>
          <p:cNvSpPr>
            <a:spLocks xmlns:a="http://schemas.openxmlformats.org/drawingml/2006/main" noGrp="1"/>
          </p:cNvSpPr>
          <p:nvPr/>
        </p:nvSpPr>
        <p:spPr>
          <a:xfrm xmlns:a="http://schemas.openxmlformats.org/drawingml/2006/main">
            <a:off x="685800" y="19335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150" b="0">
                <a:solidFill>
                  <a:srgbClr val="80D5CF"/>
                </a:solidFill>
                <a:latin typeface="Arial"/>
                <a:ea typeface="Arial"/>
                <a:cs typeface="Arial"/>
              </a:defRPr>
            </a:pPr>
            <a:r>
              <a:rPr sz="3150" b="0">
                <a:solidFill>
                  <a:srgbClr val="80D5CF"/>
                </a:solidFill>
                <a:latin typeface="Arial"/>
                <a:ea typeface="Arial"/>
                <a:cs typeface="Arial"/>
              </a:rPr>
              <a:t>Phase 2 Feasibility Study</a:t>
            </a:r>
          </a:p>
        </p:txBody>
      </p:sp>
      <p:sp>
        <p:nvSpPr>
          <p:cNvPr id="3" name="project-name">
            <a:extLst xmlns:a="http://schemas.openxmlformats.org/drawingml/2006/main">
              <a:ext uri="{FF2B5EF4-FFF2-40B4-BE49-F238E27FC236}">
                <a16:creationId xmlns:a16="http://schemas.microsoft.com/office/drawing/2014/main" id="{E09EA415-3AC8-458D-94D0-7E52C03C8DE5}"/>
              </a:ext>
            </a:extLst>
          </p:cNvPr>
          <p:cNvSpPr>
            <a:spLocks xmlns:a="http://schemas.openxmlformats.org/drawingml/2006/main" noGrp="1"/>
          </p:cNvSpPr>
          <p:nvPr/>
        </p:nvSpPr>
        <p:spPr>
          <a:xfrm xmlns:a="http://schemas.openxmlformats.org/drawingml/2006/main">
            <a:off x="685800" y="2914650"/>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FFFFFF"/>
                </a:solidFill>
                <a:latin typeface="Arial"/>
                <a:ea typeface="Arial"/>
                <a:cs typeface="Arial"/>
              </a:defRPr>
            </a:pPr>
            <a:r>
              <a:rPr sz="2025" b="0">
                <a:solidFill>
                  <a:srgbClr val="FFFFFF"/>
                </a:solidFill>
                <a:latin typeface="Arial"/>
                <a:ea typeface="Arial"/>
                <a:cs typeface="Arial"/>
              </a:rPr>
              <a:t>Intelligent, AI-Powered Circular Campus Resource Exchange and Asset Life Cycle Management System</a:t>
            </a:r>
          </a:p>
        </p:txBody>
      </p:sp>
      <p:sp>
        <p:nvSpPr>
          <p:cNvPr id="4" name="team">
            <a:extLst xmlns:a="http://schemas.openxmlformats.org/drawingml/2006/main">
              <a:ext uri="{FF2B5EF4-FFF2-40B4-BE49-F238E27FC236}">
                <a16:creationId xmlns:a16="http://schemas.microsoft.com/office/drawing/2014/main" id="{81A4F307-2548-4E9C-9B23-056EC348A812}"/>
              </a:ext>
            </a:extLst>
          </p:cNvPr>
          <p:cNvSpPr>
            <a:spLocks xmlns:a="http://schemas.openxmlformats.org/drawingml/2006/main" noGrp="1"/>
          </p:cNvSpPr>
          <p:nvPr/>
        </p:nvSpPr>
        <p:spPr>
          <a:xfrm xmlns:a="http://schemas.openxmlformats.org/drawingml/2006/main">
            <a:off x="685800" y="4495800"/>
            <a:ext cx="10191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FFFFFF"/>
                </a:solidFill>
                <a:latin typeface="Arial"/>
                <a:ea typeface="Arial"/>
                <a:cs typeface="Arial"/>
              </a:defRPr>
            </a:pPr>
            <a:r>
              <a:rPr sz="1950" b="0">
                <a:solidFill>
                  <a:srgbClr val="FFFFFF"/>
                </a:solidFill>
                <a:latin typeface="Arial"/>
                <a:ea typeface="Arial"/>
                <a:cs typeface="Arial"/>
              </a:rPr>
              <a:t>SAEED ALKAABI   100063100</a:t>
            </a:r>
          </a:p>
          <a:p xmlns:a="http://schemas.openxmlformats.org/drawingml/2006/main">
            <a:pPr algn="l">
              <a:buNone/>
              <a:defRPr sz="1950" b="0">
                <a:solidFill>
                  <a:srgbClr val="FFFFFF"/>
                </a:solidFill>
                <a:latin typeface="Arial"/>
                <a:ea typeface="Arial"/>
                <a:cs typeface="Arial"/>
              </a:defRPr>
            </a:pPr>
            <a:r>
              <a:rPr sz="1950" b="0">
                <a:solidFill>
                  <a:srgbClr val="FFFFFF"/>
                </a:solidFill>
                <a:latin typeface="Arial"/>
                <a:ea typeface="Arial"/>
                <a:cs typeface="Arial"/>
              </a:rPr>
              <a:t>ALI ALAWADHI   100063186</a:t>
            </a:r>
          </a:p>
          <a:p xmlns:a="http://schemas.openxmlformats.org/drawingml/2006/main">
            <a:pPr algn="l">
              <a:buNone/>
              <a:defRPr sz="1950" b="0">
                <a:solidFill>
                  <a:srgbClr val="FFFFFF"/>
                </a:solidFill>
                <a:latin typeface="Arial"/>
                <a:ea typeface="Arial"/>
                <a:cs typeface="Arial"/>
              </a:defRPr>
            </a:pPr>
            <a:r>
              <a:rPr sz="1950" b="0">
                <a:solidFill>
                  <a:srgbClr val="FFFFFF"/>
                </a:solidFill>
                <a:latin typeface="Arial"/>
                <a:ea typeface="Arial"/>
                <a:cs typeface="Arial"/>
              </a:rPr>
              <a:t>HUMAID AL ALI   100062914</a:t>
            </a:r>
          </a:p>
        </p:txBody>
      </p:sp>
      <p:sp>
        <p:nvSpPr>
          <p:cNvPr id="5" name="course-date">
            <a:extLst xmlns:a="http://schemas.openxmlformats.org/drawingml/2006/main">
              <a:ext uri="{FF2B5EF4-FFF2-40B4-BE49-F238E27FC236}">
                <a16:creationId xmlns:a16="http://schemas.microsoft.com/office/drawing/2014/main" id="{4D0D876C-C6AB-4651-A7B1-779DD83B1BCD}"/>
              </a:ext>
            </a:extLst>
          </p:cNvPr>
          <p:cNvSpPr>
            <a:spLocks xmlns:a="http://schemas.openxmlformats.org/drawingml/2006/main" noGrp="1"/>
          </p:cNvSpPr>
          <p:nvPr/>
        </p:nvSpPr>
        <p:spPr>
          <a:xfrm xmlns:a="http://schemas.openxmlformats.org/drawingml/2006/main">
            <a:off x="685800" y="59436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C5D8E3"/>
                </a:solidFill>
                <a:latin typeface="Arial"/>
                <a:ea typeface="Arial"/>
                <a:cs typeface="Arial"/>
              </a:defRPr>
            </a:pPr>
            <a:r>
              <a:rPr sz="1650" b="0">
                <a:solidFill>
                  <a:srgbClr val="C5D8E3"/>
                </a:solidFill>
                <a:latin typeface="Arial"/>
                <a:ea typeface="Arial"/>
                <a:cs typeface="Arial"/>
              </a:rPr>
              <a:t>COSC 336   Fall 2026</a:t>
            </a:r>
          </a:p>
          <a:p xmlns:a="http://schemas.openxmlformats.org/drawingml/2006/main">
            <a:pPr algn="l">
              <a:buNone/>
              <a:defRPr sz="1650" b="0">
                <a:solidFill>
                  <a:srgbClr val="C5D8E3"/>
                </a:solidFill>
                <a:latin typeface="Arial"/>
                <a:ea typeface="Arial"/>
                <a:cs typeface="Arial"/>
              </a:defRPr>
            </a:pPr>
            <a:r>
              <a:rPr sz="1650" b="0">
                <a:solidFill>
                  <a:srgbClr val="C5D8E3"/>
                </a:solidFill>
                <a:latin typeface="Arial"/>
                <a:ea typeface="Arial"/>
                <a:cs typeface="Arial"/>
              </a:rPr>
              <a:t>28 September 2026</a:t>
            </a:r>
          </a:p>
        </p:txBody>
      </p:sp>
    </p:spTree>
    <p:extLst>
      <p:ext uri="{BB962C8B-B14F-4D97-AF65-F5344CB8AC3E}">
        <p14:creationId xmlns:p14="http://schemas.microsoft.com/office/powerpoint/2010/main" val="12331940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FD40744C-9E92-4F7E-850A-20E9724F20CF}"/>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Feasibility decision</a:t>
            </a:r>
          </a:p>
        </p:txBody>
      </p:sp>
      <p:sp>
        <p:nvSpPr>
          <p:cNvPr id="2" name="slide-number">
            <a:extLst xmlns:a="http://schemas.openxmlformats.org/drawingml/2006/main">
              <a:ext uri="{FF2B5EF4-FFF2-40B4-BE49-F238E27FC236}">
                <a16:creationId xmlns:a16="http://schemas.microsoft.com/office/drawing/2014/main" id="{41079416-BBD7-41F9-B766-BA5FD8FD1BAE}"/>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2</a:t>
            </a:r>
          </a:p>
        </p:txBody>
      </p:sp>
      <p:sp>
        <p:nvSpPr>
          <p:cNvPr id="3" name="lead">
            <a:extLst xmlns:a="http://schemas.openxmlformats.org/drawingml/2006/main">
              <a:ext uri="{FF2B5EF4-FFF2-40B4-BE49-F238E27FC236}">
                <a16:creationId xmlns:a16="http://schemas.microsoft.com/office/drawing/2014/main" id="{A815AE4A-2903-4818-941B-D3CA196281CF}"/>
              </a:ext>
            </a:extLst>
          </p:cNvPr>
          <p:cNvSpPr>
            <a:spLocks xmlns:a="http://schemas.openxmlformats.org/drawingml/2006/main" noGrp="1"/>
          </p:cNvSpPr>
          <p:nvPr/>
        </p:nvSpPr>
        <p:spPr>
          <a:xfrm xmlns:a="http://schemas.openxmlformats.org/drawingml/2006/main">
            <a:off x="533400" y="103822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007E80"/>
                </a:solidFill>
                <a:latin typeface="Arial"/>
                <a:ea typeface="Arial"/>
                <a:cs typeface="Arial"/>
              </a:defRPr>
            </a:pPr>
            <a:r>
              <a:rPr sz="1875" b="1">
                <a:solidFill>
                  <a:srgbClr val="007E80"/>
                </a:solidFill>
                <a:latin typeface="Arial"/>
                <a:ea typeface="Arial"/>
                <a:cs typeface="Arial"/>
              </a:rPr>
              <a:t>Conditional go for an educational prototype</a:t>
            </a:r>
          </a:p>
        </p:txBody>
      </p:sp>
      <p:sp>
        <p:nvSpPr>
          <p:cNvPr id="4" name="column-title-0">
            <a:extLst xmlns:a="http://schemas.openxmlformats.org/drawingml/2006/main">
              <a:ext uri="{FF2B5EF4-FFF2-40B4-BE49-F238E27FC236}">
                <a16:creationId xmlns:a16="http://schemas.microsoft.com/office/drawing/2014/main" id="{1EDCFF55-057E-4793-B2A0-6F7145598EC0}"/>
              </a:ext>
            </a:extLst>
          </p:cNvPr>
          <p:cNvSpPr>
            <a:spLocks xmlns:a="http://schemas.openxmlformats.org/drawingml/2006/main" noGrp="1"/>
          </p:cNvSpPr>
          <p:nvPr/>
        </p:nvSpPr>
        <p:spPr>
          <a:xfrm xmlns:a="http://schemas.openxmlformats.org/drawingml/2006/main">
            <a:off x="533400" y="1838325"/>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7E80"/>
                </a:solidFill>
                <a:latin typeface="Arial"/>
                <a:ea typeface="Arial"/>
                <a:cs typeface="Arial"/>
              </a:defRPr>
            </a:pPr>
            <a:r>
              <a:rPr sz="2100" b="1">
                <a:solidFill>
                  <a:srgbClr val="007E80"/>
                </a:solidFill>
                <a:latin typeface="Arial"/>
                <a:ea typeface="Arial"/>
                <a:cs typeface="Arial"/>
              </a:rPr>
              <a:t>Prototype decision</a:t>
            </a:r>
          </a:p>
        </p:txBody>
      </p:sp>
      <p:sp>
        <p:nvSpPr>
          <p:cNvPr id="5" name="column-body-0">
            <a:extLst xmlns:a="http://schemas.openxmlformats.org/drawingml/2006/main">
              <a:ext uri="{FF2B5EF4-FFF2-40B4-BE49-F238E27FC236}">
                <a16:creationId xmlns:a16="http://schemas.microsoft.com/office/drawing/2014/main" id="{6E9ED09A-EEE3-4973-9872-5D1A66754AFF}"/>
              </a:ext>
            </a:extLst>
          </p:cNvPr>
          <p:cNvSpPr>
            <a:spLocks xmlns:a="http://schemas.openxmlformats.org/drawingml/2006/main" noGrp="1"/>
          </p:cNvSpPr>
          <p:nvPr/>
        </p:nvSpPr>
        <p:spPr>
          <a:xfrm xmlns:a="http://schemas.openxmlformats.org/drawingml/2006/main">
            <a:off x="533400" y="2371725"/>
            <a:ext cx="5295900" cy="3438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Assess Snipe-IT adaptation before committing to custom development.</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Original plan: 216 hours, including 180 baseline hours and a 36-hour allowance.</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From 28 September: 8 weeks and 192 assumed hours remain. Actual effort needs reconciliation.</a:t>
            </a:r>
          </a:p>
        </p:txBody>
      </p:sp>
      <p:sp>
        <p:nvSpPr>
          <p:cNvPr id="6" name="column-title-1">
            <a:extLst xmlns:a="http://schemas.openxmlformats.org/drawingml/2006/main">
              <a:ext uri="{FF2B5EF4-FFF2-40B4-BE49-F238E27FC236}">
                <a16:creationId xmlns:a16="http://schemas.microsoft.com/office/drawing/2014/main" id="{E682BFA0-C970-41C3-ADB9-F30432C32940}"/>
              </a:ext>
            </a:extLst>
          </p:cNvPr>
          <p:cNvSpPr>
            <a:spLocks xmlns:a="http://schemas.openxmlformats.org/drawingml/2006/main" noGrp="1"/>
          </p:cNvSpPr>
          <p:nvPr/>
        </p:nvSpPr>
        <p:spPr>
          <a:xfrm xmlns:a="http://schemas.openxmlformats.org/drawingml/2006/main">
            <a:off x="6305550" y="1838325"/>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7E80"/>
                </a:solidFill>
                <a:latin typeface="Arial"/>
                <a:ea typeface="Arial"/>
                <a:cs typeface="Arial"/>
              </a:defRPr>
            </a:pPr>
            <a:r>
              <a:rPr sz="2100" b="1">
                <a:solidFill>
                  <a:srgbClr val="007E80"/>
                </a:solidFill>
                <a:latin typeface="Arial"/>
                <a:ea typeface="Arial"/>
                <a:cs typeface="Arial"/>
              </a:rPr>
              <a:t>Evidence and economics</a:t>
            </a:r>
          </a:p>
        </p:txBody>
      </p:sp>
      <p:sp>
        <p:nvSpPr>
          <p:cNvPr id="7" name="column-body-1">
            <a:extLst xmlns:a="http://schemas.openxmlformats.org/drawingml/2006/main">
              <a:ext uri="{FF2B5EF4-FFF2-40B4-BE49-F238E27FC236}">
                <a16:creationId xmlns:a16="http://schemas.microsoft.com/office/drawing/2014/main" id="{2B03C6AD-DE10-41C3-A64B-27235BA134F2}"/>
              </a:ext>
            </a:extLst>
          </p:cNvPr>
          <p:cNvSpPr>
            <a:spLocks xmlns:a="http://schemas.openxmlformats.org/drawingml/2006/main" noGrp="1"/>
          </p:cNvSpPr>
          <p:nvPr/>
        </p:nvSpPr>
        <p:spPr>
          <a:xfrm xmlns:a="http://schemas.openxmlformats.org/drawingml/2006/main">
            <a:off x="6305550" y="2371725"/>
            <a:ext cx="5295900" cy="3438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No interviews completed as of 28 September. Operational adoption remains unproven.</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AED 300 proposed cash ceiling. The existing-host pilot costs AED 9,120 in year one.</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20 qualifying transfers at AED 600 yield AED 12,000 avoided cost. Break-even: 16 transfers.</a:t>
            </a:r>
          </a:p>
        </p:txBody>
      </p:sp>
      <p:sp>
        <p:nvSpPr>
          <p:cNvPr id="8" name="qualification">
            <a:extLst xmlns:a="http://schemas.openxmlformats.org/drawingml/2006/main">
              <a:ext uri="{FF2B5EF4-FFF2-40B4-BE49-F238E27FC236}">
                <a16:creationId xmlns:a16="http://schemas.microsoft.com/office/drawing/2014/main" id="{888E3DC3-031A-4B69-B7F6-0FEF7CE618A8}"/>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Conditional on the technical proof, confirmed availability and synthetic data. Benefits are scenarios, with no authority for live deployment.</a:t>
            </a:r>
          </a:p>
        </p:txBody>
      </p:sp>
    </p:spTree>
    <p:extLst>
      <p:ext uri="{BB962C8B-B14F-4D97-AF65-F5344CB8AC3E}">
        <p14:creationId xmlns:p14="http://schemas.microsoft.com/office/powerpoint/2010/main" val="10345507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90045CEE-02A9-4E67-8E5D-AC561B0FDB16}"/>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Scope and semester deliverables</a:t>
            </a:r>
          </a:p>
        </p:txBody>
      </p:sp>
      <p:sp>
        <p:nvSpPr>
          <p:cNvPr id="2" name="slide-number">
            <a:extLst xmlns:a="http://schemas.openxmlformats.org/drawingml/2006/main">
              <a:ext uri="{FF2B5EF4-FFF2-40B4-BE49-F238E27FC236}">
                <a16:creationId xmlns:a16="http://schemas.microsoft.com/office/drawing/2014/main" id="{350B9AB5-C2F1-43D4-9DF5-8B2C1FFC6DED}"/>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3</a:t>
            </a:r>
          </a:p>
        </p:txBody>
      </p:sp>
      <p:sp>
        <p:nvSpPr>
          <p:cNvPr id="3" name="column-title-0">
            <a:extLst xmlns:a="http://schemas.openxmlformats.org/drawingml/2006/main">
              <a:ext uri="{FF2B5EF4-FFF2-40B4-BE49-F238E27FC236}">
                <a16:creationId xmlns:a16="http://schemas.microsoft.com/office/drawing/2014/main" id="{D2DFA261-259A-47DF-8360-E4414C5F23C4}"/>
              </a:ext>
            </a:extLst>
          </p:cNvPr>
          <p:cNvSpPr>
            <a:spLocks xmlns:a="http://schemas.openxmlformats.org/drawingml/2006/main" noGrp="1"/>
          </p:cNvSpPr>
          <p:nvPr/>
        </p:nvSpPr>
        <p:spPr>
          <a:xfrm xmlns:a="http://schemas.openxmlformats.org/drawingml/2006/main">
            <a:off x="533400" y="1333500"/>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7E80"/>
                </a:solidFill>
                <a:latin typeface="Arial"/>
                <a:ea typeface="Arial"/>
                <a:cs typeface="Arial"/>
              </a:defRPr>
            </a:pPr>
            <a:r>
              <a:rPr sz="2100" b="1">
                <a:solidFill>
                  <a:srgbClr val="007E80"/>
                </a:solidFill>
                <a:latin typeface="Arial"/>
                <a:ea typeface="Arial"/>
                <a:cs typeface="Arial"/>
              </a:rPr>
              <a:t>Included</a:t>
            </a:r>
          </a:p>
        </p:txBody>
      </p:sp>
      <p:sp>
        <p:nvSpPr>
          <p:cNvPr id="4" name="column-body-0">
            <a:extLst xmlns:a="http://schemas.openxmlformats.org/drawingml/2006/main">
              <a:ext uri="{FF2B5EF4-FFF2-40B4-BE49-F238E27FC236}">
                <a16:creationId xmlns:a16="http://schemas.microsoft.com/office/drawing/2014/main" id="{57EEDC4E-2776-4C3C-9AA3-B9CE3C5BEC53}"/>
              </a:ext>
            </a:extLst>
          </p:cNvPr>
          <p:cNvSpPr>
            <a:spLocks xmlns:a="http://schemas.openxmlformats.org/drawingml/2006/main" noGrp="1"/>
          </p:cNvSpPr>
          <p:nvPr/>
        </p:nvSpPr>
        <p:spPr>
          <a:xfrm xmlns:a="http://schemas.openxmlformats.org/drawingml/2006/main">
            <a:off x="533400" y="1866900"/>
            <a:ext cx="52959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Departments publish surplus assets and request compatible resources.</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Authorized staff approve exchanges and confirm release and receipt.</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The system retains inspection, maintenance, repair and final disposition history.</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Deliverables include the web prototype, source code, labelled data, requirements, design and test results.</a:t>
            </a:r>
          </a:p>
        </p:txBody>
      </p:sp>
      <p:sp>
        <p:nvSpPr>
          <p:cNvPr id="5" name="column-title-1">
            <a:extLst xmlns:a="http://schemas.openxmlformats.org/drawingml/2006/main">
              <a:ext uri="{FF2B5EF4-FFF2-40B4-BE49-F238E27FC236}">
                <a16:creationId xmlns:a16="http://schemas.microsoft.com/office/drawing/2014/main" id="{BAB5D11F-3684-4E23-A228-CF705E32C641}"/>
              </a:ext>
            </a:extLst>
          </p:cNvPr>
          <p:cNvSpPr>
            <a:spLocks xmlns:a="http://schemas.openxmlformats.org/drawingml/2006/main" noGrp="1"/>
          </p:cNvSpPr>
          <p:nvPr/>
        </p:nvSpPr>
        <p:spPr>
          <a:xfrm xmlns:a="http://schemas.openxmlformats.org/drawingml/2006/main">
            <a:off x="6305550" y="1333500"/>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7E80"/>
                </a:solidFill>
                <a:latin typeface="Arial"/>
                <a:ea typeface="Arial"/>
                <a:cs typeface="Arial"/>
              </a:defRPr>
            </a:pPr>
            <a:r>
              <a:rPr sz="2100" b="1">
                <a:solidFill>
                  <a:srgbClr val="007E80"/>
                </a:solidFill>
                <a:latin typeface="Arial"/>
                <a:ea typeface="Arial"/>
                <a:cs typeface="Arial"/>
              </a:rPr>
              <a:t>Prototype boundaries</a:t>
            </a:r>
          </a:p>
        </p:txBody>
      </p:sp>
      <p:sp>
        <p:nvSpPr>
          <p:cNvPr id="6" name="column-body-1">
            <a:extLst xmlns:a="http://schemas.openxmlformats.org/drawingml/2006/main">
              <a:ext uri="{FF2B5EF4-FFF2-40B4-BE49-F238E27FC236}">
                <a16:creationId xmlns:a16="http://schemas.microsoft.com/office/drawing/2014/main" id="{EBAE28A3-E224-44D7-B9F2-F02EBB0AF5D6}"/>
              </a:ext>
            </a:extLst>
          </p:cNvPr>
          <p:cNvSpPr>
            <a:spLocks xmlns:a="http://schemas.openxmlformats.org/drawingml/2006/main" noGrp="1"/>
          </p:cNvSpPr>
          <p:nvPr/>
        </p:nvSpPr>
        <p:spPr>
          <a:xfrm xmlns:a="http://schemas.openxmlformats.org/drawingml/2006/main">
            <a:off x="6305550" y="1866900"/>
            <a:ext cx="52959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Evaluate 500 synthetic assets across 5 fictional departments with 10 concurrent users.</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Use English text initially. Additional languages require separate evaluation.</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Exclude automated purchases, public trading, payments and university procurement or identity integrations.</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Allow photos and documents. Automatic interpretation of every file format remains outside the assumed scope.</a:t>
            </a:r>
          </a:p>
        </p:txBody>
      </p:sp>
      <p:sp>
        <p:nvSpPr>
          <p:cNvPr id="7" name="qualification">
            <a:extLst xmlns:a="http://schemas.openxmlformats.org/drawingml/2006/main">
              <a:ext uri="{FF2B5EF4-FFF2-40B4-BE49-F238E27FC236}">
                <a16:creationId xmlns:a16="http://schemas.microsoft.com/office/drawing/2014/main" id="{C4622D7D-E55F-424E-9D87-47E24D1990DB}"/>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Excluded: live deployment, confidential KU records and real transfers or disposal. The 500-asset dataset is a planned test environment.</a:t>
            </a:r>
          </a:p>
        </p:txBody>
      </p:sp>
    </p:spTree>
    <p:extLst>
      <p:ext uri="{BB962C8B-B14F-4D97-AF65-F5344CB8AC3E}">
        <p14:creationId xmlns:p14="http://schemas.microsoft.com/office/powerpoint/2010/main" val="1581043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537DFFE1-748B-4CDA-A92B-7500720E22EA}"/>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Core functional requirements</a:t>
            </a:r>
          </a:p>
        </p:txBody>
      </p:sp>
      <p:sp>
        <p:nvSpPr>
          <p:cNvPr id="2" name="slide-number">
            <a:extLst xmlns:a="http://schemas.openxmlformats.org/drawingml/2006/main">
              <a:ext uri="{FF2B5EF4-FFF2-40B4-BE49-F238E27FC236}">
                <a16:creationId xmlns:a16="http://schemas.microsoft.com/office/drawing/2014/main" id="{BFD87840-9A18-448D-9559-21654B40D2F4}"/>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4</a:t>
            </a:r>
          </a:p>
        </p:txBody>
      </p:sp>
      <p:graphicFrame>
        <p:nvGraphicFramePr>
          <p:cNvPr id="9" name=""/>
          <p:cNvGraphicFramePr/>
          <p:nvPr/>
        </p:nvGraphicFramePr>
        <p:xfrm>
          <a:off xmlns:a="http://schemas.openxmlformats.org/drawingml/2006/main" x="533400" y="1266825"/>
          <a:ext xmlns:a="http://schemas.openxmlformats.org/drawingml/2006/main" cx="11125200" cy="4581525"/>
        </p:xfrm>
        <a:graphic xmlns:a="http://schemas.openxmlformats.org/drawingml/2006/main">
          <a:graphicData uri="http://schemas.openxmlformats.org/drawingml/2006/table">
            <a:tbl>
              <a:tblPr firstRow="1" bandRow="0"/>
              <a:tblGrid>
                <a:gridCol w="1891284"/>
                <a:gridCol w="4783836"/>
                <a:gridCol w="4450080"/>
              </a:tblGrid>
              <a:tr h="476250">
                <a:tc>
                  <a:txBody>
                    <a:bodyPr wrap="square">
                      <a:noAutofit/>
                    </a:bodyPr>
                    <a:lstStyle/>
                    <a:p>
                      <a:pPr algn="l">
                        <a:buNone/>
                      </a:pPr>
                      <a:r>
                        <a:rPr sz="1725" b="1">
                          <a:solidFill>
                            <a:srgbClr val="FFFFFF"/>
                          </a:solidFill>
                          <a:latin typeface="Arial"/>
                          <a:ea typeface="Arial"/>
                          <a:cs typeface="Arial"/>
                        </a:rPr>
                        <a:t>Requirement</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Prototype coverage</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Completion evidence</a:t>
                      </a:r>
                    </a:p>
                  </a:txBody>
                  <a:tcPr marL="114300" marR="114300" marT="47625" marB="47625" anchor="ctr">
                    <a:solidFill>
                      <a:srgbClr val="142F43"/>
                    </a:solidFill>
                  </a:tcPr>
                </a:tc>
              </a:tr>
              <a:tr h="1368425">
                <a:tc>
                  <a:txBody>
                    <a:bodyPr wrap="square">
                      <a:noAutofit/>
                    </a:bodyPr>
                    <a:lstStyle/>
                    <a:p>
                      <a:pPr algn="l">
                        <a:buNone/>
                      </a:pPr>
                      <a:r>
                        <a:rPr sz="1800" b="0">
                          <a:solidFill>
                            <a:srgbClr val="203440"/>
                          </a:solidFill>
                          <a:latin typeface="Arial"/>
                          <a:ea typeface="Arial"/>
                          <a:cs typeface="Arial"/>
                        </a:rPr>
                        <a:t>FR-01 and FR-02</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Accounts, department permissions, asset registration, validation and publication</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Valid listings succeed. Prohibited changes and invalid quantities fail.</a:t>
                      </a:r>
                    </a:p>
                  </a:txBody>
                  <a:tcPr marL="114300" marR="114300" marT="47625" marB="47625" anchor="ctr">
                    <a:solidFill>
                      <a:srgbClr val="FFFFFF"/>
                    </a:solidFill>
                  </a:tcPr>
                </a:tc>
              </a:tr>
              <a:tr h="1368425">
                <a:tc>
                  <a:txBody>
                    <a:bodyPr wrap="square">
                      <a:noAutofit/>
                    </a:bodyPr>
                    <a:lstStyle/>
                    <a:p>
                      <a:pPr algn="l">
                        <a:buNone/>
                      </a:pPr>
                      <a:r>
                        <a:rPr sz="1800" b="0">
                          <a:solidFill>
                            <a:srgbClr val="203440"/>
                          </a:solidFill>
                          <a:latin typeface="Arial"/>
                          <a:ea typeface="Arial"/>
                          <a:cs typeface="Arial"/>
                        </a:rPr>
                        <a:t>FR-03 and FR-04</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Search, requests, reservations, approvals, release and receipt</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An exchange completes without overbooking. Authorized confirmations control custody.</a:t>
                      </a:r>
                    </a:p>
                  </a:txBody>
                  <a:tcPr marL="114300" marR="114300" marT="47625" marB="47625" anchor="ctr">
                    <a:solidFill>
                      <a:srgbClr val="EDF3F5"/>
                    </a:solidFill>
                  </a:tcPr>
                </a:tc>
              </a:tr>
              <a:tr h="1368425">
                <a:tc>
                  <a:txBody>
                    <a:bodyPr wrap="square">
                      <a:noAutofit/>
                    </a:bodyPr>
                    <a:lstStyle/>
                    <a:p>
                      <a:pPr algn="l">
                        <a:buNone/>
                      </a:pPr>
                      <a:r>
                        <a:rPr sz="1800" b="0">
                          <a:solidFill>
                            <a:srgbClr val="203440"/>
                          </a:solidFill>
                          <a:latin typeface="Arial"/>
                          <a:ea typeface="Arial"/>
                          <a:cs typeface="Arial"/>
                        </a:rPr>
                        <a:t>FR-05 and FR-06</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Maintenance and life-cycle history, notifications and operational reports</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Events remain traceable. Notifications follow status changes. Totals reconcile with records.</a:t>
                      </a:r>
                    </a:p>
                  </a:txBody>
                  <a:tcPr marL="114300" marR="114300" marT="47625" marB="47625" anchor="ctr">
                    <a:solidFill>
                      <a:srgbClr val="FFFFFF"/>
                    </a:solidFill>
                  </a:tcPr>
                </a:tc>
              </a:tr>
            </a:tbl>
          </a:graphicData>
        </a:graphic>
      </p:graphicFrame>
      <p:sp>
        <p:nvSpPr>
          <p:cNvPr id="4" name="qualification">
            <a:extLst xmlns:a="http://schemas.openxmlformats.org/drawingml/2006/main">
              <a:ext uri="{FF2B5EF4-FFF2-40B4-BE49-F238E27FC236}">
                <a16:creationId xmlns:a16="http://schemas.microsoft.com/office/drawing/2014/main" id="{F0252ADE-DDA6-4B30-BA54-0BC671CBD3E5}"/>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Administrative access to the software does not automatically grant authority to transfer university assets.</a:t>
            </a:r>
          </a:p>
        </p:txBody>
      </p:sp>
    </p:spTree>
    <p:extLst>
      <p:ext uri="{BB962C8B-B14F-4D97-AF65-F5344CB8AC3E}">
        <p14:creationId xmlns:p14="http://schemas.microsoft.com/office/powerpoint/2010/main" val="4408062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9AB60C56-CC3E-4EF1-9BC0-24A49AB90E69}"/>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AI capabilities and human control</a:t>
            </a:r>
          </a:p>
        </p:txBody>
      </p:sp>
      <p:sp>
        <p:nvSpPr>
          <p:cNvPr id="2" name="slide-number">
            <a:extLst xmlns:a="http://schemas.openxmlformats.org/drawingml/2006/main">
              <a:ext uri="{FF2B5EF4-FFF2-40B4-BE49-F238E27FC236}">
                <a16:creationId xmlns:a16="http://schemas.microsoft.com/office/drawing/2014/main" id="{90FE9D6C-A8F7-42EC-B5A4-8A4C6FD8FAE2}"/>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5</a:t>
            </a:r>
          </a:p>
        </p:txBody>
      </p:sp>
      <p:graphicFrame>
        <p:nvGraphicFramePr>
          <p:cNvPr id="9" name=""/>
          <p:cNvGraphicFramePr/>
          <p:nvPr/>
        </p:nvGraphicFramePr>
        <p:xfrm>
          <a:off xmlns:a="http://schemas.openxmlformats.org/drawingml/2006/main" x="533400" y="1266825"/>
          <a:ext xmlns:a="http://schemas.openxmlformats.org/drawingml/2006/main" cx="11125200" cy="4581525"/>
        </p:xfrm>
        <a:graphic xmlns:a="http://schemas.openxmlformats.org/drawingml/2006/main">
          <a:graphicData uri="http://schemas.openxmlformats.org/drawingml/2006/table">
            <a:tbl>
              <a:tblPr firstRow="1" bandRow="0"/>
              <a:tblGrid>
                <a:gridCol w="3337560"/>
                <a:gridCol w="7787640"/>
              </a:tblGrid>
              <a:tr h="476250">
                <a:tc>
                  <a:txBody>
                    <a:bodyPr wrap="square">
                      <a:noAutofit/>
                    </a:bodyPr>
                    <a:lstStyle/>
                    <a:p>
                      <a:pPr algn="l">
                        <a:buNone/>
                      </a:pPr>
                      <a:r>
                        <a:rPr sz="1725" b="1">
                          <a:solidFill>
                            <a:srgbClr val="FFFFFF"/>
                          </a:solidFill>
                          <a:latin typeface="Arial"/>
                          <a:ea typeface="Arial"/>
                          <a:cs typeface="Arial"/>
                        </a:rPr>
                        <a:t>Capability</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Proposed implementation and control</a:t>
                      </a:r>
                    </a:p>
                  </a:txBody>
                  <a:tcPr marL="114300" marR="114300" marT="47625" marB="47625" anchor="ctr">
                    <a:solidFill>
                      <a:srgbClr val="142F43"/>
                    </a:solidFill>
                  </a:tcPr>
                </a:tc>
              </a:tr>
              <a:tr h="821055">
                <a:tc>
                  <a:txBody>
                    <a:bodyPr wrap="square">
                      <a:noAutofit/>
                    </a:bodyPr>
                    <a:lstStyle/>
                    <a:p>
                      <a:pPr algn="l">
                        <a:buNone/>
                      </a:pPr>
                      <a:r>
                        <a:rPr sz="1800" b="0">
                          <a:solidFill>
                            <a:srgbClr val="203440"/>
                          </a:solidFill>
                          <a:latin typeface="Arial"/>
                          <a:ea typeface="Arial"/>
                          <a:cs typeface="Arial"/>
                        </a:rPr>
                        <a:t>AI-01 Classification</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Compare asset text with category descriptions. Custodians accept, correct or reject suggestions.</a:t>
                      </a:r>
                    </a:p>
                  </a:txBody>
                  <a:tcPr marL="114300" marR="114300" marT="47625" marB="47625" anchor="ctr">
                    <a:solidFill>
                      <a:srgbClr val="FFFFFF"/>
                    </a:solidFill>
                  </a:tcPr>
                </a:tc>
              </a:tr>
              <a:tr h="821055">
                <a:tc>
                  <a:txBody>
                    <a:bodyPr wrap="square">
                      <a:noAutofit/>
                    </a:bodyPr>
                    <a:lstStyle/>
                    <a:p>
                      <a:pPr algn="l">
                        <a:buNone/>
                      </a:pPr>
                      <a:r>
                        <a:rPr sz="1800" b="0">
                          <a:solidFill>
                            <a:srgbClr val="203440"/>
                          </a:solidFill>
                          <a:latin typeface="Arial"/>
                          <a:ea typeface="Arial"/>
                          <a:cs typeface="Arial"/>
                        </a:rPr>
                        <a:t>AI-02 Resource matching</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Filter mandatory specifications before semantic ranking. Explain why an asset appears.</a:t>
                      </a:r>
                    </a:p>
                  </a:txBody>
                  <a:tcPr marL="114300" marR="114300" marT="47625" marB="47625" anchor="ctr">
                    <a:solidFill>
                      <a:srgbClr val="EDF3F5"/>
                    </a:solidFill>
                  </a:tcPr>
                </a:tc>
              </a:tr>
              <a:tr h="821055">
                <a:tc>
                  <a:txBody>
                    <a:bodyPr wrap="square">
                      <a:noAutofit/>
                    </a:bodyPr>
                    <a:lstStyle/>
                    <a:p>
                      <a:pPr algn="l">
                        <a:buNone/>
                      </a:pPr>
                      <a:r>
                        <a:rPr sz="1800" b="0">
                          <a:solidFill>
                            <a:srgbClr val="203440"/>
                          </a:solidFill>
                          <a:latin typeface="Arial"/>
                          <a:ea typeface="Arial"/>
                          <a:cs typeface="Arial"/>
                        </a:rPr>
                        <a:t>AI-03 Life-cycle advice</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Use the available condition and history evidence. People decide reuse, repair or final disposition.</a:t>
                      </a:r>
                    </a:p>
                  </a:txBody>
                  <a:tcPr marL="114300" marR="114300" marT="47625" marB="47625" anchor="ctr">
                    <a:solidFill>
                      <a:srgbClr val="FFFFFF"/>
                    </a:solidFill>
                  </a:tcPr>
                </a:tc>
              </a:tr>
              <a:tr h="821055">
                <a:tc>
                  <a:txBody>
                    <a:bodyPr wrap="square">
                      <a:noAutofit/>
                    </a:bodyPr>
                    <a:lstStyle/>
                    <a:p>
                      <a:pPr algn="l">
                        <a:buNone/>
                      </a:pPr>
                      <a:r>
                        <a:rPr sz="1800" b="0">
                          <a:solidFill>
                            <a:srgbClr val="203440"/>
                          </a:solidFill>
                          <a:latin typeface="Arial"/>
                          <a:ea typeface="Arial"/>
                          <a:cs typeface="Arial"/>
                        </a:rPr>
                        <a:t>AI-04 Natural-language assistance</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Display the proposed request for confirmation. The assistant cannot approve a transfer or confirm receipt.</a:t>
                      </a:r>
                    </a:p>
                  </a:txBody>
                  <a:tcPr marL="114300" marR="114300" marT="47625" marB="47625" anchor="ctr">
                    <a:solidFill>
                      <a:srgbClr val="EDF3F5"/>
                    </a:solidFill>
                  </a:tcPr>
                </a:tc>
              </a:tr>
              <a:tr h="821055">
                <a:tc>
                  <a:txBody>
                    <a:bodyPr wrap="square">
                      <a:noAutofit/>
                    </a:bodyPr>
                    <a:lstStyle/>
                    <a:p>
                      <a:pPr algn="l">
                        <a:buNone/>
                      </a:pPr>
                      <a:r>
                        <a:rPr sz="1800" b="0">
                          <a:solidFill>
                            <a:srgbClr val="203440"/>
                          </a:solidFill>
                          <a:latin typeface="Arial"/>
                          <a:ea typeface="Arial"/>
                          <a:cs typeface="Arial"/>
                        </a:rPr>
                        <a:t>AI-05 Generated summaries</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Compute numerical results outside the language model. Generated text explains those supplied results.</a:t>
                      </a:r>
                    </a:p>
                  </a:txBody>
                  <a:tcPr marL="114300" marR="114300" marT="47625" marB="47625" anchor="ctr">
                    <a:solidFill>
                      <a:srgbClr val="FFFFFF"/>
                    </a:solidFill>
                  </a:tcPr>
                </a:tc>
              </a:tr>
            </a:tbl>
          </a:graphicData>
        </a:graphic>
      </p:graphicFrame>
      <p:sp>
        <p:nvSpPr>
          <p:cNvPr id="4" name="qualification">
            <a:extLst xmlns:a="http://schemas.openxmlformats.org/drawingml/2006/main">
              <a:ext uri="{FF2B5EF4-FFF2-40B4-BE49-F238E27FC236}">
                <a16:creationId xmlns:a16="http://schemas.microsoft.com/office/drawing/2014/main" id="{C30F0E38-B0EB-4A55-A3C7-53AF487D2DE9}"/>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All five functions remain in scope. A canned report cannot demonstrate that the generative-AI requirement is complete.</a:t>
            </a:r>
          </a:p>
        </p:txBody>
      </p:sp>
    </p:spTree>
    <p:extLst>
      <p:ext uri="{BB962C8B-B14F-4D97-AF65-F5344CB8AC3E}">
        <p14:creationId xmlns:p14="http://schemas.microsoft.com/office/powerpoint/2010/main" val="196421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BE65FF03-7FB5-4645-A284-CF590C8F65FE}"/>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Measurable acceptance targets</a:t>
            </a:r>
          </a:p>
        </p:txBody>
      </p:sp>
      <p:sp>
        <p:nvSpPr>
          <p:cNvPr id="2" name="slide-number">
            <a:extLst xmlns:a="http://schemas.openxmlformats.org/drawingml/2006/main">
              <a:ext uri="{FF2B5EF4-FFF2-40B4-BE49-F238E27FC236}">
                <a16:creationId xmlns:a16="http://schemas.microsoft.com/office/drawing/2014/main" id="{BF8EB061-CCD5-4253-8EDE-7D873A30F9F8}"/>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6</a:t>
            </a:r>
          </a:p>
        </p:txBody>
      </p:sp>
      <p:graphicFrame>
        <p:nvGraphicFramePr>
          <p:cNvPr id="9" name=""/>
          <p:cNvGraphicFramePr/>
          <p:nvPr/>
        </p:nvGraphicFramePr>
        <p:xfrm>
          <a:off xmlns:a="http://schemas.openxmlformats.org/drawingml/2006/main" x="533400" y="1266825"/>
          <a:ext xmlns:a="http://schemas.openxmlformats.org/drawingml/2006/main" cx="11125200" cy="4581525"/>
        </p:xfrm>
        <a:graphic xmlns:a="http://schemas.openxmlformats.org/drawingml/2006/main">
          <a:graphicData uri="http://schemas.openxmlformats.org/drawingml/2006/table">
            <a:tbl>
              <a:tblPr firstRow="1" bandRow="0"/>
              <a:tblGrid>
                <a:gridCol w="2892552"/>
                <a:gridCol w="8232648"/>
              </a:tblGrid>
              <a:tr h="476250">
                <a:tc>
                  <a:txBody>
                    <a:bodyPr wrap="square">
                      <a:noAutofit/>
                    </a:bodyPr>
                    <a:lstStyle/>
                    <a:p>
                      <a:pPr algn="l">
                        <a:buNone/>
                      </a:pPr>
                      <a:r>
                        <a:rPr sz="1725" b="1">
                          <a:solidFill>
                            <a:srgbClr val="FFFFFF"/>
                          </a:solidFill>
                          <a:latin typeface="Arial"/>
                          <a:ea typeface="Arial"/>
                          <a:cs typeface="Arial"/>
                        </a:rPr>
                        <a:t>Area and owner</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Target and test conditions</a:t>
                      </a:r>
                    </a:p>
                  </a:txBody>
                  <a:tcPr marL="114300" marR="114300" marT="47625" marB="47625" anchor="ctr">
                    <a:solidFill>
                      <a:srgbClr val="142F43"/>
                    </a:solidFill>
                  </a:tcPr>
                </a:tc>
              </a:tr>
              <a:tr h="684213">
                <a:tc>
                  <a:txBody>
                    <a:bodyPr wrap="square">
                      <a:noAutofit/>
                    </a:bodyPr>
                    <a:lstStyle/>
                    <a:p>
                      <a:pPr algn="l">
                        <a:buNone/>
                      </a:pPr>
                      <a:r>
                        <a:rPr sz="1800" b="0">
                          <a:solidFill>
                            <a:srgbClr val="203440"/>
                          </a:solidFill>
                          <a:latin typeface="Arial"/>
                          <a:ea typeface="Arial"/>
                          <a:cs typeface="Arial"/>
                        </a:rPr>
                        <a:t>Workflow
Saeed</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Pass all 10 defined workflow scenarios.</a:t>
                      </a:r>
                    </a:p>
                  </a:txBody>
                  <a:tcPr marL="114300" marR="114300" marT="47625" marB="47625" anchor="ctr">
                    <a:solidFill>
                      <a:srgbClr val="FFFFFF"/>
                    </a:solidFill>
                  </a:tcPr>
                </a:tc>
              </a:tr>
              <a:tr h="684213">
                <a:tc>
                  <a:txBody>
                    <a:bodyPr wrap="square">
                      <a:noAutofit/>
                    </a:bodyPr>
                    <a:lstStyle/>
                    <a:p>
                      <a:pPr algn="l">
                        <a:buNone/>
                      </a:pPr>
                      <a:r>
                        <a:rPr sz="1800" b="0">
                          <a:solidFill>
                            <a:srgbClr val="203440"/>
                          </a:solidFill>
                          <a:latin typeface="Arial"/>
                          <a:ea typeface="Arial"/>
                          <a:cs typeface="Arial"/>
                        </a:rPr>
                        <a:t>Permissions
Ali</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Reject every prohibited action in the defined permission tests.</a:t>
                      </a:r>
                    </a:p>
                  </a:txBody>
                  <a:tcPr marL="114300" marR="114300" marT="47625" marB="47625" anchor="ctr">
                    <a:solidFill>
                      <a:srgbClr val="EDF3F5"/>
                    </a:solidFill>
                  </a:tcPr>
                </a:tc>
              </a:tr>
              <a:tr h="684213">
                <a:tc>
                  <a:txBody>
                    <a:bodyPr wrap="square">
                      <a:noAutofit/>
                    </a:bodyPr>
                    <a:lstStyle/>
                    <a:p>
                      <a:pPr algn="l">
                        <a:buNone/>
                      </a:pPr>
                      <a:r>
                        <a:rPr sz="1800" b="0">
                          <a:solidFill>
                            <a:srgbClr val="203440"/>
                          </a:solidFill>
                          <a:latin typeface="Arial"/>
                          <a:ea typeface="Arial"/>
                          <a:cs typeface="Arial"/>
                        </a:rPr>
                        <a:t>Structured search
Humaid</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At least 950 of 1,000 requests finish within 2 seconds after warm-up, with 500 assets and 10 concurrent users.</a:t>
                      </a:r>
                    </a:p>
                  </a:txBody>
                  <a:tcPr marL="114300" marR="114300" marT="47625" marB="47625" anchor="ctr">
                    <a:solidFill>
                      <a:srgbClr val="FFFFFF"/>
                    </a:solidFill>
                  </a:tcPr>
                </a:tc>
              </a:tr>
              <a:tr h="684213">
                <a:tc>
                  <a:txBody>
                    <a:bodyPr wrap="square">
                      <a:noAutofit/>
                    </a:bodyPr>
                    <a:lstStyle/>
                    <a:p>
                      <a:pPr algn="l">
                        <a:buNone/>
                      </a:pPr>
                      <a:r>
                        <a:rPr sz="1800" b="0">
                          <a:solidFill>
                            <a:srgbClr val="203440"/>
                          </a:solidFill>
                          <a:latin typeface="Arial"/>
                          <a:ea typeface="Arial"/>
                          <a:cs typeface="Arial"/>
                        </a:rPr>
                        <a:t>Usability
Ali</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At least 4 of 5 testers complete the specified tasks without help.</a:t>
                      </a:r>
                    </a:p>
                  </a:txBody>
                  <a:tcPr marL="114300" marR="114300" marT="47625" marB="47625" anchor="ctr">
                    <a:solidFill>
                      <a:srgbClr val="EDF3F5"/>
                    </a:solidFill>
                  </a:tcPr>
                </a:tc>
              </a:tr>
              <a:tr h="684213">
                <a:tc>
                  <a:txBody>
                    <a:bodyPr wrap="square">
                      <a:noAutofit/>
                    </a:bodyPr>
                    <a:lstStyle/>
                    <a:p>
                      <a:pPr algn="l">
                        <a:buNone/>
                      </a:pPr>
                      <a:r>
                        <a:rPr sz="1800" b="0">
                          <a:solidFill>
                            <a:srgbClr val="203440"/>
                          </a:solidFill>
                          <a:latin typeface="Arial"/>
                          <a:ea typeface="Arial"/>
                          <a:cs typeface="Arial"/>
                        </a:rPr>
                        <a:t>Resource matching
Humaid</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An acceptable asset appears in the first 3 results for at least 16 of 20 feasible requests.</a:t>
                      </a:r>
                    </a:p>
                  </a:txBody>
                  <a:tcPr marL="114300" marR="114300" marT="47625" marB="47625" anchor="ctr">
                    <a:solidFill>
                      <a:srgbClr val="FFFFFF"/>
                    </a:solidFill>
                  </a:tcPr>
                </a:tc>
              </a:tr>
              <a:tr h="684213">
                <a:tc>
                  <a:txBody>
                    <a:bodyPr wrap="square">
                      <a:noAutofit/>
                    </a:bodyPr>
                    <a:lstStyle/>
                    <a:p>
                      <a:pPr algn="l">
                        <a:buNone/>
                      </a:pPr>
                      <a:r>
                        <a:rPr sz="1800" b="0">
                          <a:solidFill>
                            <a:srgbClr val="203440"/>
                          </a:solidFill>
                          <a:latin typeface="Arial"/>
                          <a:ea typeface="Arial"/>
                          <a:cs typeface="Arial"/>
                        </a:rPr>
                        <a:t>Impact calculations
Humaid</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Reproduce expected values in all 10 calculation cases.</a:t>
                      </a:r>
                    </a:p>
                  </a:txBody>
                  <a:tcPr marL="114300" marR="114300" marT="47625" marB="47625" anchor="ctr">
                    <a:solidFill>
                      <a:srgbClr val="EDF3F5"/>
                    </a:solidFill>
                  </a:tcPr>
                </a:tc>
              </a:tr>
            </a:tbl>
          </a:graphicData>
        </a:graphic>
      </p:graphicFrame>
      <p:sp>
        <p:nvSpPr>
          <p:cNvPr id="4" name="qualification">
            <a:extLst xmlns:a="http://schemas.openxmlformats.org/drawingml/2006/main">
              <a:ext uri="{FF2B5EF4-FFF2-40B4-BE49-F238E27FC236}">
                <a16:creationId xmlns:a16="http://schemas.microsoft.com/office/drawing/2014/main" id="{2DDE9ECE-62B2-4F9C-9E2F-1A43FAB95CB3}"/>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Internal target: 22 November 2026, before the final lab week. These targets remain untested. The named students own the evidence.</a:t>
            </a:r>
          </a:p>
        </p:txBody>
      </p:sp>
    </p:spTree>
    <p:extLst>
      <p:ext uri="{BB962C8B-B14F-4D97-AF65-F5344CB8AC3E}">
        <p14:creationId xmlns:p14="http://schemas.microsoft.com/office/powerpoint/2010/main" val="21052492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AF136F9D-8080-4EAC-B287-ACE8FA5958E5}"/>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Operational stakeholders</a:t>
            </a:r>
          </a:p>
        </p:txBody>
      </p:sp>
      <p:sp>
        <p:nvSpPr>
          <p:cNvPr id="2" name="slide-number">
            <a:extLst xmlns:a="http://schemas.openxmlformats.org/drawingml/2006/main">
              <a:ext uri="{FF2B5EF4-FFF2-40B4-BE49-F238E27FC236}">
                <a16:creationId xmlns:a16="http://schemas.microsoft.com/office/drawing/2014/main" id="{D848FB93-13D7-4D4B-8C57-184CE04A61D2}"/>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7</a:t>
            </a:r>
          </a:p>
        </p:txBody>
      </p:sp>
      <p:graphicFrame>
        <p:nvGraphicFramePr>
          <p:cNvPr id="9" name=""/>
          <p:cNvGraphicFramePr/>
          <p:nvPr/>
        </p:nvGraphicFramePr>
        <p:xfrm>
          <a:off xmlns:a="http://schemas.openxmlformats.org/drawingml/2006/main" x="533400" y="1266825"/>
          <a:ext xmlns:a="http://schemas.openxmlformats.org/drawingml/2006/main" cx="11125200" cy="4581525"/>
        </p:xfrm>
        <a:graphic xmlns:a="http://schemas.openxmlformats.org/drawingml/2006/main">
          <a:graphicData uri="http://schemas.openxmlformats.org/drawingml/2006/table">
            <a:tbl>
              <a:tblPr firstRow="1" bandRow="0"/>
              <a:tblGrid>
                <a:gridCol w="2447544"/>
                <a:gridCol w="4450080"/>
                <a:gridCol w="4227576"/>
              </a:tblGrid>
              <a:tr h="476250">
                <a:tc>
                  <a:txBody>
                    <a:bodyPr wrap="square">
                      <a:noAutofit/>
                    </a:bodyPr>
                    <a:lstStyle/>
                    <a:p>
                      <a:pPr algn="l">
                        <a:buNone/>
                      </a:pPr>
                      <a:r>
                        <a:rPr sz="1725" b="1">
                          <a:solidFill>
                            <a:srgbClr val="FFFFFF"/>
                          </a:solidFill>
                          <a:latin typeface="Arial"/>
                          <a:ea typeface="Arial"/>
                          <a:cs typeface="Arial"/>
                        </a:rPr>
                        <a:t>Stakeholder</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Responsibility</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Acceptance condition</a:t>
                      </a:r>
                    </a:p>
                  </a:txBody>
                  <a:tcPr marL="114300" marR="114300" marT="47625" marB="47625" anchor="ctr">
                    <a:solidFill>
                      <a:srgbClr val="142F43"/>
                    </a:solidFill>
                  </a:tcPr>
                </a:tc>
              </a:tr>
              <a:tr h="1026319">
                <a:tc>
                  <a:txBody>
                    <a:bodyPr wrap="square">
                      <a:noAutofit/>
                    </a:bodyPr>
                    <a:lstStyle/>
                    <a:p>
                      <a:pPr algn="l">
                        <a:buNone/>
                      </a:pPr>
                      <a:r>
                        <a:rPr sz="1800" b="0">
                          <a:solidFill>
                            <a:srgbClr val="203440"/>
                          </a:solidFill>
                          <a:latin typeface="Arial"/>
                          <a:ea typeface="Arial"/>
                          <a:cs typeface="Arial"/>
                        </a:rPr>
                        <a:t>Department requester</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Specify quantity, compatibility and required date. Check matches and request status.</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Submit a complete request and identify its status without help.</a:t>
                      </a:r>
                    </a:p>
                  </a:txBody>
                  <a:tcPr marL="114300" marR="114300" marT="47625" marB="47625" anchor="ctr">
                    <a:solidFill>
                      <a:srgbClr val="FFFFFF"/>
                    </a:solidFill>
                  </a:tcPr>
                </a:tc>
              </a:tr>
              <a:tr h="1026319">
                <a:tc>
                  <a:txBody>
                    <a:bodyPr wrap="square">
                      <a:noAutofit/>
                    </a:bodyPr>
                    <a:lstStyle/>
                    <a:p>
                      <a:pPr algn="l">
                        <a:buNone/>
                      </a:pPr>
                      <a:r>
                        <a:rPr sz="1800" b="0">
                          <a:solidFill>
                            <a:srgbClr val="203440"/>
                          </a:solidFill>
                          <a:latin typeface="Arial"/>
                          <a:ea typeface="Arial"/>
                          <a:cs typeface="Arial"/>
                        </a:rPr>
                        <a:t>Asset custodian</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Maintain quantity, condition and location. Publish availability and confirm release.</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No reservation above available stock and no release without approval.</a:t>
                      </a:r>
                    </a:p>
                  </a:txBody>
                  <a:tcPr marL="114300" marR="114300" marT="47625" marB="47625" anchor="ctr">
                    <a:solidFill>
                      <a:srgbClr val="EDF3F5"/>
                    </a:solidFill>
                  </a:tcPr>
                </a:tc>
              </a:tr>
              <a:tr h="1026319">
                <a:tc>
                  <a:txBody>
                    <a:bodyPr wrap="square">
                      <a:noAutofit/>
                    </a:bodyPr>
                    <a:lstStyle/>
                    <a:p>
                      <a:pPr algn="l">
                        <a:buNone/>
                      </a:pPr>
                      <a:r>
                        <a:rPr sz="1800" b="0">
                          <a:solidFill>
                            <a:srgbClr val="203440"/>
                          </a:solidFill>
                          <a:latin typeface="Arial"/>
                          <a:ea typeface="Arial"/>
                          <a:cs typeface="Arial"/>
                        </a:rPr>
                        <a:t>Designated approver</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Review purpose and ownership. Approve or reject with a reason.</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Record the approver, time, affected request and outcome.</a:t>
                      </a:r>
                    </a:p>
                  </a:txBody>
                  <a:tcPr marL="114300" marR="114300" marT="47625" marB="47625" anchor="ctr">
                    <a:solidFill>
                      <a:srgbClr val="FFFFFF"/>
                    </a:solidFill>
                  </a:tcPr>
                </a:tc>
              </a:tr>
              <a:tr h="1026319">
                <a:tc>
                  <a:txBody>
                    <a:bodyPr wrap="square">
                      <a:noAutofit/>
                    </a:bodyPr>
                    <a:lstStyle/>
                    <a:p>
                      <a:pPr algn="l">
                        <a:buNone/>
                      </a:pPr>
                      <a:r>
                        <a:rPr sz="1800" b="0">
                          <a:solidFill>
                            <a:srgbClr val="203440"/>
                          </a:solidFill>
                          <a:latin typeface="Arial"/>
                          <a:ea typeface="Arial"/>
                          <a:cs typeface="Arial"/>
                        </a:rPr>
                        <a:t>Maintenance staff</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Record inspections, defects, repairs, cost and resulting condition.</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Exclude unserviceable assets from matches for working resources.</a:t>
                      </a:r>
                    </a:p>
                  </a:txBody>
                  <a:tcPr marL="114300" marR="114300" marT="47625" marB="47625" anchor="ctr">
                    <a:solidFill>
                      <a:srgbClr val="EDF3F5"/>
                    </a:solidFill>
                  </a:tcPr>
                </a:tc>
              </a:tr>
            </a:tbl>
          </a:graphicData>
        </a:graphic>
      </p:graphicFrame>
      <p:sp>
        <p:nvSpPr>
          <p:cNvPr id="4" name="qualification">
            <a:extLst xmlns:a="http://schemas.openxmlformats.org/drawingml/2006/main">
              <a:ext uri="{FF2B5EF4-FFF2-40B4-BE49-F238E27FC236}">
                <a16:creationId xmlns:a16="http://schemas.microsoft.com/office/drawing/2014/main" id="{6FC76D31-7A35-4C17-B78F-CB5AB5495CA2}"/>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Assumed KU process: email/forms, Excel/shared asset registers and separate maintenance records. Request, stock check, approval, handover and custody update remain unverified.</a:t>
            </a:r>
          </a:p>
        </p:txBody>
      </p:sp>
    </p:spTree>
    <p:extLst>
      <p:ext uri="{BB962C8B-B14F-4D97-AF65-F5344CB8AC3E}">
        <p14:creationId xmlns:p14="http://schemas.microsoft.com/office/powerpoint/2010/main" val="68021904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69D9FF32-16D2-49BF-A941-FF7FDB510F3D}"/>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Oversight and accountability</a:t>
            </a:r>
          </a:p>
        </p:txBody>
      </p:sp>
      <p:sp>
        <p:nvSpPr>
          <p:cNvPr id="2" name="slide-number">
            <a:extLst xmlns:a="http://schemas.openxmlformats.org/drawingml/2006/main">
              <a:ext uri="{FF2B5EF4-FFF2-40B4-BE49-F238E27FC236}">
                <a16:creationId xmlns:a16="http://schemas.microsoft.com/office/drawing/2014/main" id="{2C7F7476-06CE-4AD4-BCE7-F9C93B8E219A}"/>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8</a:t>
            </a:r>
          </a:p>
        </p:txBody>
      </p:sp>
      <p:graphicFrame>
        <p:nvGraphicFramePr>
          <p:cNvPr id="9" name=""/>
          <p:cNvGraphicFramePr/>
          <p:nvPr/>
        </p:nvGraphicFramePr>
        <p:xfrm>
          <a:off xmlns:a="http://schemas.openxmlformats.org/drawingml/2006/main" x="533400" y="1266825"/>
          <a:ext xmlns:a="http://schemas.openxmlformats.org/drawingml/2006/main" cx="11125200" cy="4581525"/>
        </p:xfrm>
        <a:graphic xmlns:a="http://schemas.openxmlformats.org/drawingml/2006/main">
          <a:graphicData uri="http://schemas.openxmlformats.org/drawingml/2006/table">
            <a:tbl>
              <a:tblPr firstRow="1" bandRow="0"/>
              <a:tblGrid>
                <a:gridCol w="2558796"/>
                <a:gridCol w="4561332"/>
                <a:gridCol w="4005072"/>
              </a:tblGrid>
              <a:tr h="476250">
                <a:tc>
                  <a:txBody>
                    <a:bodyPr wrap="square">
                      <a:noAutofit/>
                    </a:bodyPr>
                    <a:lstStyle/>
                    <a:p>
                      <a:pPr algn="l">
                        <a:buNone/>
                      </a:pPr>
                      <a:r>
                        <a:rPr sz="1725" b="1">
                          <a:solidFill>
                            <a:srgbClr val="FFFFFF"/>
                          </a:solidFill>
                          <a:latin typeface="Arial"/>
                          <a:ea typeface="Arial"/>
                          <a:cs typeface="Arial"/>
                        </a:rPr>
                        <a:t>Stakeholder</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Information or responsibility</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Acceptance condition</a:t>
                      </a:r>
                    </a:p>
                  </a:txBody>
                  <a:tcPr marL="114300" marR="114300" marT="47625" marB="47625" anchor="ctr">
                    <a:solidFill>
                      <a:srgbClr val="142F43"/>
                    </a:solidFill>
                  </a:tcPr>
                </a:tc>
              </a:tr>
              <a:tr h="1368425">
                <a:tc>
                  <a:txBody>
                    <a:bodyPr wrap="square">
                      <a:noAutofit/>
                    </a:bodyPr>
                    <a:lstStyle/>
                    <a:p>
                      <a:pPr algn="l">
                        <a:buNone/>
                      </a:pPr>
                      <a:r>
                        <a:rPr sz="1800" b="0">
                          <a:solidFill>
                            <a:srgbClr val="203440"/>
                          </a:solidFill>
                          <a:latin typeface="Arial"/>
                          <a:ea typeface="Arial"/>
                          <a:cs typeface="Arial"/>
                        </a:rPr>
                        <a:t>Procurement and finance</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Review avoided purchases and the repair and transfer costs.</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Trace each financial estimate to a completed event and its inputs.</a:t>
                      </a:r>
                    </a:p>
                  </a:txBody>
                  <a:tcPr marL="114300" marR="114300" marT="47625" marB="47625" anchor="ctr">
                    <a:solidFill>
                      <a:srgbClr val="FFFFFF"/>
                    </a:solidFill>
                  </a:tcPr>
                </a:tc>
              </a:tr>
              <a:tr h="1368425">
                <a:tc>
                  <a:txBody>
                    <a:bodyPr wrap="square">
                      <a:noAutofit/>
                    </a:bodyPr>
                    <a:lstStyle/>
                    <a:p>
                      <a:pPr algn="l">
                        <a:buNone/>
                      </a:pPr>
                      <a:r>
                        <a:rPr sz="1800" b="0">
                          <a:solidFill>
                            <a:srgbClr val="203440"/>
                          </a:solidFill>
                          <a:latin typeface="Arial"/>
                          <a:ea typeface="Arial"/>
                          <a:cs typeface="Arial"/>
                        </a:rPr>
                        <a:t>Sustainability staff</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Review reuse counts, asset mass and environmental assumptions.</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Show an unavailable estimate when mass or emissions factors are missing.</a:t>
                      </a:r>
                    </a:p>
                  </a:txBody>
                  <a:tcPr marL="114300" marR="114300" marT="47625" marB="47625" anchor="ctr">
                    <a:solidFill>
                      <a:srgbClr val="EDF3F5"/>
                    </a:solidFill>
                  </a:tcPr>
                </a:tc>
              </a:tr>
              <a:tr h="1368425">
                <a:tc>
                  <a:txBody>
                    <a:bodyPr wrap="square">
                      <a:noAutofit/>
                    </a:bodyPr>
                    <a:lstStyle/>
                    <a:p>
                      <a:pPr algn="l">
                        <a:buNone/>
                      </a:pPr>
                      <a:r>
                        <a:rPr sz="1800" b="0">
                          <a:solidFill>
                            <a:srgbClr val="203440"/>
                          </a:solidFill>
                          <a:latin typeface="Arial"/>
                          <a:ea typeface="Arial"/>
                          <a:cs typeface="Arial"/>
                        </a:rPr>
                        <a:t>System administrator</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Manage accounts, roles, departments and backup access.</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Software administration alone cannot authorize a business transfer.</a:t>
                      </a:r>
                    </a:p>
                  </a:txBody>
                  <a:tcPr marL="114300" marR="114300" marT="47625" marB="47625" anchor="ctr">
                    <a:solidFill>
                      <a:srgbClr val="FFFFFF"/>
                    </a:solidFill>
                  </a:tcPr>
                </a:tc>
              </a:tr>
            </a:tbl>
          </a:graphicData>
        </a:graphic>
      </p:graphicFrame>
      <p:sp>
        <p:nvSpPr>
          <p:cNvPr id="4" name="qualification">
            <a:extLst xmlns:a="http://schemas.openxmlformats.org/drawingml/2006/main">
              <a:ext uri="{FF2B5EF4-FFF2-40B4-BE49-F238E27FC236}">
                <a16:creationId xmlns:a16="http://schemas.microsoft.com/office/drawing/2014/main" id="{1C15CD96-E92C-4855-8C8F-B078FF0F85C0}"/>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Proposed functional owner: KU-designated Asset Management Lead, subject to KU confirmation. Approves requirements and custody rules, prioritizes changes and sponsors a pilot.</a:t>
            </a:r>
          </a:p>
        </p:txBody>
      </p:sp>
    </p:spTree>
    <p:extLst>
      <p:ext uri="{BB962C8B-B14F-4D97-AF65-F5344CB8AC3E}">
        <p14:creationId xmlns:p14="http://schemas.microsoft.com/office/powerpoint/2010/main" val="118043856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6C3A1473-DA4B-4E40-94BD-1974FF6F9016}"/>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Operational validation and demand</a:t>
            </a:r>
          </a:p>
        </p:txBody>
      </p:sp>
      <p:sp>
        <p:nvSpPr>
          <p:cNvPr id="2" name="slide-number">
            <a:extLst xmlns:a="http://schemas.openxmlformats.org/drawingml/2006/main">
              <a:ext uri="{FF2B5EF4-FFF2-40B4-BE49-F238E27FC236}">
                <a16:creationId xmlns:a16="http://schemas.microsoft.com/office/drawing/2014/main" id="{5E2929C7-EE0F-4749-8839-1BD4DD9219D0}"/>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9</a:t>
            </a:r>
          </a:p>
        </p:txBody>
      </p:sp>
      <p:sp>
        <p:nvSpPr>
          <p:cNvPr id="3" name="column-title-0">
            <a:extLst xmlns:a="http://schemas.openxmlformats.org/drawingml/2006/main">
              <a:ext uri="{FF2B5EF4-FFF2-40B4-BE49-F238E27FC236}">
                <a16:creationId xmlns:a16="http://schemas.microsoft.com/office/drawing/2014/main" id="{100CA206-6AD3-4078-A565-F81833BCC7D0}"/>
              </a:ext>
            </a:extLst>
          </p:cNvPr>
          <p:cNvSpPr>
            <a:spLocks xmlns:a="http://schemas.openxmlformats.org/drawingml/2006/main" noGrp="1"/>
          </p:cNvSpPr>
          <p:nvPr/>
        </p:nvSpPr>
        <p:spPr>
          <a:xfrm xmlns:a="http://schemas.openxmlformats.org/drawingml/2006/main">
            <a:off x="533400" y="1333500"/>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7E80"/>
                </a:solidFill>
                <a:latin typeface="Arial"/>
                <a:ea typeface="Arial"/>
                <a:cs typeface="Arial"/>
              </a:defRPr>
            </a:pPr>
            <a:r>
              <a:rPr sz="2100" b="1">
                <a:solidFill>
                  <a:srgbClr val="007E80"/>
                </a:solidFill>
                <a:latin typeface="Arial"/>
                <a:ea typeface="Arial"/>
                <a:cs typeface="Arial"/>
              </a:rPr>
              <a:t>Outstanding stakeholder research</a:t>
            </a:r>
          </a:p>
        </p:txBody>
      </p:sp>
      <p:sp>
        <p:nvSpPr>
          <p:cNvPr id="4" name="column-body-0">
            <a:extLst xmlns:a="http://schemas.openxmlformats.org/drawingml/2006/main">
              <a:ext uri="{FF2B5EF4-FFF2-40B4-BE49-F238E27FC236}">
                <a16:creationId xmlns:a16="http://schemas.microsoft.com/office/drawing/2014/main" id="{4A339AD8-3C4E-4158-8548-8384FCE3A4FA}"/>
              </a:ext>
            </a:extLst>
          </p:cNvPr>
          <p:cNvSpPr>
            <a:spLocks xmlns:a="http://schemas.openxmlformats.org/drawingml/2006/main" noGrp="1"/>
          </p:cNvSpPr>
          <p:nvPr/>
        </p:nvSpPr>
        <p:spPr>
          <a:xfrm xmlns:a="http://schemas.openxmlformats.org/drawingml/2006/main">
            <a:off x="533400" y="1866900"/>
            <a:ext cx="52959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No interviews completed as of 28 September. The initial 27 September target was missed.</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Ali will prioritize 3 roles: requester, custodian and approver. Proposed total: 10 consultations by 4 October.</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Record current tools, approval rules, a recent exchange, cost evidence and requested changes.</a:t>
            </a:r>
          </a:p>
        </p:txBody>
      </p:sp>
      <p:sp>
        <p:nvSpPr>
          <p:cNvPr id="5" name="column-title-1">
            <a:extLst xmlns:a="http://schemas.openxmlformats.org/drawingml/2006/main">
              <a:ext uri="{FF2B5EF4-FFF2-40B4-BE49-F238E27FC236}">
                <a16:creationId xmlns:a16="http://schemas.microsoft.com/office/drawing/2014/main" id="{59FE14B9-89E7-4C58-AC0F-BBA685825806}"/>
              </a:ext>
            </a:extLst>
          </p:cNvPr>
          <p:cNvSpPr>
            <a:spLocks xmlns:a="http://schemas.openxmlformats.org/drawingml/2006/main" noGrp="1"/>
          </p:cNvSpPr>
          <p:nvPr/>
        </p:nvSpPr>
        <p:spPr>
          <a:xfrm xmlns:a="http://schemas.openxmlformats.org/drawingml/2006/main">
            <a:off x="6305550" y="1333500"/>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7E80"/>
                </a:solidFill>
                <a:latin typeface="Arial"/>
                <a:ea typeface="Arial"/>
                <a:cs typeface="Arial"/>
              </a:defRPr>
            </a:pPr>
            <a:r>
              <a:rPr sz="2100" b="1">
                <a:solidFill>
                  <a:srgbClr val="007E80"/>
                </a:solidFill>
                <a:latin typeface="Arial"/>
                <a:ea typeface="Arial"/>
                <a:cs typeface="Arial"/>
              </a:rPr>
              <a:t>Proposed demand and usability tests</a:t>
            </a:r>
          </a:p>
        </p:txBody>
      </p:sp>
      <p:sp>
        <p:nvSpPr>
          <p:cNvPr id="6" name="column-body-1">
            <a:extLst xmlns:a="http://schemas.openxmlformats.org/drawingml/2006/main">
              <a:ext uri="{FF2B5EF4-FFF2-40B4-BE49-F238E27FC236}">
                <a16:creationId xmlns:a16="http://schemas.microsoft.com/office/drawing/2014/main" id="{85DFADAA-67C4-47C4-A110-6117E3DC103B}"/>
              </a:ext>
            </a:extLst>
          </p:cNvPr>
          <p:cNvSpPr>
            <a:spLocks xmlns:a="http://schemas.openxmlformats.org/drawingml/2006/main" noGrp="1"/>
          </p:cNvSpPr>
          <p:nvPr/>
        </p:nvSpPr>
        <p:spPr>
          <a:xfrm xmlns:a="http://schemas.openxmlformats.org/drawingml/2006/main">
            <a:off x="6305550" y="1866900"/>
            <a:ext cx="52959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Demand: 6 of 10 distinct direct KU respondents report a recurring need. Proxies cannot count toward this threshold.</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Authorized staff from 3 departments identify 10 reusable assets each. No commitments are confirmed.</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After 15 minutes of training, at least 4 of 5 testers search, request and check status without help.</a:t>
            </a:r>
          </a:p>
        </p:txBody>
      </p:sp>
      <p:sp>
        <p:nvSpPr>
          <p:cNvPr id="7" name="qualification">
            <a:extLst xmlns:a="http://schemas.openxmlformats.org/drawingml/2006/main">
              <a:ext uri="{FF2B5EF4-FFF2-40B4-BE49-F238E27FC236}">
                <a16:creationId xmlns:a16="http://schemas.microsoft.com/office/drawing/2014/main" id="{4E293A4A-1BB7-4FF7-8DA9-1EF3E1C69E1B}"/>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The first 3 consultations count within the proposed total of 10. Any proxies require TA approval and cannot establish KU demand or policy.</a:t>
            </a:r>
          </a:p>
        </p:txBody>
      </p:sp>
    </p:spTree>
    <p:extLst>
      <p:ext uri="{BB962C8B-B14F-4D97-AF65-F5344CB8AC3E}">
        <p14:creationId xmlns:p14="http://schemas.microsoft.com/office/powerpoint/2010/main" val="18381440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6137C07F-D2F1-4503-A737-2B95C40BAFE7}"/>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Market evidence and alternatives</a:t>
            </a:r>
          </a:p>
        </p:txBody>
      </p:sp>
      <p:sp>
        <p:nvSpPr>
          <p:cNvPr id="2" name="slide-number">
            <a:extLst xmlns:a="http://schemas.openxmlformats.org/drawingml/2006/main">
              <a:ext uri="{FF2B5EF4-FFF2-40B4-BE49-F238E27FC236}">
                <a16:creationId xmlns:a16="http://schemas.microsoft.com/office/drawing/2014/main" id="{2134E29E-058A-4977-8F7B-6F3E701F1361}"/>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10</a:t>
            </a:r>
          </a:p>
        </p:txBody>
      </p:sp>
      <p:sp>
        <p:nvSpPr>
          <p:cNvPr id="3" name="lead">
            <a:extLst xmlns:a="http://schemas.openxmlformats.org/drawingml/2006/main">
              <a:ext uri="{FF2B5EF4-FFF2-40B4-BE49-F238E27FC236}">
                <a16:creationId xmlns:a16="http://schemas.microsoft.com/office/drawing/2014/main" id="{7C51BD25-2E31-4E8D-BB42-3EBB33CD8647}"/>
              </a:ext>
            </a:extLst>
          </p:cNvPr>
          <p:cNvSpPr>
            <a:spLocks xmlns:a="http://schemas.openxmlformats.org/drawingml/2006/main" noGrp="1"/>
          </p:cNvSpPr>
          <p:nvPr/>
        </p:nvSpPr>
        <p:spPr>
          <a:xfrm xmlns:a="http://schemas.openxmlformats.org/drawingml/2006/main">
            <a:off x="533400" y="103822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007E80"/>
                </a:solidFill>
                <a:latin typeface="Arial"/>
                <a:ea typeface="Arial"/>
                <a:cs typeface="Arial"/>
              </a:defRPr>
            </a:pPr>
            <a:r>
              <a:rPr sz="1875" b="1">
                <a:solidFill>
                  <a:srgbClr val="007E80"/>
                </a:solidFill>
                <a:latin typeface="Arial"/>
                <a:ea typeface="Arial"/>
                <a:cs typeface="Arial"/>
              </a:rPr>
              <a:t>UCL reported GBP 0.5 million saved during its first six years using Warp-it [1].</a:t>
            </a:r>
          </a:p>
        </p:txBody>
      </p:sp>
      <p:graphicFrame>
        <p:nvGraphicFramePr>
          <p:cNvPr id="11" name=""/>
          <p:cNvGraphicFramePr/>
          <p:nvPr/>
        </p:nvGraphicFramePr>
        <p:xfrm>
          <a:off xmlns:a="http://schemas.openxmlformats.org/drawingml/2006/main" x="533400" y="1762125"/>
          <a:ext xmlns:a="http://schemas.openxmlformats.org/drawingml/2006/main" cx="11125200" cy="4086225"/>
        </p:xfrm>
        <a:graphic xmlns:a="http://schemas.openxmlformats.org/drawingml/2006/main">
          <a:graphicData uri="http://schemas.openxmlformats.org/drawingml/2006/table">
            <a:tbl>
              <a:tblPr firstRow="1" bandRow="0"/>
              <a:tblGrid>
                <a:gridCol w="2447544"/>
                <a:gridCol w="4783836"/>
                <a:gridCol w="3893820"/>
              </a:tblGrid>
              <a:tr h="476250">
                <a:tc>
                  <a:txBody>
                    <a:bodyPr wrap="square">
                      <a:noAutofit/>
                    </a:bodyPr>
                    <a:lstStyle/>
                    <a:p>
                      <a:pPr algn="l">
                        <a:buNone/>
                      </a:pPr>
                      <a:r>
                        <a:rPr sz="1725" b="1">
                          <a:solidFill>
                            <a:srgbClr val="FFFFFF"/>
                          </a:solidFill>
                          <a:latin typeface="Arial"/>
                          <a:ea typeface="Arial"/>
                          <a:cs typeface="Arial"/>
                        </a:rPr>
                        <a:t>Alternative</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Established capability</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Implication</a:t>
                      </a:r>
                    </a:p>
                  </a:txBody>
                  <a:tcPr marL="114300" marR="114300" marT="47625" marB="47625" anchor="ctr">
                    <a:solidFill>
                      <a:srgbClr val="142F43"/>
                    </a:solidFill>
                  </a:tcPr>
                </a:tc>
              </a:tr>
              <a:tr h="902494">
                <a:tc>
                  <a:txBody>
                    <a:bodyPr wrap="square">
                      <a:noAutofit/>
                    </a:bodyPr>
                    <a:lstStyle/>
                    <a:p>
                      <a:pPr algn="l">
                        <a:buNone/>
                      </a:pPr>
                      <a:r>
                        <a:rPr sz="1800" b="0">
                          <a:solidFill>
                            <a:srgbClr val="203440"/>
                          </a:solidFill>
                          <a:latin typeface="Arial"/>
                          <a:ea typeface="Arial"/>
                          <a:cs typeface="Arial"/>
                        </a:rPr>
                        <a:t>Spreadsheet and email</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Manual asset register and messages</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Low setup effort. Reservations, permissions and approval history need manual controls.</a:t>
                      </a:r>
                    </a:p>
                  </a:txBody>
                  <a:tcPr marL="114300" marR="114300" marT="47625" marB="47625" anchor="ctr">
                    <a:solidFill>
                      <a:srgbClr val="FFFFFF"/>
                    </a:solidFill>
                  </a:tcPr>
                </a:tc>
              </a:tr>
              <a:tr h="902494">
                <a:tc>
                  <a:txBody>
                    <a:bodyPr wrap="square">
                      <a:noAutofit/>
                    </a:bodyPr>
                    <a:lstStyle/>
                    <a:p>
                      <a:pPr algn="l">
                        <a:buNone/>
                      </a:pPr>
                      <a:r>
                        <a:rPr sz="1800" b="0">
                          <a:solidFill>
                            <a:srgbClr val="203440"/>
                          </a:solidFill>
                          <a:latin typeface="Arial"/>
                          <a:ea typeface="Arial"/>
                          <a:cs typeface="Arial"/>
                        </a:rPr>
                        <a:t>Snipe-IT [2]</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Requests, check-in and checkout, permissions, history and maintenance</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A configured trial must assess the course workflow and AI requirements.</a:t>
                      </a:r>
                    </a:p>
                  </a:txBody>
                  <a:tcPr marL="114300" marR="114300" marT="47625" marB="47625" anchor="ctr">
                    <a:solidFill>
                      <a:srgbClr val="EDF3F5"/>
                    </a:solidFill>
                  </a:tcPr>
                </a:tc>
              </a:tr>
              <a:tr h="902494">
                <a:tc>
                  <a:txBody>
                    <a:bodyPr wrap="square">
                      <a:noAutofit/>
                    </a:bodyPr>
                    <a:lstStyle/>
                    <a:p>
                      <a:pPr algn="l">
                        <a:buNone/>
                      </a:pPr>
                      <a:r>
                        <a:rPr sz="1800" b="0">
                          <a:solidFill>
                            <a:srgbClr val="203440"/>
                          </a:solidFill>
                          <a:latin typeface="Arial"/>
                          <a:ea typeface="Arial"/>
                          <a:cs typeface="Arial"/>
                        </a:rPr>
                        <a:t>Warp-it [1]</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UCL staff use the platform to donate and claim surplus reusable items</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Assess procurement terms and fit with departmental approval rules.</a:t>
                      </a:r>
                    </a:p>
                  </a:txBody>
                  <a:tcPr marL="114300" marR="114300" marT="47625" marB="47625" anchor="ctr">
                    <a:solidFill>
                      <a:srgbClr val="FFFFFF"/>
                    </a:solidFill>
                  </a:tcPr>
                </a:tc>
              </a:tr>
              <a:tr h="902494">
                <a:tc>
                  <a:txBody>
                    <a:bodyPr wrap="square">
                      <a:noAutofit/>
                    </a:bodyPr>
                    <a:lstStyle/>
                    <a:p>
                      <a:pPr algn="l">
                        <a:buNone/>
                      </a:pPr>
                      <a:r>
                        <a:rPr sz="1800" b="0">
                          <a:solidFill>
                            <a:srgbClr val="203440"/>
                          </a:solidFill>
                          <a:latin typeface="Arial"/>
                          <a:ea typeface="Arial"/>
                          <a:cs typeface="Arial"/>
                        </a:rPr>
                        <a:t>Circular Campus</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Exchange prototype through adaptation or custom development, with conventional and AI comparisons</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Map reusable features and required extensions before committing to a route.</a:t>
                      </a:r>
                    </a:p>
                  </a:txBody>
                  <a:tcPr marL="114300" marR="114300" marT="47625" marB="47625" anchor="ctr">
                    <a:solidFill>
                      <a:srgbClr val="EDF3F5"/>
                    </a:solidFill>
                  </a:tcPr>
                </a:tc>
              </a:tr>
            </a:tbl>
          </a:graphicData>
        </a:graphic>
      </p:graphicFrame>
      <p:sp>
        <p:nvSpPr>
          <p:cNvPr id="5" name="qualification">
            <a:extLst xmlns:a="http://schemas.openxmlformats.org/drawingml/2006/main">
              <a:ext uri="{FF2B5EF4-FFF2-40B4-BE49-F238E27FC236}">
                <a16:creationId xmlns:a16="http://schemas.microsoft.com/office/drawing/2014/main" id="{A6FA0284-E25D-4A23-B191-0DFCE904F45F}"/>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Snipe-IT trial by 4 October: map all requirements, licences and integration effort. Assume no adaptation savings before assessment. KU demand remains unproven.</a:t>
            </a:r>
          </a:p>
        </p:txBody>
      </p:sp>
    </p:spTree>
    <p:extLst>
      <p:ext uri="{BB962C8B-B14F-4D97-AF65-F5344CB8AC3E}">
        <p14:creationId xmlns:p14="http://schemas.microsoft.com/office/powerpoint/2010/main" val="80423988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D71B5780-8C3C-443C-87DE-AA6AAB58E313}"/>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Implementation routes and resources</a:t>
            </a:r>
          </a:p>
        </p:txBody>
      </p:sp>
      <p:sp>
        <p:nvSpPr>
          <p:cNvPr id="2" name="slide-number">
            <a:extLst xmlns:a="http://schemas.openxmlformats.org/drawingml/2006/main">
              <a:ext uri="{FF2B5EF4-FFF2-40B4-BE49-F238E27FC236}">
                <a16:creationId xmlns:a16="http://schemas.microsoft.com/office/drawing/2014/main" id="{E6CCE71A-4042-4D40-967D-38F9E88F97FF}"/>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11</a:t>
            </a:r>
          </a:p>
        </p:txBody>
      </p:sp>
      <p:graphicFrame>
        <p:nvGraphicFramePr>
          <p:cNvPr id="9" name=""/>
          <p:cNvGraphicFramePr/>
          <p:nvPr/>
        </p:nvGraphicFramePr>
        <p:xfrm>
          <a:off xmlns:a="http://schemas.openxmlformats.org/drawingml/2006/main" x="533400" y="1266825"/>
          <a:ext xmlns:a="http://schemas.openxmlformats.org/drawingml/2006/main" cx="11125200" cy="4581525"/>
        </p:xfrm>
        <a:graphic xmlns:a="http://schemas.openxmlformats.org/drawingml/2006/main">
          <a:graphicData uri="http://schemas.openxmlformats.org/drawingml/2006/table">
            <a:tbl>
              <a:tblPr firstRow="1" bandRow="0"/>
              <a:tblGrid>
                <a:gridCol w="2558796"/>
                <a:gridCol w="4450080"/>
                <a:gridCol w="4116324"/>
              </a:tblGrid>
              <a:tr h="476250">
                <a:tc>
                  <a:txBody>
                    <a:bodyPr wrap="square">
                      <a:noAutofit/>
                    </a:bodyPr>
                    <a:lstStyle/>
                    <a:p>
                      <a:pPr algn="l">
                        <a:buNone/>
                      </a:pPr>
                      <a:r>
                        <a:rPr sz="1725" b="1">
                          <a:solidFill>
                            <a:srgbClr val="FFFFFF"/>
                          </a:solidFill>
                          <a:latin typeface="Arial"/>
                          <a:ea typeface="Arial"/>
                          <a:cs typeface="Arial"/>
                        </a:rPr>
                        <a:t>Component</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Proposed resource</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Feasibility check</a:t>
                      </a:r>
                    </a:p>
                  </a:txBody>
                  <a:tcPr marL="114300" marR="114300" marT="47625" marB="47625" anchor="ctr">
                    <a:solidFill>
                      <a:srgbClr val="142F43"/>
                    </a:solidFill>
                  </a:tcPr>
                </a:tc>
              </a:tr>
              <a:tr h="1026319">
                <a:tc>
                  <a:txBody>
                    <a:bodyPr wrap="square">
                      <a:noAutofit/>
                    </a:bodyPr>
                    <a:lstStyle/>
                    <a:p>
                      <a:pPr algn="l">
                        <a:buNone/>
                      </a:pPr>
                      <a:r>
                        <a:rPr sz="1800" b="0">
                          <a:solidFill>
                            <a:srgbClr val="203440"/>
                          </a:solidFill>
                          <a:latin typeface="Arial"/>
                          <a:ea typeface="Arial"/>
                          <a:cs typeface="Arial"/>
                        </a:rPr>
                        <a:t>Custom web application</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Python, Django, server-rendered HTML and CSS</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Implement and test department permissions and business approvals.</a:t>
                      </a:r>
                    </a:p>
                  </a:txBody>
                  <a:tcPr marL="114300" marR="114300" marT="47625" marB="47625" anchor="ctr">
                    <a:solidFill>
                      <a:srgbClr val="FFFFFF"/>
                    </a:solidFill>
                  </a:tcPr>
                </a:tc>
              </a:tr>
              <a:tr h="1026319">
                <a:tc>
                  <a:txBody>
                    <a:bodyPr wrap="square">
                      <a:noAutofit/>
                    </a:bodyPr>
                    <a:lstStyle/>
                    <a:p>
                      <a:pPr algn="l">
                        <a:buNone/>
                      </a:pPr>
                      <a:r>
                        <a:rPr sz="1800" b="0">
                          <a:solidFill>
                            <a:srgbClr val="203440"/>
                          </a:solidFill>
                          <a:latin typeface="Arial"/>
                          <a:ea typeface="Arial"/>
                          <a:cs typeface="Arial"/>
                        </a:rPr>
                        <a:t>Custom data store</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PostgreSQL for assets, requests, reservations, transfers, decisions and history</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Use transactions for custody, location and history. Test concurrent reservations and interrupted receipt.</a:t>
                      </a:r>
                    </a:p>
                  </a:txBody>
                  <a:tcPr marL="114300" marR="114300" marT="47625" marB="47625" anchor="ctr">
                    <a:solidFill>
                      <a:srgbClr val="EDF3F5"/>
                    </a:solidFill>
                  </a:tcPr>
                </a:tc>
              </a:tr>
              <a:tr h="1026319">
                <a:tc>
                  <a:txBody>
                    <a:bodyPr wrap="square">
                      <a:noAutofit/>
                    </a:bodyPr>
                    <a:lstStyle/>
                    <a:p>
                      <a:pPr algn="l">
                        <a:buNone/>
                      </a:pPr>
                      <a:r>
                        <a:rPr sz="1800" b="0">
                          <a:solidFill>
                            <a:srgbClr val="203440"/>
                          </a:solidFill>
                          <a:latin typeface="Arial"/>
                          <a:ea typeface="Arial"/>
                          <a:cs typeface="Arial"/>
                        </a:rPr>
                        <a:t>Semantic retrieval</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Local all-MiniLM-L6-v2 embeddings [3] with proposed cosine-similarity ranking</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Compare with conventional search on the same labelled cases.</a:t>
                      </a:r>
                    </a:p>
                  </a:txBody>
                  <a:tcPr marL="114300" marR="114300" marT="47625" marB="47625" anchor="ctr">
                    <a:solidFill>
                      <a:srgbClr val="FFFFFF"/>
                    </a:solidFill>
                  </a:tcPr>
                </a:tc>
              </a:tr>
              <a:tr h="1026319">
                <a:tc>
                  <a:txBody>
                    <a:bodyPr wrap="square">
                      <a:noAutofit/>
                    </a:bodyPr>
                    <a:lstStyle/>
                    <a:p>
                      <a:pPr algn="l">
                        <a:buNone/>
                      </a:pPr>
                      <a:r>
                        <a:rPr sz="1800" b="0">
                          <a:solidFill>
                            <a:srgbClr val="203440"/>
                          </a:solidFill>
                          <a:latin typeface="Arial"/>
                          <a:ea typeface="Arial"/>
                          <a:cs typeface="Arial"/>
                        </a:rPr>
                        <a:t>Generated text</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A replaceable text-generation service using approved synthetic inputs</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Select a provider only after terms, response validity and the AED 150 experiment limit fit.</a:t>
                      </a:r>
                    </a:p>
                  </a:txBody>
                  <a:tcPr marL="114300" marR="114300" marT="47625" marB="47625" anchor="ctr">
                    <a:solidFill>
                      <a:srgbClr val="EDF3F5"/>
                    </a:solidFill>
                  </a:tcPr>
                </a:tc>
              </a:tr>
            </a:tbl>
          </a:graphicData>
        </a:graphic>
      </p:graphicFrame>
      <p:sp>
        <p:nvSpPr>
          <p:cNvPr id="4" name="qualification">
            <a:extLst xmlns:a="http://schemas.openxmlformats.org/drawingml/2006/main">
              <a:ext uri="{FF2B5EF4-FFF2-40B4-BE49-F238E27FC236}">
                <a16:creationId xmlns:a16="http://schemas.microsoft.com/office/drawing/2014/main" id="{F884CA24-0280-41AC-9101-BDC9230F9BA4}"/>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Snipe-IT offers custom fields and an API [2]. Django/PostgreSQL describe the custom alternative. Both routes need the same workflow and AI proof.</a:t>
            </a:r>
          </a:p>
        </p:txBody>
      </p:sp>
    </p:spTree>
    <p:extLst>
      <p:ext uri="{BB962C8B-B14F-4D97-AF65-F5344CB8AC3E}">
        <p14:creationId xmlns:p14="http://schemas.microsoft.com/office/powerpoint/2010/main" val="13173683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1811752E-35E6-427F-8333-716EAB236184}"/>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Hardware and storage assumptions</a:t>
            </a:r>
          </a:p>
        </p:txBody>
      </p:sp>
      <p:sp>
        <p:nvSpPr>
          <p:cNvPr id="2" name="slide-number">
            <a:extLst xmlns:a="http://schemas.openxmlformats.org/drawingml/2006/main">
              <a:ext uri="{FF2B5EF4-FFF2-40B4-BE49-F238E27FC236}">
                <a16:creationId xmlns:a16="http://schemas.microsoft.com/office/drawing/2014/main" id="{3FB91B9D-C298-4F85-9E10-68888A145115}"/>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12</a:t>
            </a:r>
          </a:p>
        </p:txBody>
      </p:sp>
      <p:sp>
        <p:nvSpPr>
          <p:cNvPr id="3" name="column-title-0">
            <a:extLst xmlns:a="http://schemas.openxmlformats.org/drawingml/2006/main">
              <a:ext uri="{FF2B5EF4-FFF2-40B4-BE49-F238E27FC236}">
                <a16:creationId xmlns:a16="http://schemas.microsoft.com/office/drawing/2014/main" id="{6F50CFF4-A6D3-4857-A1DC-CFD00918F29B}"/>
              </a:ext>
            </a:extLst>
          </p:cNvPr>
          <p:cNvSpPr>
            <a:spLocks xmlns:a="http://schemas.openxmlformats.org/drawingml/2006/main" noGrp="1"/>
          </p:cNvSpPr>
          <p:nvPr/>
        </p:nvSpPr>
        <p:spPr>
          <a:xfrm xmlns:a="http://schemas.openxmlformats.org/drawingml/2006/main">
            <a:off x="533400" y="1333500"/>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7E80"/>
                </a:solidFill>
                <a:latin typeface="Arial"/>
                <a:ea typeface="Arial"/>
                <a:cs typeface="Arial"/>
              </a:defRPr>
            </a:pPr>
            <a:r>
              <a:rPr sz="2100" b="1">
                <a:solidFill>
                  <a:srgbClr val="007E80"/>
                </a:solidFill>
                <a:latin typeface="Arial"/>
                <a:ea typeface="Arial"/>
                <a:cs typeface="Arial"/>
              </a:rPr>
              <a:t>Demonstration environment</a:t>
            </a:r>
          </a:p>
        </p:txBody>
      </p:sp>
      <p:sp>
        <p:nvSpPr>
          <p:cNvPr id="4" name="column-body-0">
            <a:extLst xmlns:a="http://schemas.openxmlformats.org/drawingml/2006/main">
              <a:ext uri="{FF2B5EF4-FFF2-40B4-BE49-F238E27FC236}">
                <a16:creationId xmlns:a16="http://schemas.microsoft.com/office/drawing/2014/main" id="{78307CC7-3D51-47B4-BF34-13062F4CA27A}"/>
              </a:ext>
            </a:extLst>
          </p:cNvPr>
          <p:cNvSpPr>
            <a:spLocks xmlns:a="http://schemas.openxmlformats.org/drawingml/2006/main" noGrp="1"/>
          </p:cNvSpPr>
          <p:nvPr/>
        </p:nvSpPr>
        <p:spPr>
          <a:xfrm xmlns:a="http://schemas.openxmlformats.org/drawingml/2006/main">
            <a:off x="533400" y="1866900"/>
            <a:ext cx="52959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Reuse existing computers. Target 4 CPU cores, 8 GB RAM and 10 GB free storage.</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One computer hosts the local demonstration. Record its actual specifications and benchmark the workload.</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No dedicated GPU purchase. If inference is too slow, test a smaller or optimized model before paid compute.</a:t>
            </a:r>
          </a:p>
        </p:txBody>
      </p:sp>
      <p:sp>
        <p:nvSpPr>
          <p:cNvPr id="5" name="column-title-1">
            <a:extLst xmlns:a="http://schemas.openxmlformats.org/drawingml/2006/main">
              <a:ext uri="{FF2B5EF4-FFF2-40B4-BE49-F238E27FC236}">
                <a16:creationId xmlns:a16="http://schemas.microsoft.com/office/drawing/2014/main" id="{2D5092BD-125D-4B9B-B9EC-45ECA5EB8BF0}"/>
              </a:ext>
            </a:extLst>
          </p:cNvPr>
          <p:cNvSpPr>
            <a:spLocks xmlns:a="http://schemas.openxmlformats.org/drawingml/2006/main" noGrp="1"/>
          </p:cNvSpPr>
          <p:nvPr/>
        </p:nvSpPr>
        <p:spPr>
          <a:xfrm xmlns:a="http://schemas.openxmlformats.org/drawingml/2006/main">
            <a:off x="6305550" y="1333500"/>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7E80"/>
                </a:solidFill>
                <a:latin typeface="Arial"/>
                <a:ea typeface="Arial"/>
                <a:cs typeface="Arial"/>
              </a:defRPr>
            </a:pPr>
            <a:r>
              <a:rPr sz="2100" b="1">
                <a:solidFill>
                  <a:srgbClr val="007E80"/>
                </a:solidFill>
                <a:latin typeface="Arial"/>
                <a:ea typeface="Arial"/>
                <a:cs typeface="Arial"/>
              </a:rPr>
              <a:t>Calculated storage</a:t>
            </a:r>
          </a:p>
        </p:txBody>
      </p:sp>
      <p:sp>
        <p:nvSpPr>
          <p:cNvPr id="6" name="column-body-1">
            <a:extLst xmlns:a="http://schemas.openxmlformats.org/drawingml/2006/main">
              <a:ext uri="{FF2B5EF4-FFF2-40B4-BE49-F238E27FC236}">
                <a16:creationId xmlns:a16="http://schemas.microsoft.com/office/drawing/2014/main" id="{84DEDE7B-E2FE-469F-A229-5B8C92AFBE1F}"/>
              </a:ext>
            </a:extLst>
          </p:cNvPr>
          <p:cNvSpPr>
            <a:spLocks xmlns:a="http://schemas.openxmlformats.org/drawingml/2006/main" noGrp="1"/>
          </p:cNvSpPr>
          <p:nvPr/>
        </p:nvSpPr>
        <p:spPr>
          <a:xfrm xmlns:a="http://schemas.openxmlformats.org/drawingml/2006/main">
            <a:off x="6305550" y="1866900"/>
            <a:ext cx="52959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384 values per embedding [3]. For 500 assets at 4 bytes per value: 768,000 bytes, about 0.73 MiB.</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The model truncates inputs above 256 word pieces by default [3]. Keep essential specifications in separate structured fields.</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One 1 MB photo and one 2 MB document per asset could total 1.5 GB, before backups, history and software.</a:t>
            </a:r>
          </a:p>
        </p:txBody>
      </p:sp>
      <p:sp>
        <p:nvSpPr>
          <p:cNvPr id="7" name="qualification">
            <a:extLst xmlns:a="http://schemas.openxmlformats.org/drawingml/2006/main">
              <a:ext uri="{FF2B5EF4-FFF2-40B4-BE49-F238E27FC236}">
                <a16:creationId xmlns:a16="http://schemas.microsoft.com/office/drawing/2014/main" id="{E67E9AA2-9211-4005-A5DF-79AFDCD25B76}"/>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Vector storage excludes model memory and indexing overhead. The hardware figures are planning targets, not measured minimum requirements.</a:t>
            </a:r>
          </a:p>
        </p:txBody>
      </p:sp>
    </p:spTree>
    <p:extLst>
      <p:ext uri="{BB962C8B-B14F-4D97-AF65-F5344CB8AC3E}">
        <p14:creationId xmlns:p14="http://schemas.microsoft.com/office/powerpoint/2010/main" val="22378440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1ECF5EFA-27AE-4A62-96A8-9785111404C7}"/>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Early technical proof and skills</a:t>
            </a:r>
          </a:p>
        </p:txBody>
      </p:sp>
      <p:sp>
        <p:nvSpPr>
          <p:cNvPr id="2" name="slide-number">
            <a:extLst xmlns:a="http://schemas.openxmlformats.org/drawingml/2006/main">
              <a:ext uri="{FF2B5EF4-FFF2-40B4-BE49-F238E27FC236}">
                <a16:creationId xmlns:a16="http://schemas.microsoft.com/office/drawing/2014/main" id="{A5C3A552-9D16-4A91-8FD1-75D1270C154A}"/>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13</a:t>
            </a:r>
          </a:p>
        </p:txBody>
      </p:sp>
      <p:sp>
        <p:nvSpPr>
          <p:cNvPr id="3" name="lead">
            <a:extLst xmlns:a="http://schemas.openxmlformats.org/drawingml/2006/main">
              <a:ext uri="{FF2B5EF4-FFF2-40B4-BE49-F238E27FC236}">
                <a16:creationId xmlns:a16="http://schemas.microsoft.com/office/drawing/2014/main" id="{2F1BA365-6983-4DAF-8DCB-6B82B444C66E}"/>
              </a:ext>
            </a:extLst>
          </p:cNvPr>
          <p:cNvSpPr>
            <a:spLocks xmlns:a="http://schemas.openxmlformats.org/drawingml/2006/main" noGrp="1"/>
          </p:cNvSpPr>
          <p:nvPr/>
        </p:nvSpPr>
        <p:spPr>
          <a:xfrm xmlns:a="http://schemas.openxmlformats.org/drawingml/2006/main">
            <a:off x="533400" y="103822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007E80"/>
                </a:solidFill>
                <a:latin typeface="Arial"/>
                <a:ea typeface="Arial"/>
                <a:cs typeface="Arial"/>
              </a:defRPr>
            </a:pPr>
            <a:r>
              <a:rPr sz="1875" b="1">
                <a:solidFill>
                  <a:srgbClr val="007E80"/>
                </a:solidFill>
                <a:latin typeface="Arial"/>
                <a:ea typeface="Arial"/>
                <a:cs typeface="Arial"/>
              </a:rPr>
              <a:t>Internal target: 4 October. The 12-hour proof is part of the original 40-hour first work period.</a:t>
            </a:r>
          </a:p>
        </p:txBody>
      </p:sp>
      <p:sp>
        <p:nvSpPr>
          <p:cNvPr id="4" name="column-title-0">
            <a:extLst xmlns:a="http://schemas.openxmlformats.org/drawingml/2006/main">
              <a:ext uri="{FF2B5EF4-FFF2-40B4-BE49-F238E27FC236}">
                <a16:creationId xmlns:a16="http://schemas.microsoft.com/office/drawing/2014/main" id="{7FA7B52F-6422-4DBF-BFFC-702BD35B972A}"/>
              </a:ext>
            </a:extLst>
          </p:cNvPr>
          <p:cNvSpPr>
            <a:spLocks xmlns:a="http://schemas.openxmlformats.org/drawingml/2006/main" noGrp="1"/>
          </p:cNvSpPr>
          <p:nvPr/>
        </p:nvSpPr>
        <p:spPr>
          <a:xfrm xmlns:a="http://schemas.openxmlformats.org/drawingml/2006/main">
            <a:off x="533400" y="1838325"/>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7E80"/>
                </a:solidFill>
                <a:latin typeface="Arial"/>
                <a:ea typeface="Arial"/>
                <a:cs typeface="Arial"/>
              </a:defRPr>
            </a:pPr>
            <a:r>
              <a:rPr sz="2100" b="1">
                <a:solidFill>
                  <a:srgbClr val="007E80"/>
                </a:solidFill>
                <a:latin typeface="Arial"/>
                <a:ea typeface="Arial"/>
                <a:cs typeface="Arial"/>
              </a:rPr>
              <a:t>End-to-end proof</a:t>
            </a:r>
          </a:p>
        </p:txBody>
      </p:sp>
      <p:sp>
        <p:nvSpPr>
          <p:cNvPr id="5" name="column-body-0">
            <a:extLst xmlns:a="http://schemas.openxmlformats.org/drawingml/2006/main">
              <a:ext uri="{FF2B5EF4-FFF2-40B4-BE49-F238E27FC236}">
                <a16:creationId xmlns:a16="http://schemas.microsoft.com/office/drawing/2014/main" id="{627257A7-4C09-4936-9F67-7DCB2E343A79}"/>
              </a:ext>
            </a:extLst>
          </p:cNvPr>
          <p:cNvSpPr>
            <a:spLocks xmlns:a="http://schemas.openxmlformats.org/drawingml/2006/main" noGrp="1"/>
          </p:cNvSpPr>
          <p:nvPr/>
        </p:nvSpPr>
        <p:spPr>
          <a:xfrm xmlns:a="http://schemas.openxmlformats.org/drawingml/2006/main">
            <a:off x="533400" y="2371725"/>
            <a:ext cx="5295900" cy="3743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Implement login, a valid listing and a departmental request.</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Protect approval, then complete release and receipt.</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Run ranked search over 20 sample assets.</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Compare adaptation and custom effort. An overrun triggers re-estimation before route selection.</a:t>
            </a:r>
          </a:p>
        </p:txBody>
      </p:sp>
      <p:sp>
        <p:nvSpPr>
          <p:cNvPr id="6" name="column-title-1">
            <a:extLst xmlns:a="http://schemas.openxmlformats.org/drawingml/2006/main">
              <a:ext uri="{FF2B5EF4-FFF2-40B4-BE49-F238E27FC236}">
                <a16:creationId xmlns:a16="http://schemas.microsoft.com/office/drawing/2014/main" id="{0E5237F7-6E1A-41ED-97AD-07E26233B59F}"/>
              </a:ext>
            </a:extLst>
          </p:cNvPr>
          <p:cNvSpPr>
            <a:spLocks xmlns:a="http://schemas.openxmlformats.org/drawingml/2006/main" noGrp="1"/>
          </p:cNvSpPr>
          <p:nvPr/>
        </p:nvSpPr>
        <p:spPr>
          <a:xfrm xmlns:a="http://schemas.openxmlformats.org/drawingml/2006/main">
            <a:off x="6305550" y="1838325"/>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7E80"/>
                </a:solidFill>
                <a:latin typeface="Arial"/>
                <a:ea typeface="Arial"/>
                <a:cs typeface="Arial"/>
              </a:defRPr>
            </a:pPr>
            <a:r>
              <a:rPr sz="2100" b="1">
                <a:solidFill>
                  <a:srgbClr val="007E80"/>
                </a:solidFill>
                <a:latin typeface="Arial"/>
                <a:ea typeface="Arial"/>
                <a:cs typeface="Arial"/>
              </a:rPr>
              <a:t>Required capabilities</a:t>
            </a:r>
          </a:p>
        </p:txBody>
      </p:sp>
      <p:sp>
        <p:nvSpPr>
          <p:cNvPr id="7" name="column-body-1">
            <a:extLst xmlns:a="http://schemas.openxmlformats.org/drawingml/2006/main">
              <a:ext uri="{FF2B5EF4-FFF2-40B4-BE49-F238E27FC236}">
                <a16:creationId xmlns:a16="http://schemas.microsoft.com/office/drawing/2014/main" id="{48F7623F-61C0-4C4A-B42F-37B967798089}"/>
              </a:ext>
            </a:extLst>
          </p:cNvPr>
          <p:cNvSpPr>
            <a:spLocks xmlns:a="http://schemas.openxmlformats.org/drawingml/2006/main" noGrp="1"/>
          </p:cNvSpPr>
          <p:nvPr/>
        </p:nvSpPr>
        <p:spPr>
          <a:xfrm xmlns:a="http://schemas.openxmlformats.org/drawingml/2006/main">
            <a:off x="6305550" y="2371725"/>
            <a:ext cx="5295900" cy="3743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Custom route: Python, HTML, relational data, Git, authorization tests and retrieval.</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Adaptation route: platform configuration, supported interfaces and extension mechanisms.</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Each member must explain their AI-assisted code, including inputs, permissions and errors, and demonstrate tests.</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Review small changes before committing. Skills and actual availability remain unverified.</a:t>
            </a:r>
          </a:p>
        </p:txBody>
      </p:sp>
    </p:spTree>
    <p:extLst>
      <p:ext uri="{BB962C8B-B14F-4D97-AF65-F5344CB8AC3E}">
        <p14:creationId xmlns:p14="http://schemas.microsoft.com/office/powerpoint/2010/main" val="122799899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A4ED3A51-9EEC-4DC9-8F64-D91267C5D535}"/>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Data quality and matching evaluation</a:t>
            </a:r>
          </a:p>
        </p:txBody>
      </p:sp>
      <p:sp>
        <p:nvSpPr>
          <p:cNvPr id="2" name="slide-number">
            <a:extLst xmlns:a="http://schemas.openxmlformats.org/drawingml/2006/main">
              <a:ext uri="{FF2B5EF4-FFF2-40B4-BE49-F238E27FC236}">
                <a16:creationId xmlns:a16="http://schemas.microsoft.com/office/drawing/2014/main" id="{9773FDDF-726A-457E-AB0C-D1F7D48F0419}"/>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14</a:t>
            </a:r>
          </a:p>
        </p:txBody>
      </p:sp>
      <p:sp>
        <p:nvSpPr>
          <p:cNvPr id="3" name="column-title-0">
            <a:extLst xmlns:a="http://schemas.openxmlformats.org/drawingml/2006/main">
              <a:ext uri="{FF2B5EF4-FFF2-40B4-BE49-F238E27FC236}">
                <a16:creationId xmlns:a16="http://schemas.microsoft.com/office/drawing/2014/main" id="{8D3DD865-5889-4851-946C-0E7B12FB36FB}"/>
              </a:ext>
            </a:extLst>
          </p:cNvPr>
          <p:cNvSpPr>
            <a:spLocks xmlns:a="http://schemas.openxmlformats.org/drawingml/2006/main" noGrp="1"/>
          </p:cNvSpPr>
          <p:nvPr/>
        </p:nvSpPr>
        <p:spPr>
          <a:xfrm xmlns:a="http://schemas.openxmlformats.org/drawingml/2006/main">
            <a:off x="533400" y="1333500"/>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7E80"/>
                </a:solidFill>
                <a:latin typeface="Arial"/>
                <a:ea typeface="Arial"/>
                <a:cs typeface="Arial"/>
              </a:defRPr>
            </a:pPr>
            <a:r>
              <a:rPr sz="2100" b="1">
                <a:solidFill>
                  <a:srgbClr val="007E80"/>
                </a:solidFill>
                <a:latin typeface="Arial"/>
                <a:ea typeface="Arial"/>
                <a:cs typeface="Arial"/>
              </a:rPr>
              <a:t>Synthetic dataset</a:t>
            </a:r>
          </a:p>
        </p:txBody>
      </p:sp>
      <p:sp>
        <p:nvSpPr>
          <p:cNvPr id="4" name="column-body-0">
            <a:extLst xmlns:a="http://schemas.openxmlformats.org/drawingml/2006/main">
              <a:ext uri="{FF2B5EF4-FFF2-40B4-BE49-F238E27FC236}">
                <a16:creationId xmlns:a16="http://schemas.microsoft.com/office/drawing/2014/main" id="{E6630B75-22A5-4518-899E-12FFA168E65C}"/>
              </a:ext>
            </a:extLst>
          </p:cNvPr>
          <p:cNvSpPr>
            <a:spLocks xmlns:a="http://schemas.openxmlformats.org/drawingml/2006/main" noGrp="1"/>
          </p:cNvSpPr>
          <p:nvPr/>
        </p:nvSpPr>
        <p:spPr>
          <a:xfrm xmlns:a="http://schemas.openxmlformats.org/drawingml/2006/main">
            <a:off x="533400" y="1866900"/>
            <a:ext cx="52959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500 assets across furniture, computers and monitors, laboratory equipment, books and general supplies.</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Use fictional people, departments and locations.</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Require unique IDs, valid status, positive quantities and all mandatory publication fields.</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Normalize units and categories. A similar description cannot satisfy incompatible specifications.</a:t>
            </a:r>
          </a:p>
        </p:txBody>
      </p:sp>
      <p:sp>
        <p:nvSpPr>
          <p:cNvPr id="5" name="column-title-1">
            <a:extLst xmlns:a="http://schemas.openxmlformats.org/drawingml/2006/main">
              <a:ext uri="{FF2B5EF4-FFF2-40B4-BE49-F238E27FC236}">
                <a16:creationId xmlns:a16="http://schemas.microsoft.com/office/drawing/2014/main" id="{8403B578-E27D-41D8-A799-9C56B755C930}"/>
              </a:ext>
            </a:extLst>
          </p:cNvPr>
          <p:cNvSpPr>
            <a:spLocks xmlns:a="http://schemas.openxmlformats.org/drawingml/2006/main" noGrp="1"/>
          </p:cNvSpPr>
          <p:nvPr/>
        </p:nvSpPr>
        <p:spPr>
          <a:xfrm xmlns:a="http://schemas.openxmlformats.org/drawingml/2006/main">
            <a:off x="6305550" y="1333500"/>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7E80"/>
                </a:solidFill>
                <a:latin typeface="Arial"/>
                <a:ea typeface="Arial"/>
                <a:cs typeface="Arial"/>
              </a:defRPr>
            </a:pPr>
            <a:r>
              <a:rPr sz="2100" b="1">
                <a:solidFill>
                  <a:srgbClr val="007E80"/>
                </a:solidFill>
                <a:latin typeface="Arial"/>
                <a:ea typeface="Arial"/>
                <a:cs typeface="Arial"/>
              </a:rPr>
              <a:t>Fixed evaluation cases</a:t>
            </a:r>
          </a:p>
        </p:txBody>
      </p:sp>
      <p:sp>
        <p:nvSpPr>
          <p:cNvPr id="6" name="column-body-1">
            <a:extLst xmlns:a="http://schemas.openxmlformats.org/drawingml/2006/main">
              <a:ext uri="{FF2B5EF4-FFF2-40B4-BE49-F238E27FC236}">
                <a16:creationId xmlns:a16="http://schemas.microsoft.com/office/drawing/2014/main" id="{C85B1941-6EC4-4440-8861-A52EFE3FD23B}"/>
              </a:ext>
            </a:extLst>
          </p:cNvPr>
          <p:cNvSpPr>
            <a:spLocks xmlns:a="http://schemas.openxmlformats.org/drawingml/2006/main" noGrp="1"/>
          </p:cNvSpPr>
          <p:nvPr/>
        </p:nvSpPr>
        <p:spPr>
          <a:xfrm xmlns:a="http://schemas.openxmlformats.org/drawingml/2006/main">
            <a:off x="6305550" y="1866900"/>
            <a:ext cx="52959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Label acceptable assets for 20 feasible requests before evaluation. Keep these cases out of weight tuning.</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Use identical records and labels for conventional search and semantic ranking.</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Target 16 of 20 requests with an acceptable asset in the top 3.</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Add 10 negative cases for availability, quantity, specifications and condition. None may pass eligibility filters.</a:t>
            </a:r>
          </a:p>
        </p:txBody>
      </p:sp>
      <p:sp>
        <p:nvSpPr>
          <p:cNvPr id="7" name="qualification">
            <a:extLst xmlns:a="http://schemas.openxmlformats.org/drawingml/2006/main">
              <a:ext uri="{FF2B5EF4-FFF2-40B4-BE49-F238E27FC236}">
                <a16:creationId xmlns:a16="http://schemas.microsoft.com/office/drawing/2014/main" id="{4C263E10-F5A1-4421-81C0-B951247C86C0}"/>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16/20 equals 80% on this test set. It cannot establish 80% general AI accuracy.</a:t>
            </a:r>
          </a:p>
        </p:txBody>
      </p:sp>
    </p:spTree>
    <p:extLst>
      <p:ext uri="{BB962C8B-B14F-4D97-AF65-F5344CB8AC3E}">
        <p14:creationId xmlns:p14="http://schemas.microsoft.com/office/powerpoint/2010/main" val="163466631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482A9281-53E2-421A-96DC-5DE5A5910B03}"/>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Security and data protection controls</a:t>
            </a:r>
          </a:p>
        </p:txBody>
      </p:sp>
      <p:sp>
        <p:nvSpPr>
          <p:cNvPr id="2" name="slide-number">
            <a:extLst xmlns:a="http://schemas.openxmlformats.org/drawingml/2006/main">
              <a:ext uri="{FF2B5EF4-FFF2-40B4-BE49-F238E27FC236}">
                <a16:creationId xmlns:a16="http://schemas.microsoft.com/office/drawing/2014/main" id="{7035E2A3-E66F-4F1E-A173-A07605EEBCD4}"/>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15</a:t>
            </a:r>
          </a:p>
        </p:txBody>
      </p:sp>
      <p:sp>
        <p:nvSpPr>
          <p:cNvPr id="3" name="column-title-0">
            <a:extLst xmlns:a="http://schemas.openxmlformats.org/drawingml/2006/main">
              <a:ext uri="{FF2B5EF4-FFF2-40B4-BE49-F238E27FC236}">
                <a16:creationId xmlns:a16="http://schemas.microsoft.com/office/drawing/2014/main" id="{4E421F07-CE7F-42E7-9D6C-E520E7C4C361}"/>
              </a:ext>
            </a:extLst>
          </p:cNvPr>
          <p:cNvSpPr>
            <a:spLocks xmlns:a="http://schemas.openxmlformats.org/drawingml/2006/main" noGrp="1"/>
          </p:cNvSpPr>
          <p:nvPr/>
        </p:nvSpPr>
        <p:spPr>
          <a:xfrm xmlns:a="http://schemas.openxmlformats.org/drawingml/2006/main">
            <a:off x="533400" y="1333500"/>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7E80"/>
                </a:solidFill>
                <a:latin typeface="Arial"/>
                <a:ea typeface="Arial"/>
                <a:cs typeface="Arial"/>
              </a:defRPr>
            </a:pPr>
            <a:r>
              <a:rPr sz="2100" b="1">
                <a:solidFill>
                  <a:srgbClr val="007E80"/>
                </a:solidFill>
                <a:latin typeface="Arial"/>
                <a:ea typeface="Arial"/>
                <a:cs typeface="Arial"/>
              </a:rPr>
              <a:t>Assistant security</a:t>
            </a:r>
          </a:p>
        </p:txBody>
      </p:sp>
      <p:sp>
        <p:nvSpPr>
          <p:cNvPr id="4" name="column-body-0">
            <a:extLst xmlns:a="http://schemas.openxmlformats.org/drawingml/2006/main">
              <a:ext uri="{FF2B5EF4-FFF2-40B4-BE49-F238E27FC236}">
                <a16:creationId xmlns:a16="http://schemas.microsoft.com/office/drawing/2014/main" id="{7AE6C35A-60AB-4D7B-9F9A-5AEAE3566338}"/>
              </a:ext>
            </a:extLst>
          </p:cNvPr>
          <p:cNvSpPr>
            <a:spLocks xmlns:a="http://schemas.openxmlformats.org/drawingml/2006/main" noGrp="1"/>
          </p:cNvSpPr>
          <p:nvPr/>
        </p:nvSpPr>
        <p:spPr>
          <a:xfrm xmlns:a="http://schemas.openxmlformats.org/drawingml/2006/main">
            <a:off x="533400" y="1866900"/>
            <a:ext cx="52959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OWASP identifies prompt injection from untrusted text and recommends separation, least privilege and human oversight [4].</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Treat asset descriptions and uploads as data. Model output cannot execute database changes directly.</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Validate each operation and the user’s permission before confirming a change.</a:t>
            </a:r>
          </a:p>
        </p:txBody>
      </p:sp>
      <p:sp>
        <p:nvSpPr>
          <p:cNvPr id="5" name="column-title-1">
            <a:extLst xmlns:a="http://schemas.openxmlformats.org/drawingml/2006/main">
              <a:ext uri="{FF2B5EF4-FFF2-40B4-BE49-F238E27FC236}">
                <a16:creationId xmlns:a16="http://schemas.microsoft.com/office/drawing/2014/main" id="{FBBA673A-3ED6-4C7A-B5DE-5F05197F90A5}"/>
              </a:ext>
            </a:extLst>
          </p:cNvPr>
          <p:cNvSpPr>
            <a:spLocks xmlns:a="http://schemas.openxmlformats.org/drawingml/2006/main" noGrp="1"/>
          </p:cNvSpPr>
          <p:nvPr/>
        </p:nvSpPr>
        <p:spPr>
          <a:xfrm xmlns:a="http://schemas.openxmlformats.org/drawingml/2006/main">
            <a:off x="6305550" y="1333500"/>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7E80"/>
                </a:solidFill>
                <a:latin typeface="Arial"/>
                <a:ea typeface="Arial"/>
                <a:cs typeface="Arial"/>
              </a:defRPr>
            </a:pPr>
            <a:r>
              <a:rPr sz="2100" b="1">
                <a:solidFill>
                  <a:srgbClr val="007E80"/>
                </a:solidFill>
                <a:latin typeface="Arial"/>
                <a:ea typeface="Arial"/>
                <a:cs typeface="Arial"/>
              </a:rPr>
              <a:t>Tests and recovery</a:t>
            </a:r>
          </a:p>
        </p:txBody>
      </p:sp>
      <p:sp>
        <p:nvSpPr>
          <p:cNvPr id="6" name="column-body-1">
            <a:extLst xmlns:a="http://schemas.openxmlformats.org/drawingml/2006/main">
              <a:ext uri="{FF2B5EF4-FFF2-40B4-BE49-F238E27FC236}">
                <a16:creationId xmlns:a16="http://schemas.microsoft.com/office/drawing/2014/main" id="{6DB2A6E7-8139-4B19-A3A4-A8EFBFCC2FA6}"/>
              </a:ext>
            </a:extLst>
          </p:cNvPr>
          <p:cNvSpPr>
            <a:spLocks xmlns:a="http://schemas.openxmlformats.org/drawingml/2006/main" noGrp="1"/>
          </p:cNvSpPr>
          <p:nvPr/>
        </p:nvSpPr>
        <p:spPr>
          <a:xfrm xmlns:a="http://schemas.openxmlformats.org/drawingml/2006/main">
            <a:off x="6305550" y="1866900"/>
            <a:ext cx="52959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Add 5 injection tests through descriptions or assistant inputs. Check approval bypass, protected-record disclosure and custody changes.</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Validate file type and size and restrict file storage.</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Back up daily during active work and complete one restore test covering records and linked files.</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Generate counts and totals in database queries, then reconcile every reported number.</a:t>
            </a:r>
          </a:p>
        </p:txBody>
      </p:sp>
      <p:sp>
        <p:nvSpPr>
          <p:cNvPr id="7" name="qualification">
            <a:extLst xmlns:a="http://schemas.openxmlformats.org/drawingml/2006/main">
              <a:ext uri="{FF2B5EF4-FFF2-40B4-BE49-F238E27FC236}">
                <a16:creationId xmlns:a16="http://schemas.microsoft.com/office/drawing/2014/main" id="{97B9C30C-3B69-4F0B-B63F-8A612E9AEEFE}"/>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The defined tests provide evidence for the prototype, without proving complete protection against every attack.</a:t>
            </a:r>
          </a:p>
        </p:txBody>
      </p:sp>
    </p:spTree>
    <p:extLst>
      <p:ext uri="{BB962C8B-B14F-4D97-AF65-F5344CB8AC3E}">
        <p14:creationId xmlns:p14="http://schemas.microsoft.com/office/powerpoint/2010/main" val="9459773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0067496D-CAFB-499D-80CC-ED5D369ADF16}"/>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Prototype cash budget</a:t>
            </a:r>
          </a:p>
        </p:txBody>
      </p:sp>
      <p:sp>
        <p:nvSpPr>
          <p:cNvPr id="2" name="slide-number">
            <a:extLst xmlns:a="http://schemas.openxmlformats.org/drawingml/2006/main">
              <a:ext uri="{FF2B5EF4-FFF2-40B4-BE49-F238E27FC236}">
                <a16:creationId xmlns:a16="http://schemas.microsoft.com/office/drawing/2014/main" id="{003723A1-D374-4BB9-B7D9-DECFC6EFAD66}"/>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16</a:t>
            </a:r>
          </a:p>
        </p:txBody>
      </p:sp>
      <p:sp>
        <p:nvSpPr>
          <p:cNvPr id="3" name="lead">
            <a:extLst xmlns:a="http://schemas.openxmlformats.org/drawingml/2006/main">
              <a:ext uri="{FF2B5EF4-FFF2-40B4-BE49-F238E27FC236}">
                <a16:creationId xmlns:a16="http://schemas.microsoft.com/office/drawing/2014/main" id="{1C7651F1-A692-48C4-86A8-C9A6185A8B46}"/>
              </a:ext>
            </a:extLst>
          </p:cNvPr>
          <p:cNvSpPr>
            <a:spLocks xmlns:a="http://schemas.openxmlformats.org/drawingml/2006/main" noGrp="1"/>
          </p:cNvSpPr>
          <p:nvPr/>
        </p:nvSpPr>
        <p:spPr>
          <a:xfrm xmlns:a="http://schemas.openxmlformats.org/drawingml/2006/main">
            <a:off x="533400" y="103822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007E80"/>
                </a:solidFill>
                <a:latin typeface="Arial"/>
                <a:ea typeface="Arial"/>
                <a:cs typeface="Arial"/>
              </a:defRPr>
            </a:pPr>
            <a:r>
              <a:rPr sz="1875" b="1">
                <a:solidFill>
                  <a:srgbClr val="007E80"/>
                </a:solidFill>
                <a:latin typeface="Arial"/>
                <a:ea typeface="Arial"/>
                <a:cs typeface="Arial"/>
              </a:rPr>
              <a:t>Proposed cash ceiling: AED 300, using existing computers and internet access.</a:t>
            </a:r>
          </a:p>
        </p:txBody>
      </p:sp>
      <p:graphicFrame>
        <p:nvGraphicFramePr>
          <p:cNvPr id="11" name=""/>
          <p:cNvGraphicFramePr/>
          <p:nvPr/>
        </p:nvGraphicFramePr>
        <p:xfrm>
          <a:off xmlns:a="http://schemas.openxmlformats.org/drawingml/2006/main" x="533400" y="1762125"/>
          <a:ext xmlns:a="http://schemas.openxmlformats.org/drawingml/2006/main" cx="11125200" cy="4086225"/>
        </p:xfrm>
        <a:graphic xmlns:a="http://schemas.openxmlformats.org/drawingml/2006/main">
          <a:graphicData uri="http://schemas.openxmlformats.org/drawingml/2006/table">
            <a:tbl>
              <a:tblPr firstRow="1" bandRow="0"/>
              <a:tblGrid>
                <a:gridCol w="4338828"/>
                <a:gridCol w="1335024"/>
                <a:gridCol w="5451348"/>
              </a:tblGrid>
              <a:tr h="476250">
                <a:tc>
                  <a:txBody>
                    <a:bodyPr wrap="square">
                      <a:noAutofit/>
                    </a:bodyPr>
                    <a:lstStyle/>
                    <a:p>
                      <a:pPr algn="l">
                        <a:buNone/>
                      </a:pPr>
                      <a:r>
                        <a:rPr sz="1725" b="1">
                          <a:solidFill>
                            <a:srgbClr val="FFFFFF"/>
                          </a:solidFill>
                          <a:latin typeface="Arial"/>
                          <a:ea typeface="Arial"/>
                          <a:cs typeface="Arial"/>
                        </a:rPr>
                        <a:t>Item</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AED</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Basis</a:t>
                      </a:r>
                    </a:p>
                  </a:txBody>
                  <a:tcPr marL="114300" marR="114300" marT="47625" marB="47625" anchor="ctr">
                    <a:solidFill>
                      <a:srgbClr val="142F43"/>
                    </a:solidFill>
                  </a:tcPr>
                </a:tc>
              </a:tr>
              <a:tr h="721995">
                <a:tc>
                  <a:txBody>
                    <a:bodyPr wrap="square">
                      <a:noAutofit/>
                    </a:bodyPr>
                    <a:lstStyle/>
                    <a:p>
                      <a:pPr algn="l">
                        <a:buNone/>
                      </a:pPr>
                      <a:r>
                        <a:rPr sz="1800" b="0">
                          <a:solidFill>
                            <a:srgbClr val="203440"/>
                          </a:solidFill>
                          <a:latin typeface="Arial"/>
                          <a:ea typeface="Arial"/>
                          <a:cs typeface="Arial"/>
                        </a:rPr>
                        <a:t>Existing equipment and open-source tools</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0</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No new hardware, dedicated GPU or paid database licence.</a:t>
                      </a:r>
                    </a:p>
                  </a:txBody>
                  <a:tcPr marL="114300" marR="114300" marT="47625" marB="47625" anchor="ctr">
                    <a:solidFill>
                      <a:srgbClr val="FFFFFF"/>
                    </a:solidFill>
                  </a:tcPr>
                </a:tc>
              </a:tr>
              <a:tr h="721995">
                <a:tc>
                  <a:txBody>
                    <a:bodyPr wrap="square">
                      <a:noAutofit/>
                    </a:bodyPr>
                    <a:lstStyle/>
                    <a:p>
                      <a:pPr algn="l">
                        <a:buNone/>
                      </a:pPr>
                      <a:r>
                        <a:rPr sz="1800" b="0">
                          <a:solidFill>
                            <a:srgbClr val="203440"/>
                          </a:solidFill>
                          <a:latin typeface="Arial"/>
                          <a:ea typeface="Arial"/>
                          <a:cs typeface="Arial"/>
                        </a:rPr>
                        <a:t>Text-generation experiments</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150</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Development-period spending limit, subject to provider selection.</a:t>
                      </a:r>
                    </a:p>
                  </a:txBody>
                  <a:tcPr marL="114300" marR="114300" marT="47625" marB="47625" anchor="ctr">
                    <a:solidFill>
                      <a:srgbClr val="EDF3F5"/>
                    </a:solidFill>
                  </a:tcPr>
                </a:tc>
              </a:tr>
              <a:tr h="721995">
                <a:tc>
                  <a:txBody>
                    <a:bodyPr wrap="square">
                      <a:noAutofit/>
                    </a:bodyPr>
                    <a:lstStyle/>
                    <a:p>
                      <a:pPr algn="l">
                        <a:buNone/>
                      </a:pPr>
                      <a:r>
                        <a:rPr sz="1800" b="0">
                          <a:solidFill>
                            <a:srgbClr val="203440"/>
                          </a:solidFill>
                          <a:latin typeface="Arial"/>
                          <a:ea typeface="Arial"/>
                          <a:cs typeface="Arial"/>
                        </a:rPr>
                        <a:t>Optional deployment or service testing</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100</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Use only if local demonstration is insufficient.</a:t>
                      </a:r>
                    </a:p>
                  </a:txBody>
                  <a:tcPr marL="114300" marR="114300" marT="47625" marB="47625" anchor="ctr">
                    <a:solidFill>
                      <a:srgbClr val="FFFFFF"/>
                    </a:solidFill>
                  </a:tcPr>
                </a:tc>
              </a:tr>
              <a:tr h="721995">
                <a:tc>
                  <a:txBody>
                    <a:bodyPr wrap="square">
                      <a:noAutofit/>
                    </a:bodyPr>
                    <a:lstStyle/>
                    <a:p>
                      <a:pPr algn="l">
                        <a:buNone/>
                      </a:pPr>
                      <a:r>
                        <a:rPr sz="1800" b="0">
                          <a:solidFill>
                            <a:srgbClr val="203440"/>
                          </a:solidFill>
                          <a:latin typeface="Arial"/>
                          <a:ea typeface="Arial"/>
                          <a:cs typeface="Arial"/>
                        </a:rPr>
                        <a:t>Backup media or incidental costs</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50</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Contingency allowance.</a:t>
                      </a:r>
                    </a:p>
                  </a:txBody>
                  <a:tcPr marL="114300" marR="114300" marT="47625" marB="47625" anchor="ctr">
                    <a:solidFill>
                      <a:srgbClr val="EDF3F5"/>
                    </a:solidFill>
                  </a:tcPr>
                </a:tc>
              </a:tr>
              <a:tr h="721995">
                <a:tc>
                  <a:txBody>
                    <a:bodyPr wrap="square">
                      <a:noAutofit/>
                    </a:bodyPr>
                    <a:lstStyle/>
                    <a:p>
                      <a:pPr algn="l">
                        <a:buNone/>
                      </a:pPr>
                      <a:r>
                        <a:rPr sz="1800" b="0">
                          <a:solidFill>
                            <a:srgbClr val="203440"/>
                          </a:solidFill>
                          <a:latin typeface="Arial"/>
                          <a:ea typeface="Arial"/>
                          <a:cs typeface="Arial"/>
                        </a:rPr>
                        <a:t>Total</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300</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Team agreement required before expenditure.</a:t>
                      </a:r>
                    </a:p>
                  </a:txBody>
                  <a:tcPr marL="114300" marR="114300" marT="47625" marB="47625" anchor="ctr">
                    <a:solidFill>
                      <a:srgbClr val="FFFFFF"/>
                    </a:solidFill>
                  </a:tcPr>
                </a:tc>
              </a:tr>
            </a:tbl>
          </a:graphicData>
        </a:graphic>
      </p:graphicFrame>
      <p:sp>
        <p:nvSpPr>
          <p:cNvPr id="5" name="qualification">
            <a:extLst xmlns:a="http://schemas.openxmlformats.org/drawingml/2006/main">
              <a:ext uri="{FF2B5EF4-FFF2-40B4-BE49-F238E27FC236}">
                <a16:creationId xmlns:a16="http://schemas.microsoft.com/office/drawing/2014/main" id="{ECC32D52-6A7E-4F17-B52F-4627EDF1AD38}"/>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Allowances are assumptions, not quotations. The 180-hour custom-development estimate is provisional. Adaptation needs a separate effort comparison.</a:t>
            </a:r>
          </a:p>
        </p:txBody>
      </p:sp>
    </p:spTree>
    <p:extLst>
      <p:ext uri="{BB962C8B-B14F-4D97-AF65-F5344CB8AC3E}">
        <p14:creationId xmlns:p14="http://schemas.microsoft.com/office/powerpoint/2010/main" val="197031847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EBF22C5D-59C0-47A5-98B2-60301FD05D9A}"/>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First-year pilot economic cost</a:t>
            </a:r>
          </a:p>
        </p:txBody>
      </p:sp>
      <p:sp>
        <p:nvSpPr>
          <p:cNvPr id="2" name="slide-number">
            <a:extLst xmlns:a="http://schemas.openxmlformats.org/drawingml/2006/main">
              <a:ext uri="{FF2B5EF4-FFF2-40B4-BE49-F238E27FC236}">
                <a16:creationId xmlns:a16="http://schemas.microsoft.com/office/drawing/2014/main" id="{06098958-6B0F-4EB6-A8A9-875363A04F51}"/>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17</a:t>
            </a:r>
          </a:p>
        </p:txBody>
      </p:sp>
      <p:sp>
        <p:nvSpPr>
          <p:cNvPr id="3" name="lead">
            <a:extLst xmlns:a="http://schemas.openxmlformats.org/drawingml/2006/main">
              <a:ext uri="{FF2B5EF4-FFF2-40B4-BE49-F238E27FC236}">
                <a16:creationId xmlns:a16="http://schemas.microsoft.com/office/drawing/2014/main" id="{4E4038E6-8D26-4176-97FF-F3612AB35CB8}"/>
              </a:ext>
            </a:extLst>
          </p:cNvPr>
          <p:cNvSpPr>
            <a:spLocks xmlns:a="http://schemas.openxmlformats.org/drawingml/2006/main" noGrp="1"/>
          </p:cNvSpPr>
          <p:nvPr/>
        </p:nvSpPr>
        <p:spPr>
          <a:xfrm xmlns:a="http://schemas.openxmlformats.org/drawingml/2006/main">
            <a:off x="533400" y="103822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007E80"/>
                </a:solidFill>
                <a:latin typeface="Arial"/>
                <a:ea typeface="Arial"/>
                <a:cs typeface="Arial"/>
              </a:defRPr>
            </a:pPr>
            <a:r>
              <a:rPr sz="1875" b="1">
                <a:solidFill>
                  <a:srgbClr val="007E80"/>
                </a:solidFill>
                <a:latin typeface="Arial"/>
                <a:ea typeface="Arial"/>
                <a:cs typeface="Arial"/>
              </a:rPr>
              <a:t>Illustrative 12-month pilot with a provisional 180-hour custom-development baseline.</a:t>
            </a:r>
          </a:p>
        </p:txBody>
      </p:sp>
      <p:graphicFrame>
        <p:nvGraphicFramePr>
          <p:cNvPr id="11" name=""/>
          <p:cNvGraphicFramePr/>
          <p:nvPr/>
        </p:nvGraphicFramePr>
        <p:xfrm>
          <a:off xmlns:a="http://schemas.openxmlformats.org/drawingml/2006/main" x="533400" y="1762125"/>
          <a:ext xmlns:a="http://schemas.openxmlformats.org/drawingml/2006/main" cx="11125200" cy="4086225"/>
        </p:xfrm>
        <a:graphic xmlns:a="http://schemas.openxmlformats.org/drawingml/2006/main">
          <a:graphicData uri="http://schemas.openxmlformats.org/drawingml/2006/table">
            <a:tbl>
              <a:tblPr firstRow="1" bandRow="0"/>
              <a:tblGrid>
                <a:gridCol w="3782568"/>
                <a:gridCol w="5562600"/>
                <a:gridCol w="1780032"/>
              </a:tblGrid>
              <a:tr h="476250">
                <a:tc>
                  <a:txBody>
                    <a:bodyPr wrap="square">
                      <a:noAutofit/>
                    </a:bodyPr>
                    <a:lstStyle/>
                    <a:p>
                      <a:pPr algn="l">
                        <a:buNone/>
                      </a:pPr>
                      <a:r>
                        <a:rPr sz="1725" b="1">
                          <a:solidFill>
                            <a:srgbClr val="FFFFFF"/>
                          </a:solidFill>
                          <a:latin typeface="Arial"/>
                          <a:ea typeface="Arial"/>
                          <a:cs typeface="Arial"/>
                        </a:rPr>
                        <a:t>Cost component</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Assumption</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AED</a:t>
                      </a:r>
                    </a:p>
                  </a:txBody>
                  <a:tcPr marL="114300" marR="114300" marT="47625" marB="47625" anchor="ctr">
                    <a:solidFill>
                      <a:srgbClr val="142F43"/>
                    </a:solidFill>
                  </a:tcPr>
                </a:tc>
              </a:tr>
              <a:tr h="601663">
                <a:tc>
                  <a:txBody>
                    <a:bodyPr wrap="square">
                      <a:noAutofit/>
                    </a:bodyPr>
                    <a:lstStyle/>
                    <a:p>
                      <a:pPr algn="l">
                        <a:buNone/>
                      </a:pPr>
                      <a:r>
                        <a:rPr sz="1800" b="0">
                          <a:solidFill>
                            <a:srgbClr val="203440"/>
                          </a:solidFill>
                          <a:latin typeface="Arial"/>
                          <a:ea typeface="Arial"/>
                          <a:cs typeface="Arial"/>
                        </a:rPr>
                        <a:t>Development effort</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180 hours × AED 40/hour</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7,200</a:t>
                      </a:r>
                    </a:p>
                  </a:txBody>
                  <a:tcPr marL="114300" marR="114300" marT="47625" marB="47625" anchor="ctr">
                    <a:solidFill>
                      <a:srgbClr val="FFFFFF"/>
                    </a:solidFill>
                  </a:tcPr>
                </a:tc>
              </a:tr>
              <a:tr h="601663">
                <a:tc>
                  <a:txBody>
                    <a:bodyPr wrap="square">
                      <a:noAutofit/>
                    </a:bodyPr>
                    <a:lstStyle/>
                    <a:p>
                      <a:pPr algn="l">
                        <a:buNone/>
                      </a:pPr>
                      <a:r>
                        <a:rPr sz="1800" b="0">
                          <a:solidFill>
                            <a:srgbClr val="203440"/>
                          </a:solidFill>
                          <a:latin typeface="Arial"/>
                          <a:ea typeface="Arial"/>
                          <a:cs typeface="Arial"/>
                        </a:rPr>
                        <a:t>Initial prototype cash</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Assume the full proposed ceiling is spent</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300</a:t>
                      </a:r>
                    </a:p>
                  </a:txBody>
                  <a:tcPr marL="114300" marR="114300" marT="47625" marB="47625" anchor="ctr">
                    <a:solidFill>
                      <a:srgbClr val="EDF3F5"/>
                    </a:solidFill>
                  </a:tcPr>
                </a:tc>
              </a:tr>
              <a:tr h="601663">
                <a:tc>
                  <a:txBody>
                    <a:bodyPr wrap="square">
                      <a:noAutofit/>
                    </a:bodyPr>
                    <a:lstStyle/>
                    <a:p>
                      <a:pPr algn="l">
                        <a:buNone/>
                      </a:pPr>
                      <a:r>
                        <a:rPr sz="1800" b="0">
                          <a:solidFill>
                            <a:srgbClr val="203440"/>
                          </a:solidFill>
                          <a:latin typeface="Arial"/>
                          <a:ea typeface="Arial"/>
                          <a:cs typeface="Arial"/>
                        </a:rPr>
                        <a:t>AI and ancillary services</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AED 50/month × 12, with an existing host</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600</a:t>
                      </a:r>
                    </a:p>
                  </a:txBody>
                  <a:tcPr marL="114300" marR="114300" marT="47625" marB="47625" anchor="ctr">
                    <a:solidFill>
                      <a:srgbClr val="FFFFFF"/>
                    </a:solidFill>
                  </a:tcPr>
                </a:tc>
              </a:tr>
              <a:tr h="601663">
                <a:tc>
                  <a:txBody>
                    <a:bodyPr wrap="square">
                      <a:noAutofit/>
                    </a:bodyPr>
                    <a:lstStyle/>
                    <a:p>
                      <a:pPr algn="l">
                        <a:buNone/>
                      </a:pPr>
                      <a:r>
                        <a:rPr sz="1800" b="0">
                          <a:solidFill>
                            <a:srgbClr val="203440"/>
                          </a:solidFill>
                          <a:latin typeface="Arial"/>
                          <a:ea typeface="Arial"/>
                          <a:cs typeface="Arial"/>
                        </a:rPr>
                        <a:t>Backup</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AED 5/month × 12</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60</a:t>
                      </a:r>
                    </a:p>
                  </a:txBody>
                  <a:tcPr marL="114300" marR="114300" marT="47625" marB="47625" anchor="ctr">
                    <a:solidFill>
                      <a:srgbClr val="EDF3F5"/>
                    </a:solidFill>
                  </a:tcPr>
                </a:tc>
              </a:tr>
              <a:tr h="601663">
                <a:tc>
                  <a:txBody>
                    <a:bodyPr wrap="square">
                      <a:noAutofit/>
                    </a:bodyPr>
                    <a:lstStyle/>
                    <a:p>
                      <a:pPr algn="l">
                        <a:buNone/>
                      </a:pPr>
                      <a:r>
                        <a:rPr sz="1800" b="0">
                          <a:solidFill>
                            <a:srgbClr val="203440"/>
                          </a:solidFill>
                          <a:latin typeface="Arial"/>
                          <a:ea typeface="Arial"/>
                          <a:cs typeface="Arial"/>
                        </a:rPr>
                        <a:t>Maintenance effort</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2 hours/month × 12 × AED 40/hour</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960</a:t>
                      </a:r>
                    </a:p>
                  </a:txBody>
                  <a:tcPr marL="114300" marR="114300" marT="47625" marB="47625" anchor="ctr">
                    <a:solidFill>
                      <a:srgbClr val="FFFFFF"/>
                    </a:solidFill>
                  </a:tcPr>
                </a:tc>
              </a:tr>
              <a:tr h="601663">
                <a:tc>
                  <a:txBody>
                    <a:bodyPr wrap="square">
                      <a:noAutofit/>
                    </a:bodyPr>
                    <a:lstStyle/>
                    <a:p>
                      <a:pPr algn="l">
                        <a:buNone/>
                      </a:pPr>
                      <a:r>
                        <a:rPr sz="1800" b="0">
                          <a:solidFill>
                            <a:srgbClr val="203440"/>
                          </a:solidFill>
                          <a:latin typeface="Arial"/>
                          <a:ea typeface="Arial"/>
                          <a:cs typeface="Arial"/>
                        </a:rPr>
                        <a:t>First-year economic cost</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Cash and imputed labour combined</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9,120</a:t>
                      </a:r>
                    </a:p>
                  </a:txBody>
                  <a:tcPr marL="114300" marR="114300" marT="47625" marB="47625" anchor="ctr">
                    <a:solidFill>
                      <a:srgbClr val="EDF3F5"/>
                    </a:solidFill>
                  </a:tcPr>
                </a:tc>
              </a:tr>
            </a:tbl>
          </a:graphicData>
        </a:graphic>
      </p:graphicFrame>
      <p:sp>
        <p:nvSpPr>
          <p:cNvPr id="5" name="qualification">
            <a:extLst xmlns:a="http://schemas.openxmlformats.org/drawingml/2006/main">
              <a:ext uri="{FF2B5EF4-FFF2-40B4-BE49-F238E27FC236}">
                <a16:creationId xmlns:a16="http://schemas.microsoft.com/office/drawing/2014/main" id="{F598C7C0-60A9-4EB7-89D4-5C02E2CE7C25}"/>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First-year cash: AED 960. Imputed labour: AED 8,160. Annual operating cost: AED 1,620. No new server or institutional integration.</a:t>
            </a:r>
          </a:p>
        </p:txBody>
      </p:sp>
    </p:spTree>
    <p:extLst>
      <p:ext uri="{BB962C8B-B14F-4D97-AF65-F5344CB8AC3E}">
        <p14:creationId xmlns:p14="http://schemas.microsoft.com/office/powerpoint/2010/main" val="38910172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74072E1F-0A5E-491D-81FF-E0A9D3E9B374}"/>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Transfer benefit and first-year ROI</a:t>
            </a:r>
          </a:p>
        </p:txBody>
      </p:sp>
      <p:sp>
        <p:nvSpPr>
          <p:cNvPr id="2" name="slide-number">
            <a:extLst xmlns:a="http://schemas.openxmlformats.org/drawingml/2006/main">
              <a:ext uri="{FF2B5EF4-FFF2-40B4-BE49-F238E27FC236}">
                <a16:creationId xmlns:a16="http://schemas.microsoft.com/office/drawing/2014/main" id="{2C2FADAC-0385-49E8-AE86-A85826D570F0}"/>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18</a:t>
            </a:r>
          </a:p>
        </p:txBody>
      </p:sp>
      <p:sp>
        <p:nvSpPr>
          <p:cNvPr id="3" name="lead">
            <a:extLst xmlns:a="http://schemas.openxmlformats.org/drawingml/2006/main">
              <a:ext uri="{FF2B5EF4-FFF2-40B4-BE49-F238E27FC236}">
                <a16:creationId xmlns:a16="http://schemas.microsoft.com/office/drawing/2014/main" id="{D568B56B-9973-4475-9F2D-C1484F880C66}"/>
              </a:ext>
            </a:extLst>
          </p:cNvPr>
          <p:cNvSpPr>
            <a:spLocks xmlns:a="http://schemas.openxmlformats.org/drawingml/2006/main" noGrp="1"/>
          </p:cNvSpPr>
          <p:nvPr/>
        </p:nvSpPr>
        <p:spPr>
          <a:xfrm xmlns:a="http://schemas.openxmlformats.org/drawingml/2006/main">
            <a:off x="533400" y="103822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007E80"/>
                </a:solidFill>
                <a:latin typeface="Arial"/>
                <a:ea typeface="Arial"/>
                <a:cs typeface="Arial"/>
              </a:defRPr>
            </a:pPr>
            <a:r>
              <a:rPr sz="1875" b="1">
                <a:solidFill>
                  <a:srgbClr val="007E80"/>
                </a:solidFill>
                <a:latin typeface="Arial"/>
                <a:ea typeface="Arial"/>
                <a:cs typeface="Arial"/>
              </a:rPr>
              <a:t>Illustrative benefit per qualifying transfer: AED 800 − 150 repair − 50 transfer = AED 600.</a:t>
            </a:r>
          </a:p>
        </p:txBody>
      </p:sp>
      <p:graphicFrame>
        <p:nvGraphicFramePr>
          <p:cNvPr id="11" name=""/>
          <p:cNvGraphicFramePr/>
          <p:nvPr/>
        </p:nvGraphicFramePr>
        <p:xfrm>
          <a:off xmlns:a="http://schemas.openxmlformats.org/drawingml/2006/main" x="533400" y="1762125"/>
          <a:ext xmlns:a="http://schemas.openxmlformats.org/drawingml/2006/main" cx="11125200" cy="4086225"/>
        </p:xfrm>
        <a:graphic xmlns:a="http://schemas.openxmlformats.org/drawingml/2006/main">
          <a:graphicData uri="http://schemas.openxmlformats.org/drawingml/2006/table">
            <a:tbl>
              <a:tblPr firstRow="1" bandRow="0"/>
              <a:tblGrid>
                <a:gridCol w="2670048"/>
                <a:gridCol w="3003804"/>
                <a:gridCol w="3115056"/>
                <a:gridCol w="2336292"/>
              </a:tblGrid>
              <a:tr h="476250">
                <a:tc>
                  <a:txBody>
                    <a:bodyPr wrap="square">
                      <a:noAutofit/>
                    </a:bodyPr>
                    <a:lstStyle/>
                    <a:p>
                      <a:pPr algn="l">
                        <a:buNone/>
                      </a:pPr>
                      <a:r>
                        <a:rPr sz="1725" b="1">
                          <a:solidFill>
                            <a:srgbClr val="FFFFFF"/>
                          </a:solidFill>
                          <a:latin typeface="Arial"/>
                          <a:ea typeface="Arial"/>
                          <a:cs typeface="Arial"/>
                        </a:rPr>
                        <a:t>Transfers per year</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Net avoided cost (AED)</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Surplus or loss (AED)</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ROI</a:t>
                      </a:r>
                    </a:p>
                  </a:txBody>
                  <a:tcPr marL="114300" marR="114300" marT="47625" marB="47625" anchor="ctr">
                    <a:solidFill>
                      <a:srgbClr val="142F43"/>
                    </a:solidFill>
                  </a:tcPr>
                </a:tc>
              </a:tr>
              <a:tr h="1203325">
                <a:tc>
                  <a:txBody>
                    <a:bodyPr wrap="square">
                      <a:noAutofit/>
                    </a:bodyPr>
                    <a:lstStyle/>
                    <a:p>
                      <a:pPr algn="l">
                        <a:buNone/>
                      </a:pPr>
                      <a:r>
                        <a:rPr sz="1800" b="0">
                          <a:solidFill>
                            <a:srgbClr val="203440"/>
                          </a:solidFill>
                          <a:latin typeface="Arial"/>
                          <a:ea typeface="Arial"/>
                          <a:cs typeface="Arial"/>
                        </a:rPr>
                        <a:t>10</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6,000</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−3,120</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−34.2%</a:t>
                      </a:r>
                    </a:p>
                  </a:txBody>
                  <a:tcPr marL="114300" marR="114300" marT="47625" marB="47625" anchor="ctr">
                    <a:solidFill>
                      <a:srgbClr val="FFFFFF"/>
                    </a:solidFill>
                  </a:tcPr>
                </a:tc>
              </a:tr>
              <a:tr h="1203325">
                <a:tc>
                  <a:txBody>
                    <a:bodyPr wrap="square">
                      <a:noAutofit/>
                    </a:bodyPr>
                    <a:lstStyle/>
                    <a:p>
                      <a:pPr algn="l">
                        <a:buNone/>
                      </a:pPr>
                      <a:r>
                        <a:rPr sz="1800" b="0">
                          <a:solidFill>
                            <a:srgbClr val="203440"/>
                          </a:solidFill>
                          <a:latin typeface="Arial"/>
                          <a:ea typeface="Arial"/>
                          <a:cs typeface="Arial"/>
                        </a:rPr>
                        <a:t>20</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12,000</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2,880</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31.6%</a:t>
                      </a:r>
                    </a:p>
                  </a:txBody>
                  <a:tcPr marL="114300" marR="114300" marT="47625" marB="47625" anchor="ctr">
                    <a:solidFill>
                      <a:srgbClr val="EDF3F5"/>
                    </a:solidFill>
                  </a:tcPr>
                </a:tc>
              </a:tr>
              <a:tr h="1203325">
                <a:tc>
                  <a:txBody>
                    <a:bodyPr wrap="square">
                      <a:noAutofit/>
                    </a:bodyPr>
                    <a:lstStyle/>
                    <a:p>
                      <a:pPr algn="l">
                        <a:buNone/>
                      </a:pPr>
                      <a:r>
                        <a:rPr sz="1800" b="0">
                          <a:solidFill>
                            <a:srgbClr val="203440"/>
                          </a:solidFill>
                          <a:latin typeface="Arial"/>
                          <a:ea typeface="Arial"/>
                          <a:cs typeface="Arial"/>
                        </a:rPr>
                        <a:t>30</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18,000</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8,880</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97.4%</a:t>
                      </a:r>
                    </a:p>
                  </a:txBody>
                  <a:tcPr marL="114300" marR="114300" marT="47625" marB="47625" anchor="ctr">
                    <a:solidFill>
                      <a:srgbClr val="FFFFFF"/>
                    </a:solidFill>
                  </a:tcPr>
                </a:tc>
              </a:tr>
            </a:tbl>
          </a:graphicData>
        </a:graphic>
      </p:graphicFrame>
      <p:sp>
        <p:nvSpPr>
          <p:cNvPr id="5" name="qualification">
            <a:extLst xmlns:a="http://schemas.openxmlformats.org/drawingml/2006/main">
              <a:ext uri="{FF2B5EF4-FFF2-40B4-BE49-F238E27FC236}">
                <a16:creationId xmlns:a16="http://schemas.microsoft.com/office/drawing/2014/main" id="{9CFDA771-4FD4-47FC-9F4E-914283A10453}"/>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ROI = (annual net avoided cost − 9,120) ÷ 9,120 × 100%. Count a benefit only for an actual avoided purchase. No monetized emissions or staff time savings.</a:t>
            </a:r>
          </a:p>
        </p:txBody>
      </p:sp>
    </p:spTree>
    <p:extLst>
      <p:ext uri="{BB962C8B-B14F-4D97-AF65-F5344CB8AC3E}">
        <p14:creationId xmlns:p14="http://schemas.microsoft.com/office/powerpoint/2010/main" val="15737723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BFAAA5A-E1A2-4362-A3AE-AE71DB1B4429}"/>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Financial sensitivity and limitations</a:t>
            </a:r>
          </a:p>
        </p:txBody>
      </p:sp>
      <p:sp>
        <p:nvSpPr>
          <p:cNvPr id="2" name="slide-number">
            <a:extLst xmlns:a="http://schemas.openxmlformats.org/drawingml/2006/main">
              <a:ext uri="{FF2B5EF4-FFF2-40B4-BE49-F238E27FC236}">
                <a16:creationId xmlns:a16="http://schemas.microsoft.com/office/drawing/2014/main" id="{CB5CAE9E-428A-40D5-B30B-6E4562776506}"/>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19</a:t>
            </a:r>
          </a:p>
        </p:txBody>
      </p:sp>
      <p:graphicFrame>
        <p:nvGraphicFramePr>
          <p:cNvPr id="9" name=""/>
          <p:cNvGraphicFramePr/>
          <p:nvPr/>
        </p:nvGraphicFramePr>
        <p:xfrm>
          <a:off xmlns:a="http://schemas.openxmlformats.org/drawingml/2006/main" x="533400" y="1266825"/>
          <a:ext xmlns:a="http://schemas.openxmlformats.org/drawingml/2006/main" cx="11125200" cy="4581525"/>
        </p:xfrm>
        <a:graphic xmlns:a="http://schemas.openxmlformats.org/drawingml/2006/main">
          <a:graphicData uri="http://schemas.openxmlformats.org/drawingml/2006/table">
            <a:tbl>
              <a:tblPr firstRow="1" bandRow="0"/>
              <a:tblGrid>
                <a:gridCol w="4227576"/>
                <a:gridCol w="2447544"/>
                <a:gridCol w="2336292"/>
                <a:gridCol w="2113788"/>
              </a:tblGrid>
              <a:tr h="647700">
                <a:tc>
                  <a:txBody>
                    <a:bodyPr wrap="square">
                      <a:noAutofit/>
                    </a:bodyPr>
                    <a:lstStyle/>
                    <a:p>
                      <a:pPr algn="l">
                        <a:buNone/>
                      </a:pPr>
                      <a:r>
                        <a:rPr sz="1725" b="1">
                          <a:solidFill>
                            <a:srgbClr val="FFFFFF"/>
                          </a:solidFill>
                          <a:latin typeface="Arial"/>
                          <a:ea typeface="Arial"/>
                          <a:cs typeface="Arial"/>
                        </a:rPr>
                        <a:t>Scenario</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First-year cost (AED)</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Break-even transfers</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20-transfer ROI</a:t>
                      </a:r>
                    </a:p>
                  </a:txBody>
                  <a:tcPr marL="114300" marR="114300" marT="47625" marB="47625" anchor="ctr">
                    <a:solidFill>
                      <a:srgbClr val="142F43"/>
                    </a:solidFill>
                  </a:tcPr>
                </a:tc>
              </a:tr>
              <a:tr h="1311275">
                <a:tc>
                  <a:txBody>
                    <a:bodyPr wrap="square">
                      <a:noAutofit/>
                    </a:bodyPr>
                    <a:lstStyle/>
                    <a:p>
                      <a:pPr algn="l">
                        <a:buNone/>
                      </a:pPr>
                      <a:r>
                        <a:rPr sz="1800" b="0">
                          <a:solidFill>
                            <a:srgbClr val="203440"/>
                          </a:solidFill>
                          <a:latin typeface="Arial"/>
                          <a:ea typeface="Arial"/>
                          <a:cs typeface="Arial"/>
                        </a:rPr>
                        <a:t>Base case: AED 600 per transfer</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9,120</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16</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31.6%</a:t>
                      </a:r>
                    </a:p>
                  </a:txBody>
                  <a:tcPr marL="114300" marR="114300" marT="47625" marB="47625" anchor="ctr">
                    <a:solidFill>
                      <a:srgbClr val="FFFFFF"/>
                    </a:solidFill>
                  </a:tcPr>
                </a:tc>
              </a:tr>
              <a:tr h="1311275">
                <a:tc>
                  <a:txBody>
                    <a:bodyPr wrap="square">
                      <a:noAutofit/>
                    </a:bodyPr>
                    <a:lstStyle/>
                    <a:p>
                      <a:pPr algn="l">
                        <a:buNone/>
                      </a:pPr>
                      <a:r>
                        <a:rPr sz="1800" b="0">
                          <a:solidFill>
                            <a:srgbClr val="203440"/>
                          </a:solidFill>
                          <a:latin typeface="Arial"/>
                          <a:ea typeface="Arial"/>
                          <a:cs typeface="Arial"/>
                        </a:rPr>
                        <a:t>Lower benefit: AED 300 per transfer</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9,120</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31</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−34.2%</a:t>
                      </a:r>
                    </a:p>
                  </a:txBody>
                  <a:tcPr marL="114300" marR="114300" marT="47625" marB="47625" anchor="ctr">
                    <a:solidFill>
                      <a:srgbClr val="EDF3F5"/>
                    </a:solidFill>
                  </a:tcPr>
                </a:tc>
              </a:tr>
              <a:tr h="1311275">
                <a:tc>
                  <a:txBody>
                    <a:bodyPr wrap="square">
                      <a:noAutofit/>
                    </a:bodyPr>
                    <a:lstStyle/>
                    <a:p>
                      <a:pPr algn="l">
                        <a:buNone/>
                      </a:pPr>
                      <a:r>
                        <a:rPr sz="1800" b="0">
                          <a:solidFill>
                            <a:srgbClr val="203440"/>
                          </a:solidFill>
                          <a:latin typeface="Arial"/>
                          <a:ea typeface="Arial"/>
                          <a:cs typeface="Arial"/>
                        </a:rPr>
                        <a:t>All 36 reserve hours used</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10,560</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18</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13.6%</a:t>
                      </a:r>
                    </a:p>
                  </a:txBody>
                  <a:tcPr marL="114300" marR="114300" marT="47625" marB="47625" anchor="ctr">
                    <a:solidFill>
                      <a:srgbClr val="FFFFFF"/>
                    </a:solidFill>
                  </a:tcPr>
                </a:tc>
              </a:tr>
            </a:tbl>
          </a:graphicData>
        </a:graphic>
      </p:graphicFrame>
      <p:sp>
        <p:nvSpPr>
          <p:cNvPr id="4" name="qualification">
            <a:extLst xmlns:a="http://schemas.openxmlformats.org/drawingml/2006/main">
              <a:ext uri="{FF2B5EF4-FFF2-40B4-BE49-F238E27FC236}">
                <a16:creationId xmlns:a16="http://schemas.microsoft.com/office/drawing/2014/main" id="{C3152F6A-DFF0-44FB-90EB-B284E82F5AB5}"/>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AED 40/hour is an illustrative labour value. Reserve use adds AED 1,440. Pilot maintenance adds 24 hours beyond semester capacity and may require more support.</a:t>
            </a:r>
          </a:p>
        </p:txBody>
      </p:sp>
    </p:spTree>
    <p:extLst>
      <p:ext uri="{BB962C8B-B14F-4D97-AF65-F5344CB8AC3E}">
        <p14:creationId xmlns:p14="http://schemas.microsoft.com/office/powerpoint/2010/main" val="106709561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05AB2E29-99DE-4AD0-AF2A-1AC607C46FC5}"/>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Published hosting cost comparison</a:t>
            </a:r>
          </a:p>
        </p:txBody>
      </p:sp>
      <p:sp>
        <p:nvSpPr>
          <p:cNvPr id="2" name="slide-number">
            <a:extLst xmlns:a="http://schemas.openxmlformats.org/drawingml/2006/main">
              <a:ext uri="{FF2B5EF4-FFF2-40B4-BE49-F238E27FC236}">
                <a16:creationId xmlns:a16="http://schemas.microsoft.com/office/drawing/2014/main" id="{5EC26DDA-EB82-462E-A4F4-794C3BC86F90}"/>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20</a:t>
            </a:r>
          </a:p>
        </p:txBody>
      </p:sp>
      <p:sp>
        <p:nvSpPr>
          <p:cNvPr id="3" name="lead">
            <a:extLst xmlns:a="http://schemas.openxmlformats.org/drawingml/2006/main">
              <a:ext uri="{FF2B5EF4-FFF2-40B4-BE49-F238E27FC236}">
                <a16:creationId xmlns:a16="http://schemas.microsoft.com/office/drawing/2014/main" id="{BB266C1B-1977-456A-9BD0-853955F6D0B4}"/>
              </a:ext>
            </a:extLst>
          </p:cNvPr>
          <p:cNvSpPr>
            <a:spLocks xmlns:a="http://schemas.openxmlformats.org/drawingml/2006/main" noGrp="1"/>
          </p:cNvSpPr>
          <p:nvPr/>
        </p:nvSpPr>
        <p:spPr>
          <a:xfrm xmlns:a="http://schemas.openxmlformats.org/drawingml/2006/main">
            <a:off x="533400" y="103822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007E80"/>
                </a:solidFill>
                <a:latin typeface="Arial"/>
                <a:ea typeface="Arial"/>
                <a:cs typeface="Arial"/>
              </a:defRPr>
            </a:pPr>
            <a:r>
              <a:rPr sz="1875" b="1">
                <a:solidFill>
                  <a:srgbClr val="007E80"/>
                </a:solidFill>
                <a:latin typeface="Arial"/>
                <a:ea typeface="Arial"/>
                <a:cs typeface="Arial"/>
              </a:rPr>
              <a:t>DigitalOcean Basic Regular: 8 GiB, 4 shared vCPUs and 160 GiB SSD at USD 48/month [5].</a:t>
            </a:r>
          </a:p>
        </p:txBody>
      </p:sp>
      <p:graphicFrame>
        <p:nvGraphicFramePr>
          <p:cNvPr id="11" name=""/>
          <p:cNvGraphicFramePr/>
          <p:nvPr/>
        </p:nvGraphicFramePr>
        <p:xfrm>
          <a:off xmlns:a="http://schemas.openxmlformats.org/drawingml/2006/main" x="533400" y="1762125"/>
          <a:ext xmlns:a="http://schemas.openxmlformats.org/drawingml/2006/main" cx="11125200" cy="4086225"/>
        </p:xfrm>
        <a:graphic xmlns:a="http://schemas.openxmlformats.org/drawingml/2006/main">
          <a:graphicData uri="http://schemas.openxmlformats.org/drawingml/2006/table">
            <a:tbl>
              <a:tblPr firstRow="1" bandRow="0"/>
              <a:tblGrid>
                <a:gridCol w="4005072"/>
                <a:gridCol w="3560064"/>
                <a:gridCol w="3560064"/>
              </a:tblGrid>
              <a:tr h="476250">
                <a:tc>
                  <a:txBody>
                    <a:bodyPr wrap="square">
                      <a:noAutofit/>
                    </a:bodyPr>
                    <a:lstStyle/>
                    <a:p>
                      <a:pPr algn="l">
                        <a:buNone/>
                      </a:pPr>
                      <a:r>
                        <a:rPr sz="1725" b="1">
                          <a:solidFill>
                            <a:srgbClr val="FFFFFF"/>
                          </a:solidFill>
                          <a:latin typeface="Arial"/>
                          <a:ea typeface="Arial"/>
                          <a:cs typeface="Arial"/>
                        </a:rPr>
                        <a:t>Measure</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Existing-host base case</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With additional server</a:t>
                      </a:r>
                    </a:p>
                  </a:txBody>
                  <a:tcPr marL="114300" marR="114300" marT="47625" marB="47625" anchor="ctr">
                    <a:solidFill>
                      <a:srgbClr val="142F43"/>
                    </a:solidFill>
                  </a:tcPr>
                </a:tc>
              </a:tr>
              <a:tr h="721995">
                <a:tc>
                  <a:txBody>
                    <a:bodyPr wrap="square">
                      <a:noAutofit/>
                    </a:bodyPr>
                    <a:lstStyle/>
                    <a:p>
                      <a:pPr algn="l">
                        <a:buNone/>
                      </a:pPr>
                      <a:r>
                        <a:rPr sz="1800" b="0">
                          <a:solidFill>
                            <a:srgbClr val="203440"/>
                          </a:solidFill>
                          <a:latin typeface="Arial"/>
                          <a:ea typeface="Arial"/>
                          <a:cs typeface="Arial"/>
                        </a:rPr>
                        <a:t>Additional server cost</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AED 0</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AED 176.28/month or 2,115.36/year</a:t>
                      </a:r>
                    </a:p>
                  </a:txBody>
                  <a:tcPr marL="114300" marR="114300" marT="47625" marB="47625" anchor="ctr">
                    <a:solidFill>
                      <a:srgbClr val="FFFFFF"/>
                    </a:solidFill>
                  </a:tcPr>
                </a:tc>
              </a:tr>
              <a:tr h="721995">
                <a:tc>
                  <a:txBody>
                    <a:bodyPr wrap="square">
                      <a:noAutofit/>
                    </a:bodyPr>
                    <a:lstStyle/>
                    <a:p>
                      <a:pPr algn="l">
                        <a:buNone/>
                      </a:pPr>
                      <a:r>
                        <a:rPr sz="1800" b="0">
                          <a:solidFill>
                            <a:srgbClr val="203440"/>
                          </a:solidFill>
                          <a:latin typeface="Arial"/>
                          <a:ea typeface="Arial"/>
                          <a:cs typeface="Arial"/>
                        </a:rPr>
                        <a:t>First-year economic cost</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AED 9,120</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AED 11,235.36</a:t>
                      </a:r>
                    </a:p>
                  </a:txBody>
                  <a:tcPr marL="114300" marR="114300" marT="47625" marB="47625" anchor="ctr">
                    <a:solidFill>
                      <a:srgbClr val="EDF3F5"/>
                    </a:solidFill>
                  </a:tcPr>
                </a:tc>
              </a:tr>
              <a:tr h="721995">
                <a:tc>
                  <a:txBody>
                    <a:bodyPr wrap="square">
                      <a:noAutofit/>
                    </a:bodyPr>
                    <a:lstStyle/>
                    <a:p>
                      <a:pPr algn="l">
                        <a:buNone/>
                      </a:pPr>
                      <a:r>
                        <a:rPr sz="1800" b="0">
                          <a:solidFill>
                            <a:srgbClr val="203440"/>
                          </a:solidFill>
                          <a:latin typeface="Arial"/>
                          <a:ea typeface="Arial"/>
                          <a:cs typeface="Arial"/>
                        </a:rPr>
                        <a:t>Surplus at 20 transfers</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AED 2,880</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AED 764.64</a:t>
                      </a:r>
                    </a:p>
                  </a:txBody>
                  <a:tcPr marL="114300" marR="114300" marT="47625" marB="47625" anchor="ctr">
                    <a:solidFill>
                      <a:srgbClr val="FFFFFF"/>
                    </a:solidFill>
                  </a:tcPr>
                </a:tc>
              </a:tr>
              <a:tr h="721995">
                <a:tc>
                  <a:txBody>
                    <a:bodyPr wrap="square">
                      <a:noAutofit/>
                    </a:bodyPr>
                    <a:lstStyle/>
                    <a:p>
                      <a:pPr algn="l">
                        <a:buNone/>
                      </a:pPr>
                      <a:r>
                        <a:rPr sz="1800" b="0">
                          <a:solidFill>
                            <a:srgbClr val="203440"/>
                          </a:solidFill>
                          <a:latin typeface="Arial"/>
                          <a:ea typeface="Arial"/>
                          <a:cs typeface="Arial"/>
                        </a:rPr>
                        <a:t>ROI at 20 transfers</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31.6%</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6.8%</a:t>
                      </a:r>
                    </a:p>
                  </a:txBody>
                  <a:tcPr marL="114300" marR="114300" marT="47625" marB="47625" anchor="ctr">
                    <a:solidFill>
                      <a:srgbClr val="EDF3F5"/>
                    </a:solidFill>
                  </a:tcPr>
                </a:tc>
              </a:tr>
              <a:tr h="721995">
                <a:tc>
                  <a:txBody>
                    <a:bodyPr wrap="square">
                      <a:noAutofit/>
                    </a:bodyPr>
                    <a:lstStyle/>
                    <a:p>
                      <a:pPr algn="l">
                        <a:buNone/>
                      </a:pPr>
                      <a:r>
                        <a:rPr sz="1800" b="0">
                          <a:solidFill>
                            <a:srgbClr val="203440"/>
                          </a:solidFill>
                          <a:latin typeface="Arial"/>
                          <a:ea typeface="Arial"/>
                          <a:cs typeface="Arial"/>
                        </a:rPr>
                        <a:t>Break-even at AED 600/transfer</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16 transfers</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19 transfers</a:t>
                      </a:r>
                    </a:p>
                  </a:txBody>
                  <a:tcPr marL="114300" marR="114300" marT="47625" marB="47625" anchor="ctr">
                    <a:solidFill>
                      <a:srgbClr val="FFFFFF"/>
                    </a:solidFill>
                  </a:tcPr>
                </a:tc>
              </a:tr>
            </a:tbl>
          </a:graphicData>
        </a:graphic>
      </p:graphicFrame>
      <p:sp>
        <p:nvSpPr>
          <p:cNvPr id="5" name="qualification">
            <a:extLst xmlns:a="http://schemas.openxmlformats.org/drawingml/2006/main">
              <a:ext uri="{FF2B5EF4-FFF2-40B4-BE49-F238E27FC236}">
                <a16:creationId xmlns:a16="http://schemas.microsoft.com/office/drawing/2014/main" id="{C6215CC2-E526-4D73-BC24-637525742551}"/>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28 Sep 2026 benchmark. Conversion: AED 3.6725/USD [6]. Retains AED 600 annual AI/services. Excludes taxes, fees, extras and added support. No supplier selected.</a:t>
            </a:r>
          </a:p>
        </p:txBody>
      </p:sp>
    </p:spTree>
    <p:extLst>
      <p:ext uri="{BB962C8B-B14F-4D97-AF65-F5344CB8AC3E}">
        <p14:creationId xmlns:p14="http://schemas.microsoft.com/office/powerpoint/2010/main" val="93220045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9A786AEF-058C-4F35-9136-C36C82114587}"/>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Privacy and legal applicability</a:t>
            </a:r>
          </a:p>
        </p:txBody>
      </p:sp>
      <p:sp>
        <p:nvSpPr>
          <p:cNvPr id="2" name="slide-number">
            <a:extLst xmlns:a="http://schemas.openxmlformats.org/drawingml/2006/main">
              <a:ext uri="{FF2B5EF4-FFF2-40B4-BE49-F238E27FC236}">
                <a16:creationId xmlns:a16="http://schemas.microsoft.com/office/drawing/2014/main" id="{56E8E112-81D5-47AD-992B-799C6710EC8C}"/>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21</a:t>
            </a:r>
          </a:p>
        </p:txBody>
      </p:sp>
      <p:sp>
        <p:nvSpPr>
          <p:cNvPr id="3" name="column-title-0">
            <a:extLst xmlns:a="http://schemas.openxmlformats.org/drawingml/2006/main">
              <a:ext uri="{FF2B5EF4-FFF2-40B4-BE49-F238E27FC236}">
                <a16:creationId xmlns:a16="http://schemas.microsoft.com/office/drawing/2014/main" id="{8C2113AA-6A15-47C1-8333-5EF3B536F647}"/>
              </a:ext>
            </a:extLst>
          </p:cNvPr>
          <p:cNvSpPr>
            <a:spLocks xmlns:a="http://schemas.openxmlformats.org/drawingml/2006/main" noGrp="1"/>
          </p:cNvSpPr>
          <p:nvPr/>
        </p:nvSpPr>
        <p:spPr>
          <a:xfrm xmlns:a="http://schemas.openxmlformats.org/drawingml/2006/main">
            <a:off x="533400" y="1333500"/>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7E80"/>
                </a:solidFill>
                <a:latin typeface="Arial"/>
                <a:ea typeface="Arial"/>
                <a:cs typeface="Arial"/>
              </a:defRPr>
            </a:pPr>
            <a:r>
              <a:rPr sz="2100" b="1">
                <a:solidFill>
                  <a:srgbClr val="007E80"/>
                </a:solidFill>
                <a:latin typeface="Arial"/>
                <a:ea typeface="Arial"/>
                <a:cs typeface="Arial"/>
              </a:rPr>
              <a:t>UAE privacy framework</a:t>
            </a:r>
          </a:p>
        </p:txBody>
      </p:sp>
      <p:sp>
        <p:nvSpPr>
          <p:cNvPr id="4" name="column-body-0">
            <a:extLst xmlns:a="http://schemas.openxmlformats.org/drawingml/2006/main">
              <a:ext uri="{FF2B5EF4-FFF2-40B4-BE49-F238E27FC236}">
                <a16:creationId xmlns:a16="http://schemas.microsoft.com/office/drawing/2014/main" id="{074D962D-F62E-41F2-B040-A72E610DD041}"/>
              </a:ext>
            </a:extLst>
          </p:cNvPr>
          <p:cNvSpPr>
            <a:spLocks xmlns:a="http://schemas.openxmlformats.org/drawingml/2006/main" noGrp="1"/>
          </p:cNvSpPr>
          <p:nvPr/>
        </p:nvSpPr>
        <p:spPr>
          <a:xfrm xmlns:a="http://schemas.openxmlformats.org/drawingml/2006/main">
            <a:off x="533400" y="1866900"/>
            <a:ext cx="52959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Federal Decree-Law 45 of 2021, Article 2, includes exclusions for government data and governmental processing [7].</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The university’s legal and data-governance staff must determine the applicable regime.</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Articles 5, 15 and 22–23 address processing controls, correction or erasure, and cross-border transfers [7].</a:t>
            </a:r>
          </a:p>
        </p:txBody>
      </p:sp>
      <p:sp>
        <p:nvSpPr>
          <p:cNvPr id="5" name="column-title-1">
            <a:extLst xmlns:a="http://schemas.openxmlformats.org/drawingml/2006/main">
              <a:ext uri="{FF2B5EF4-FFF2-40B4-BE49-F238E27FC236}">
                <a16:creationId xmlns:a16="http://schemas.microsoft.com/office/drawing/2014/main" id="{C0F00B07-A21B-4D79-B3C4-4812D7A647C1}"/>
              </a:ext>
            </a:extLst>
          </p:cNvPr>
          <p:cNvSpPr>
            <a:spLocks xmlns:a="http://schemas.openxmlformats.org/drawingml/2006/main" noGrp="1"/>
          </p:cNvSpPr>
          <p:nvPr/>
        </p:nvSpPr>
        <p:spPr>
          <a:xfrm xmlns:a="http://schemas.openxmlformats.org/drawingml/2006/main">
            <a:off x="6305550" y="1333500"/>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7E80"/>
                </a:solidFill>
                <a:latin typeface="Arial"/>
                <a:ea typeface="Arial"/>
                <a:cs typeface="Arial"/>
              </a:defRPr>
            </a:pPr>
            <a:r>
              <a:rPr sz="2100" b="1">
                <a:solidFill>
                  <a:srgbClr val="007E80"/>
                </a:solidFill>
                <a:latin typeface="Arial"/>
                <a:ea typeface="Arial"/>
                <a:cs typeface="Arial"/>
              </a:rPr>
              <a:t>Prototype controls</a:t>
            </a:r>
          </a:p>
        </p:txBody>
      </p:sp>
      <p:sp>
        <p:nvSpPr>
          <p:cNvPr id="6" name="column-body-1">
            <a:extLst xmlns:a="http://schemas.openxmlformats.org/drawingml/2006/main">
              <a:ext uri="{FF2B5EF4-FFF2-40B4-BE49-F238E27FC236}">
                <a16:creationId xmlns:a16="http://schemas.microsoft.com/office/drawing/2014/main" id="{DFEDDEB1-2F3A-4ED5-86C5-AB0B392E88A9}"/>
              </a:ext>
            </a:extLst>
          </p:cNvPr>
          <p:cNvSpPr>
            <a:spLocks xmlns:a="http://schemas.openxmlformats.org/drawingml/2006/main" noGrp="1"/>
          </p:cNvSpPr>
          <p:nvPr/>
        </p:nvSpPr>
        <p:spPr>
          <a:xfrm xmlns:a="http://schemas.openxmlformats.org/drawingml/2006/main">
            <a:off x="6305550" y="1866900"/>
            <a:ext cx="52959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Use fictional operational data. Import university accounts, asset records or purchase files only with authorization.</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Keep real confidential records, credentials and keys out of GitHub and AI prompts.</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Limit fields and department access, separate credentials and encrypt remote connections.</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Review retention, training use and processing location before an AI service receives real data.</a:t>
            </a:r>
          </a:p>
        </p:txBody>
      </p:sp>
      <p:sp>
        <p:nvSpPr>
          <p:cNvPr id="7" name="qualification">
            <a:extLst xmlns:a="http://schemas.openxmlformats.org/drawingml/2006/main">
              <a:ext uri="{FF2B5EF4-FFF2-40B4-BE49-F238E27FC236}">
                <a16:creationId xmlns:a16="http://schemas.microsoft.com/office/drawing/2014/main" id="{18FB645C-361D-44BB-8551-CAAD8432DE0D}"/>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A feasibility screening does not establish institutional legal compliance. Live deployment needs authorization and specialist review.</a:t>
            </a:r>
          </a:p>
        </p:txBody>
      </p:sp>
    </p:spTree>
    <p:extLst>
      <p:ext uri="{BB962C8B-B14F-4D97-AF65-F5344CB8AC3E}">
        <p14:creationId xmlns:p14="http://schemas.microsoft.com/office/powerpoint/2010/main" val="199861990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D6ABC890-6CA8-41E4-961E-A03EF27719FB}"/>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Ownership, licensing and safety</a:t>
            </a:r>
          </a:p>
        </p:txBody>
      </p:sp>
      <p:sp>
        <p:nvSpPr>
          <p:cNvPr id="2" name="slide-number">
            <a:extLst xmlns:a="http://schemas.openxmlformats.org/drawingml/2006/main">
              <a:ext uri="{FF2B5EF4-FFF2-40B4-BE49-F238E27FC236}">
                <a16:creationId xmlns:a16="http://schemas.microsoft.com/office/drawing/2014/main" id="{D9B9D99B-86BE-4375-8674-99334CB15309}"/>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22</a:t>
            </a:r>
          </a:p>
        </p:txBody>
      </p:sp>
      <p:sp>
        <p:nvSpPr>
          <p:cNvPr id="3" name="lead">
            <a:extLst xmlns:a="http://schemas.openxmlformats.org/drawingml/2006/main">
              <a:ext uri="{FF2B5EF4-FFF2-40B4-BE49-F238E27FC236}">
                <a16:creationId xmlns:a16="http://schemas.microsoft.com/office/drawing/2014/main" id="{A5090D4D-A5F2-4B39-B73B-1EFD25D96B45}"/>
              </a:ext>
            </a:extLst>
          </p:cNvPr>
          <p:cNvSpPr>
            <a:spLocks xmlns:a="http://schemas.openxmlformats.org/drawingml/2006/main" noGrp="1"/>
          </p:cNvSpPr>
          <p:nvPr/>
        </p:nvSpPr>
        <p:spPr>
          <a:xfrm xmlns:a="http://schemas.openxmlformats.org/drawingml/2006/main">
            <a:off x="533400" y="103822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007E80"/>
                </a:solidFill>
                <a:latin typeface="Arial"/>
                <a:ea typeface="Arial"/>
                <a:cs typeface="Arial"/>
              </a:defRPr>
            </a:pPr>
            <a:r>
              <a:rPr sz="1875" b="1">
                <a:solidFill>
                  <a:srgbClr val="007E80"/>
                </a:solidFill>
                <a:latin typeface="Arial"/>
                <a:ea typeface="Arial"/>
                <a:cs typeface="Arial"/>
              </a:rPr>
              <a:t>The IP review covers code, libraries, models, photographs and documents under the UAE copyright framework [8].</a:t>
            </a:r>
          </a:p>
        </p:txBody>
      </p:sp>
      <p:graphicFrame>
        <p:nvGraphicFramePr>
          <p:cNvPr id="11" name=""/>
          <p:cNvGraphicFramePr/>
          <p:nvPr/>
        </p:nvGraphicFramePr>
        <p:xfrm>
          <a:off xmlns:a="http://schemas.openxmlformats.org/drawingml/2006/main" x="533400" y="1762125"/>
          <a:ext xmlns:a="http://schemas.openxmlformats.org/drawingml/2006/main" cx="11125200" cy="4086225"/>
        </p:xfrm>
        <a:graphic xmlns:a="http://schemas.openxmlformats.org/drawingml/2006/main">
          <a:graphicData uri="http://schemas.openxmlformats.org/drawingml/2006/table">
            <a:tbl>
              <a:tblPr firstRow="1" bandRow="0"/>
              <a:tblGrid>
                <a:gridCol w="3337560"/>
                <a:gridCol w="7787640"/>
              </a:tblGrid>
              <a:tr h="476250">
                <a:tc>
                  <a:txBody>
                    <a:bodyPr wrap="square">
                      <a:noAutofit/>
                    </a:bodyPr>
                    <a:lstStyle/>
                    <a:p>
                      <a:pPr algn="l">
                        <a:buNone/>
                      </a:pPr>
                      <a:r>
                        <a:rPr sz="1725" b="1">
                          <a:solidFill>
                            <a:srgbClr val="FFFFFF"/>
                          </a:solidFill>
                          <a:latin typeface="Arial"/>
                          <a:ea typeface="Arial"/>
                          <a:cs typeface="Arial"/>
                        </a:rPr>
                        <a:t>Constraint</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Control and live-pilot condition</a:t>
                      </a:r>
                    </a:p>
                  </a:txBody>
                  <a:tcPr marL="114300" marR="114300" marT="47625" marB="47625" anchor="ctr">
                    <a:solidFill>
                      <a:srgbClr val="142F43"/>
                    </a:solidFill>
                  </a:tcPr>
                </a:tc>
              </a:tr>
              <a:tr h="721995">
                <a:tc>
                  <a:txBody>
                    <a:bodyPr wrap="square">
                      <a:noAutofit/>
                    </a:bodyPr>
                    <a:lstStyle/>
                    <a:p>
                      <a:pPr algn="l">
                        <a:buNone/>
                      </a:pPr>
                      <a:r>
                        <a:rPr sz="1800" b="0">
                          <a:solidFill>
                            <a:srgbClr val="203440"/>
                          </a:solidFill>
                          <a:latin typeface="Arial"/>
                          <a:ea typeface="Arial"/>
                          <a:cs typeface="Arial"/>
                        </a:rPr>
                        <a:t>Asset ownership</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Separate software access from transfer, donation or disposal authority. Name decision makers and obtain written approval rules.</a:t>
                      </a:r>
                    </a:p>
                  </a:txBody>
                  <a:tcPr marL="114300" marR="114300" marT="47625" marB="47625" anchor="ctr">
                    <a:solidFill>
                      <a:srgbClr val="FFFFFF"/>
                    </a:solidFill>
                  </a:tcPr>
                </a:tc>
              </a:tr>
              <a:tr h="721995">
                <a:tc>
                  <a:txBody>
                    <a:bodyPr wrap="square">
                      <a:noAutofit/>
                    </a:bodyPr>
                    <a:lstStyle/>
                    <a:p>
                      <a:pPr algn="l">
                        <a:buNone/>
                      </a:pPr>
                      <a:r>
                        <a:rPr sz="1800" b="0">
                          <a:solidFill>
                            <a:srgbClr val="203440"/>
                          </a:solidFill>
                          <a:latin typeface="Arial"/>
                          <a:ea typeface="Arial"/>
                          <a:cs typeface="Arial"/>
                        </a:rPr>
                        <a:t>Software and content licensing</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Keep dependency and licence records and required notices. Use compatible components and owned or permitted uploads.</a:t>
                      </a:r>
                    </a:p>
                  </a:txBody>
                  <a:tcPr marL="114300" marR="114300" marT="47625" marB="47625" anchor="ctr">
                    <a:solidFill>
                      <a:srgbClr val="EDF3F5"/>
                    </a:solidFill>
                  </a:tcPr>
                </a:tc>
              </a:tr>
              <a:tr h="721995">
                <a:tc>
                  <a:txBody>
                    <a:bodyPr wrap="square">
                      <a:noAutofit/>
                    </a:bodyPr>
                    <a:lstStyle/>
                    <a:p>
                      <a:pPr algn="l">
                        <a:buNone/>
                      </a:pPr>
                      <a:r>
                        <a:rPr sz="1800" b="0">
                          <a:solidFill>
                            <a:srgbClr val="203440"/>
                          </a:solidFill>
                          <a:latin typeface="Arial"/>
                          <a:ea typeface="Arial"/>
                          <a:cs typeface="Arial"/>
                        </a:rPr>
                        <a:t>Laboratory and electrical safety</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Exclude unserviceable items from working-resource matches. Require qualified inspection and safe release.</a:t>
                      </a:r>
                    </a:p>
                  </a:txBody>
                  <a:tcPr marL="114300" marR="114300" marT="47625" marB="47625" anchor="ctr">
                    <a:solidFill>
                      <a:srgbClr val="FFFFFF"/>
                    </a:solidFill>
                  </a:tcPr>
                </a:tc>
              </a:tr>
              <a:tr h="721995">
                <a:tc>
                  <a:txBody>
                    <a:bodyPr wrap="square">
                      <a:noAutofit/>
                    </a:bodyPr>
                    <a:lstStyle/>
                    <a:p>
                      <a:pPr algn="l">
                        <a:buNone/>
                      </a:pPr>
                      <a:r>
                        <a:rPr sz="1800" b="0">
                          <a:solidFill>
                            <a:srgbClr val="203440"/>
                          </a:solidFill>
                          <a:latin typeface="Arial"/>
                          <a:ea typeface="Arial"/>
                          <a:cs typeface="Arial"/>
                        </a:rPr>
                        <a:t>AI accountability</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Show supporting factors and uncertainty. People make approval, custody and disposal decisions.</a:t>
                      </a:r>
                    </a:p>
                  </a:txBody>
                  <a:tcPr marL="114300" marR="114300" marT="47625" marB="47625" anchor="ctr">
                    <a:solidFill>
                      <a:srgbClr val="EDF3F5"/>
                    </a:solidFill>
                  </a:tcPr>
                </a:tc>
              </a:tr>
              <a:tr h="721995">
                <a:tc>
                  <a:txBody>
                    <a:bodyPr wrap="square">
                      <a:noAutofit/>
                    </a:bodyPr>
                    <a:lstStyle/>
                    <a:p>
                      <a:pPr algn="l">
                        <a:buNone/>
                      </a:pPr>
                      <a:r>
                        <a:rPr sz="1800" b="0">
                          <a:solidFill>
                            <a:srgbClr val="203440"/>
                          </a:solidFill>
                          <a:latin typeface="Arial"/>
                          <a:ea typeface="Arial"/>
                          <a:cs typeface="Arial"/>
                        </a:rPr>
                        <a:t>Security and confidentiality</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Test access boundaries and review repository contents. Resolve critical defects and exposed credentials before a pilot.</a:t>
                      </a:r>
                    </a:p>
                  </a:txBody>
                  <a:tcPr marL="114300" marR="114300" marT="47625" marB="47625" anchor="ctr">
                    <a:solidFill>
                      <a:srgbClr val="FFFFFF"/>
                    </a:solidFill>
                  </a:tcPr>
                </a:tc>
              </a:tr>
            </a:tbl>
          </a:graphicData>
        </a:graphic>
      </p:graphicFrame>
      <p:sp>
        <p:nvSpPr>
          <p:cNvPr id="5" name="qualification">
            <a:extLst xmlns:a="http://schemas.openxmlformats.org/drawingml/2006/main">
              <a:ext uri="{FF2B5EF4-FFF2-40B4-BE49-F238E27FC236}">
                <a16:creationId xmlns:a16="http://schemas.microsoft.com/office/drawing/2014/main" id="{6B6FAC5B-1176-46AD-A9C9-7CCE7B5D0D91}"/>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Federal Decree-Law 38 of 2021 [8]. An open-source library does not grant unrestricted rights over its datasets or uploaded content.</a:t>
            </a:r>
          </a:p>
        </p:txBody>
      </p:sp>
    </p:spTree>
    <p:extLst>
      <p:ext uri="{BB962C8B-B14F-4D97-AF65-F5344CB8AC3E}">
        <p14:creationId xmlns:p14="http://schemas.microsoft.com/office/powerpoint/2010/main" val="157261087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DF7EE4B8-B521-4E10-A84E-89620F2D2B75}"/>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Risk assessment method</a:t>
            </a:r>
          </a:p>
        </p:txBody>
      </p:sp>
      <p:sp>
        <p:nvSpPr>
          <p:cNvPr id="2" name="slide-number">
            <a:extLst xmlns:a="http://schemas.openxmlformats.org/drawingml/2006/main">
              <a:ext uri="{FF2B5EF4-FFF2-40B4-BE49-F238E27FC236}">
                <a16:creationId xmlns:a16="http://schemas.microsoft.com/office/drawing/2014/main" id="{88F3C800-CA7F-4D83-A559-4E5BF116E579}"/>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23</a:t>
            </a:r>
          </a:p>
        </p:txBody>
      </p:sp>
      <p:sp>
        <p:nvSpPr>
          <p:cNvPr id="3" name="column-title-0">
            <a:extLst xmlns:a="http://schemas.openxmlformats.org/drawingml/2006/main">
              <a:ext uri="{FF2B5EF4-FFF2-40B4-BE49-F238E27FC236}">
                <a16:creationId xmlns:a16="http://schemas.microsoft.com/office/drawing/2014/main" id="{97B1170F-8B43-421E-8AF1-0405D8332486}"/>
              </a:ext>
            </a:extLst>
          </p:cNvPr>
          <p:cNvSpPr>
            <a:spLocks xmlns:a="http://schemas.openxmlformats.org/drawingml/2006/main" noGrp="1"/>
          </p:cNvSpPr>
          <p:nvPr/>
        </p:nvSpPr>
        <p:spPr>
          <a:xfrm xmlns:a="http://schemas.openxmlformats.org/drawingml/2006/main">
            <a:off x="533400" y="1333500"/>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7E80"/>
                </a:solidFill>
                <a:latin typeface="Arial"/>
                <a:ea typeface="Arial"/>
                <a:cs typeface="Arial"/>
              </a:defRPr>
            </a:pPr>
            <a:r>
              <a:rPr sz="2100" b="1">
                <a:solidFill>
                  <a:srgbClr val="007E80"/>
                </a:solidFill>
                <a:latin typeface="Arial"/>
                <a:ea typeface="Arial"/>
                <a:cs typeface="Arial"/>
              </a:rPr>
              <a:t>Proposed review process</a:t>
            </a:r>
          </a:p>
        </p:txBody>
      </p:sp>
      <p:sp>
        <p:nvSpPr>
          <p:cNvPr id="4" name="column-body-0">
            <a:extLst xmlns:a="http://schemas.openxmlformats.org/drawingml/2006/main">
              <a:ext uri="{FF2B5EF4-FFF2-40B4-BE49-F238E27FC236}">
                <a16:creationId xmlns:a16="http://schemas.microsoft.com/office/drawing/2014/main" id="{FB7FB189-A49E-4BC4-885D-7F51EBE8379E}"/>
              </a:ext>
            </a:extLst>
          </p:cNvPr>
          <p:cNvSpPr>
            <a:spLocks xmlns:a="http://schemas.openxmlformats.org/drawingml/2006/main" noGrp="1"/>
          </p:cNvSpPr>
          <p:nvPr/>
        </p:nvSpPr>
        <p:spPr>
          <a:xfrm xmlns:a="http://schemas.openxmlformats.org/drawingml/2006/main">
            <a:off x="533400" y="1866900"/>
            <a:ext cx="52959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Assign an owner, observable trigger and contingency to each risk.</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Use matching and access tests to check unsafe recommendations and disclosure.</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Correct or disable failed functions before release.</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Review unresolved risks against the next milestone.</a:t>
            </a:r>
          </a:p>
        </p:txBody>
      </p:sp>
      <p:sp>
        <p:nvSpPr>
          <p:cNvPr id="5" name="column-title-1">
            <a:extLst xmlns:a="http://schemas.openxmlformats.org/drawingml/2006/main">
              <a:ext uri="{FF2B5EF4-FFF2-40B4-BE49-F238E27FC236}">
                <a16:creationId xmlns:a16="http://schemas.microsoft.com/office/drawing/2014/main" id="{A1CA249D-3A86-4791-956F-4F5A1347D144}"/>
              </a:ext>
            </a:extLst>
          </p:cNvPr>
          <p:cNvSpPr>
            <a:spLocks xmlns:a="http://schemas.openxmlformats.org/drawingml/2006/main" noGrp="1"/>
          </p:cNvSpPr>
          <p:nvPr/>
        </p:nvSpPr>
        <p:spPr>
          <a:xfrm xmlns:a="http://schemas.openxmlformats.org/drawingml/2006/main">
            <a:off x="6305550" y="1333500"/>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7E80"/>
                </a:solidFill>
                <a:latin typeface="Arial"/>
                <a:ea typeface="Arial"/>
                <a:cs typeface="Arial"/>
              </a:defRPr>
            </a:pPr>
            <a:r>
              <a:rPr sz="2100" b="1">
                <a:solidFill>
                  <a:srgbClr val="007E80"/>
                </a:solidFill>
                <a:latin typeface="Arial"/>
                <a:ea typeface="Arial"/>
                <a:cs typeface="Arial"/>
              </a:rPr>
              <a:t>Project scoring assumptions</a:t>
            </a:r>
          </a:p>
        </p:txBody>
      </p:sp>
      <p:sp>
        <p:nvSpPr>
          <p:cNvPr id="6" name="column-body-1">
            <a:extLst xmlns:a="http://schemas.openxmlformats.org/drawingml/2006/main">
              <a:ext uri="{FF2B5EF4-FFF2-40B4-BE49-F238E27FC236}">
                <a16:creationId xmlns:a16="http://schemas.microsoft.com/office/drawing/2014/main" id="{17BE6F50-44F2-4D93-9FD9-F0A26ECDADAC}"/>
              </a:ext>
            </a:extLst>
          </p:cNvPr>
          <p:cNvSpPr>
            <a:spLocks xmlns:a="http://schemas.openxmlformats.org/drawingml/2006/main" noGrp="1"/>
          </p:cNvSpPr>
          <p:nvPr/>
        </p:nvSpPr>
        <p:spPr>
          <a:xfrm xmlns:a="http://schemas.openxmlformats.org/drawingml/2006/main">
            <a:off x="6305550" y="1866900"/>
            <a:ext cx="52959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Likelihood: 1 unlikely, 2 plausible, 3 likely.</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Impact: 1 small rework, 2 threatened milestone, 3 required-scope loss or unsafe data handling.</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Priority = likelihood × impact. Scores of 6 or 9 need action before the affected milestone.</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Review weekly against actual hours, defects and the next deliverable.</a:t>
            </a:r>
          </a:p>
        </p:txBody>
      </p:sp>
      <p:sp>
        <p:nvSpPr>
          <p:cNvPr id="7" name="qualification">
            <a:extLst xmlns:a="http://schemas.openxmlformats.org/drawingml/2006/main">
              <a:ext uri="{FF2B5EF4-FFF2-40B4-BE49-F238E27FC236}">
                <a16:creationId xmlns:a16="http://schemas.microsoft.com/office/drawing/2014/main" id="{BCF86D3F-0613-4CBC-B501-6E407E524B04}"/>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Scores and owners are proposed planning judgements. A failed privacy or authorization check blocks a live pilot at any score.</a:t>
            </a:r>
          </a:p>
        </p:txBody>
      </p:sp>
    </p:spTree>
    <p:extLst>
      <p:ext uri="{BB962C8B-B14F-4D97-AF65-F5344CB8AC3E}">
        <p14:creationId xmlns:p14="http://schemas.microsoft.com/office/powerpoint/2010/main" val="165580814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93D47614-97F5-4FA8-BC65-423CFD147DAB}"/>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Delivery and service risks</a:t>
            </a:r>
          </a:p>
        </p:txBody>
      </p:sp>
      <p:sp>
        <p:nvSpPr>
          <p:cNvPr id="2" name="slide-number">
            <a:extLst xmlns:a="http://schemas.openxmlformats.org/drawingml/2006/main">
              <a:ext uri="{FF2B5EF4-FFF2-40B4-BE49-F238E27FC236}">
                <a16:creationId xmlns:a16="http://schemas.microsoft.com/office/drawing/2014/main" id="{1863BC66-CFB2-41D0-BB5A-2862D5C72366}"/>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24</a:t>
            </a:r>
          </a:p>
        </p:txBody>
      </p:sp>
      <p:graphicFrame>
        <p:nvGraphicFramePr>
          <p:cNvPr id="8" name=""/>
          <p:cNvGraphicFramePr/>
          <p:nvPr/>
        </p:nvGraphicFramePr>
        <p:xfrm>
          <a:off xmlns:a="http://schemas.openxmlformats.org/drawingml/2006/main" x="533400" y="1266825"/>
          <a:ext xmlns:a="http://schemas.openxmlformats.org/drawingml/2006/main" cx="11125200" cy="4895850"/>
        </p:xfrm>
        <a:graphic xmlns:a="http://schemas.openxmlformats.org/drawingml/2006/main">
          <a:graphicData uri="http://schemas.openxmlformats.org/drawingml/2006/table">
            <a:tbl>
              <a:tblPr firstRow="1" bandRow="0"/>
              <a:tblGrid>
                <a:gridCol w="3115056"/>
                <a:gridCol w="3893820"/>
                <a:gridCol w="4116324"/>
              </a:tblGrid>
              <a:tr h="476250">
                <a:tc>
                  <a:txBody>
                    <a:bodyPr wrap="square">
                      <a:noAutofit/>
                    </a:bodyPr>
                    <a:lstStyle/>
                    <a:p>
                      <a:pPr algn="l">
                        <a:buNone/>
                      </a:pPr>
                      <a:r>
                        <a:rPr sz="1725" b="1">
                          <a:solidFill>
                            <a:srgbClr val="FFFFFF"/>
                          </a:solidFill>
                          <a:latin typeface="Arial"/>
                          <a:ea typeface="Arial"/>
                          <a:cs typeface="Arial"/>
                        </a:rPr>
                        <a:t>Risk and proposed owner</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Observable trigger</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Contingency</a:t>
                      </a:r>
                    </a:p>
                  </a:txBody>
                  <a:tcPr marL="114300" marR="114300" marT="47625" marB="47625" anchor="ctr">
                    <a:solidFill>
                      <a:srgbClr val="142F43"/>
                    </a:solidFill>
                  </a:tcPr>
                </a:tc>
              </a:tr>
              <a:tr h="1104900">
                <a:tc>
                  <a:txBody>
                    <a:bodyPr wrap="square">
                      <a:noAutofit/>
                    </a:bodyPr>
                    <a:lstStyle/>
                    <a:p>
                      <a:pPr algn="l">
                        <a:buNone/>
                      </a:pPr>
                      <a:r>
                        <a:rPr sz="1800" b="0">
                          <a:solidFill>
                            <a:srgbClr val="203440"/>
                          </a:solidFill>
                          <a:latin typeface="Arial"/>
                          <a:ea typeface="Arial"/>
                          <a:cs typeface="Arial"/>
                        </a:rPr>
                        <a:t>Learning and integration</a:t>
                      </a:r>
                    </a:p>
                    <a:p>
                      <a:pPr algn="l">
                        <a:buNone/>
                      </a:pPr>
                      <a:r>
                        <a:rPr sz="1800" b="0">
                          <a:solidFill>
                            <a:srgbClr val="203440"/>
                          </a:solidFill>
                          <a:latin typeface="Arial"/>
                          <a:ea typeface="Arial"/>
                          <a:cs typeface="Arial"/>
                        </a:rPr>
                        <a:t>3 × 3 = 9</a:t>
                      </a:r>
                    </a:p>
                    <a:p>
                      <a:pPr algn="l">
                        <a:buNone/>
                      </a:pPr>
                      <a:r>
                        <a:rPr sz="1800" b="0">
                          <a:solidFill>
                            <a:srgbClr val="203440"/>
                          </a:solidFill>
                          <a:latin typeface="Arial"/>
                          <a:ea typeface="Arial"/>
                          <a:cs typeface="Arial"/>
                        </a:rPr>
                        <a:t>Saeed</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The 12-hour exercise overruns or fails on the selected computer.</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Pair on the failing component. Use reserve and revise the stack or estimate.</a:t>
                      </a:r>
                    </a:p>
                  </a:txBody>
                  <a:tcPr marL="114300" marR="114300" marT="47625" marB="47625" anchor="ctr">
                    <a:solidFill>
                      <a:srgbClr val="FFFFFF"/>
                    </a:solidFill>
                  </a:tcPr>
                </a:tc>
              </a:tr>
              <a:tr h="1104900">
                <a:tc>
                  <a:txBody>
                    <a:bodyPr wrap="square">
                      <a:noAutofit/>
                    </a:bodyPr>
                    <a:lstStyle/>
                    <a:p>
                      <a:pPr algn="l">
                        <a:buNone/>
                      </a:pPr>
                      <a:r>
                        <a:rPr sz="1800" b="0">
                          <a:solidFill>
                            <a:srgbClr val="203440"/>
                          </a:solidFill>
                          <a:latin typeface="Arial"/>
                          <a:ea typeface="Arial"/>
                          <a:cs typeface="Arial"/>
                        </a:rPr>
                        <a:t>Team availability</a:t>
                      </a:r>
                    </a:p>
                    <a:p>
                      <a:pPr algn="l">
                        <a:buNone/>
                      </a:pPr>
                      <a:r>
                        <a:rPr sz="1800" b="0">
                          <a:solidFill>
                            <a:srgbClr val="203440"/>
                          </a:solidFill>
                          <a:latin typeface="Arial"/>
                          <a:ea typeface="Arial"/>
                          <a:cs typeface="Arial"/>
                        </a:rPr>
                        <a:t>2 × 3 = 6</a:t>
                      </a:r>
                    </a:p>
                    <a:p>
                      <a:pPr algn="l">
                        <a:buNone/>
                      </a:pPr>
                      <a:r>
                        <a:rPr sz="1800" b="0">
                          <a:solidFill>
                            <a:srgbClr val="203440"/>
                          </a:solidFill>
                          <a:latin typeface="Arial"/>
                          <a:ea typeface="Arial"/>
                          <a:cs typeface="Arial"/>
                        </a:rPr>
                        <a:t>All members</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Remaining capacity cannot cover remaining work and a realistic defect allowance.</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Reallocate tasks and simplify presentation or infrastructure work. Obtain approval before changing required scope.</a:t>
                      </a:r>
                    </a:p>
                  </a:txBody>
                  <a:tcPr marL="114300" marR="114300" marT="47625" marB="47625" anchor="ctr">
                    <a:solidFill>
                      <a:srgbClr val="EDF3F5"/>
                    </a:solidFill>
                  </a:tcPr>
                </a:tc>
              </a:tr>
              <a:tr h="1104900">
                <a:tc>
                  <a:txBody>
                    <a:bodyPr wrap="square">
                      <a:noAutofit/>
                    </a:bodyPr>
                    <a:lstStyle/>
                    <a:p>
                      <a:pPr algn="l">
                        <a:buNone/>
                      </a:pPr>
                      <a:r>
                        <a:rPr sz="1800" b="0">
                          <a:solidFill>
                            <a:srgbClr val="203440"/>
                          </a:solidFill>
                          <a:latin typeface="Arial"/>
                          <a:ea typeface="Arial"/>
                          <a:cs typeface="Arial"/>
                        </a:rPr>
                        <a:t>Staff or data access</a:t>
                      </a:r>
                    </a:p>
                    <a:p>
                      <a:pPr algn="l">
                        <a:buNone/>
                      </a:pPr>
                      <a:r>
                        <a:rPr sz="1800" b="0">
                          <a:solidFill>
                            <a:srgbClr val="203440"/>
                          </a:solidFill>
                          <a:latin typeface="Arial"/>
                          <a:ea typeface="Arial"/>
                          <a:cs typeface="Arial"/>
                        </a:rPr>
                        <a:t>3 × 2 = 6</a:t>
                      </a:r>
                    </a:p>
                    <a:p>
                      <a:pPr algn="l">
                        <a:buNone/>
                      </a:pPr>
                      <a:r>
                        <a:rPr sz="1800" b="0">
                          <a:solidFill>
                            <a:srgbClr val="203440"/>
                          </a:solidFill>
                          <a:latin typeface="Arial"/>
                          <a:ea typeface="Arial"/>
                          <a:cs typeface="Arial"/>
                        </a:rPr>
                        <a:t>Ali</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27 September target missed. No interviews completed as of 28 September.</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Arrange direct consultations or seek TA-approved proxies. Keep synthetic records and a conditional conclusion.</a:t>
                      </a:r>
                    </a:p>
                  </a:txBody>
                  <a:tcPr marL="114300" marR="114300" marT="47625" marB="47625" anchor="ctr">
                    <a:solidFill>
                      <a:srgbClr val="FFFFFF"/>
                    </a:solidFill>
                  </a:tcPr>
                </a:tc>
              </a:tr>
              <a:tr h="1104900">
                <a:tc>
                  <a:txBody>
                    <a:bodyPr wrap="square">
                      <a:noAutofit/>
                    </a:bodyPr>
                    <a:lstStyle/>
                    <a:p>
                      <a:pPr algn="l">
                        <a:buNone/>
                      </a:pPr>
                      <a:r>
                        <a:rPr sz="1800" b="0">
                          <a:solidFill>
                            <a:srgbClr val="203440"/>
                          </a:solidFill>
                          <a:latin typeface="Arial"/>
                          <a:ea typeface="Arial"/>
                          <a:cs typeface="Arial"/>
                        </a:rPr>
                        <a:t>API cost or outage</a:t>
                      </a:r>
                    </a:p>
                    <a:p>
                      <a:pPr algn="l">
                        <a:buNone/>
                      </a:pPr>
                      <a:r>
                        <a:rPr sz="1800" b="0">
                          <a:solidFill>
                            <a:srgbClr val="203440"/>
                          </a:solidFill>
                          <a:latin typeface="Arial"/>
                          <a:ea typeface="Arial"/>
                          <a:cs typeface="Arial"/>
                        </a:rPr>
                        <a:t>2 × 2 = 4</a:t>
                      </a:r>
                    </a:p>
                    <a:p>
                      <a:pPr algn="l">
                        <a:buNone/>
                      </a:pPr>
                      <a:r>
                        <a:rPr sz="1800" b="0">
                          <a:solidFill>
                            <a:srgbClr val="203440"/>
                          </a:solidFill>
                          <a:latin typeface="Arial"/>
                          <a:ea typeface="Arial"/>
                          <a:cs typeface="Arial"/>
                        </a:rPr>
                        <a:t>Humaid</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Experiment spending reaches AED 120 of 150, or the service fails.</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Review usage before the ceiling. Keep conventional functions and assess a compliant replacement.</a:t>
                      </a:r>
                    </a:p>
                  </a:txBody>
                  <a:tcPr marL="114300" marR="114300" marT="47625" marB="47625" anchor="ctr">
                    <a:solidFill>
                      <a:srgbClr val="EDF3F5"/>
                    </a:solidFill>
                  </a:tcPr>
                </a:tc>
              </a:tr>
            </a:tbl>
          </a:graphicData>
        </a:graphic>
      </p:graphicFrame>
    </p:spTree>
    <p:extLst>
      <p:ext uri="{BB962C8B-B14F-4D97-AF65-F5344CB8AC3E}">
        <p14:creationId xmlns:p14="http://schemas.microsoft.com/office/powerpoint/2010/main" val="186458537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682F316E-FAA9-4D59-B895-BDA1C3710EF4}"/>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Data, AI and security risks</a:t>
            </a:r>
          </a:p>
        </p:txBody>
      </p:sp>
      <p:sp>
        <p:nvSpPr>
          <p:cNvPr id="2" name="slide-number">
            <a:extLst xmlns:a="http://schemas.openxmlformats.org/drawingml/2006/main">
              <a:ext uri="{FF2B5EF4-FFF2-40B4-BE49-F238E27FC236}">
                <a16:creationId xmlns:a16="http://schemas.microsoft.com/office/drawing/2014/main" id="{0A123E4D-2286-4241-A2A6-FB1B01344967}"/>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25</a:t>
            </a:r>
          </a:p>
        </p:txBody>
      </p:sp>
      <p:graphicFrame>
        <p:nvGraphicFramePr>
          <p:cNvPr id="8" name=""/>
          <p:cNvGraphicFramePr/>
          <p:nvPr/>
        </p:nvGraphicFramePr>
        <p:xfrm>
          <a:off xmlns:a="http://schemas.openxmlformats.org/drawingml/2006/main" x="533400" y="1266825"/>
          <a:ext xmlns:a="http://schemas.openxmlformats.org/drawingml/2006/main" cx="11125200" cy="4895850"/>
        </p:xfrm>
        <a:graphic xmlns:a="http://schemas.openxmlformats.org/drawingml/2006/main">
          <a:graphicData uri="http://schemas.openxmlformats.org/drawingml/2006/table">
            <a:tbl>
              <a:tblPr firstRow="1" bandRow="0"/>
              <a:tblGrid>
                <a:gridCol w="3115056"/>
                <a:gridCol w="3893820"/>
                <a:gridCol w="4116324"/>
              </a:tblGrid>
              <a:tr h="476250">
                <a:tc>
                  <a:txBody>
                    <a:bodyPr wrap="square">
                      <a:noAutofit/>
                    </a:bodyPr>
                    <a:lstStyle/>
                    <a:p>
                      <a:pPr algn="l">
                        <a:buNone/>
                      </a:pPr>
                      <a:r>
                        <a:rPr sz="1725" b="1">
                          <a:solidFill>
                            <a:srgbClr val="FFFFFF"/>
                          </a:solidFill>
                          <a:latin typeface="Arial"/>
                          <a:ea typeface="Arial"/>
                          <a:cs typeface="Arial"/>
                        </a:rPr>
                        <a:t>Risk and proposed owner</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Observable trigger</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Contingency</a:t>
                      </a:r>
                    </a:p>
                  </a:txBody>
                  <a:tcPr marL="114300" marR="114300" marT="47625" marB="47625" anchor="ctr">
                    <a:solidFill>
                      <a:srgbClr val="142F43"/>
                    </a:solidFill>
                  </a:tcPr>
                </a:tc>
              </a:tr>
              <a:tr h="1104900">
                <a:tc>
                  <a:txBody>
                    <a:bodyPr wrap="square">
                      <a:noAutofit/>
                    </a:bodyPr>
                    <a:lstStyle/>
                    <a:p>
                      <a:pPr algn="l">
                        <a:buNone/>
                      </a:pPr>
                      <a:r>
                        <a:rPr sz="1800" b="0">
                          <a:solidFill>
                            <a:srgbClr val="203440"/>
                          </a:solidFill>
                          <a:latin typeface="Arial"/>
                          <a:ea typeface="Arial"/>
                          <a:cs typeface="Arial"/>
                        </a:rPr>
                        <a:t>Unsuitable recommendations</a:t>
                      </a:r>
                    </a:p>
                    <a:p>
                      <a:pPr algn="l">
                        <a:buNone/>
                      </a:pPr>
                      <a:r>
                        <a:rPr sz="1800" b="0">
                          <a:solidFill>
                            <a:srgbClr val="203440"/>
                          </a:solidFill>
                          <a:latin typeface="Arial"/>
                          <a:ea typeface="Arial"/>
                          <a:cs typeface="Arial"/>
                        </a:rPr>
                        <a:t>2 × 3 = 6</a:t>
                      </a:r>
                    </a:p>
                    <a:p>
                      <a:pPr algn="l">
                        <a:buNone/>
                      </a:pPr>
                      <a:r>
                        <a:rPr sz="1800" b="0">
                          <a:solidFill>
                            <a:srgbClr val="203440"/>
                          </a:solidFill>
                          <a:latin typeface="Arial"/>
                          <a:ea typeface="Arial"/>
                          <a:cs typeface="Arial"/>
                        </a:rPr>
                        <a:t>Humaid</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Fewer than 16/20 requests meet the top-three target, or a negative case passes.</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Fix mandatory filters and inspect labels. Compare alternatives while retaining baseline search.</a:t>
                      </a:r>
                    </a:p>
                  </a:txBody>
                  <a:tcPr marL="114300" marR="114300" marT="47625" marB="47625" anchor="ctr">
                    <a:solidFill>
                      <a:srgbClr val="FFFFFF"/>
                    </a:solidFill>
                  </a:tcPr>
                </a:tc>
              </a:tr>
              <a:tr h="1104900">
                <a:tc>
                  <a:txBody>
                    <a:bodyPr wrap="square">
                      <a:noAutofit/>
                    </a:bodyPr>
                    <a:lstStyle/>
                    <a:p>
                      <a:pPr algn="l">
                        <a:buNone/>
                      </a:pPr>
                      <a:r>
                        <a:rPr sz="1800" b="0">
                          <a:solidFill>
                            <a:srgbClr val="203440"/>
                          </a:solidFill>
                          <a:latin typeface="Arial"/>
                          <a:ea typeface="Arial"/>
                          <a:cs typeface="Arial"/>
                        </a:rPr>
                        <a:t>Unauthorized disclosure</a:t>
                      </a:r>
                    </a:p>
                    <a:p>
                      <a:pPr algn="l">
                        <a:buNone/>
                      </a:pPr>
                      <a:r>
                        <a:rPr sz="1800" b="0">
                          <a:solidFill>
                            <a:srgbClr val="203440"/>
                          </a:solidFill>
                          <a:latin typeface="Arial"/>
                          <a:ea typeface="Arial"/>
                          <a:cs typeface="Arial"/>
                        </a:rPr>
                        <a:t>2 × 3 = 6</a:t>
                      </a:r>
                    </a:p>
                    <a:p>
                      <a:pPr algn="l">
                        <a:buNone/>
                      </a:pPr>
                      <a:r>
                        <a:rPr sz="1800" b="0">
                          <a:solidFill>
                            <a:srgbClr val="203440"/>
                          </a:solidFill>
                          <a:latin typeface="Arial"/>
                          <a:ea typeface="Arial"/>
                          <a:cs typeface="Arial"/>
                        </a:rPr>
                        <a:t>Ali</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A protected action succeeds for an unauthorized role, or confidential data enter a test.</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Stop the affected operation. Remove the exposure and retest before release.</a:t>
                      </a:r>
                    </a:p>
                  </a:txBody>
                  <a:tcPr marL="114300" marR="114300" marT="47625" marB="47625" anchor="ctr">
                    <a:solidFill>
                      <a:srgbClr val="EDF3F5"/>
                    </a:solidFill>
                  </a:tcPr>
                </a:tc>
              </a:tr>
              <a:tr h="1104900">
                <a:tc>
                  <a:txBody>
                    <a:bodyPr wrap="square">
                      <a:noAutofit/>
                    </a:bodyPr>
                    <a:lstStyle/>
                    <a:p>
                      <a:pPr algn="l">
                        <a:buNone/>
                      </a:pPr>
                      <a:r>
                        <a:rPr sz="1800" b="0">
                          <a:solidFill>
                            <a:srgbClr val="203440"/>
                          </a:solidFill>
                          <a:latin typeface="Arial"/>
                          <a:ea typeface="Arial"/>
                          <a:cs typeface="Arial"/>
                        </a:rPr>
                        <a:t>Inconsistency or overbooking</a:t>
                      </a:r>
                    </a:p>
                    <a:p>
                      <a:pPr algn="l">
                        <a:buNone/>
                      </a:pPr>
                      <a:r>
                        <a:rPr sz="1800" b="0">
                          <a:solidFill>
                            <a:srgbClr val="203440"/>
                          </a:solidFill>
                          <a:latin typeface="Arial"/>
                          <a:ea typeface="Arial"/>
                          <a:cs typeface="Arial"/>
                        </a:rPr>
                        <a:t>2 × 3 = 6</a:t>
                      </a:r>
                    </a:p>
                    <a:p>
                      <a:pPr algn="l">
                        <a:buNone/>
                      </a:pPr>
                      <a:r>
                        <a:rPr sz="1800" b="0">
                          <a:solidFill>
                            <a:srgbClr val="203440"/>
                          </a:solidFill>
                          <a:latin typeface="Arial"/>
                          <a:ea typeface="Arial"/>
                          <a:cs typeface="Arial"/>
                        </a:rPr>
                        <a:t>Saeed</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Two requests reserve the final item, or an interrupted transfer partly updates records.</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Correct transaction handling. Repeat concurrent and failure tests.</a:t>
                      </a:r>
                    </a:p>
                  </a:txBody>
                  <a:tcPr marL="114300" marR="114300" marT="47625" marB="47625" anchor="ctr">
                    <a:solidFill>
                      <a:srgbClr val="FFFFFF"/>
                    </a:solidFill>
                  </a:tcPr>
                </a:tc>
              </a:tr>
              <a:tr h="1104900">
                <a:tc>
                  <a:txBody>
                    <a:bodyPr wrap="square">
                      <a:noAutofit/>
                    </a:bodyPr>
                    <a:lstStyle/>
                    <a:p>
                      <a:pPr algn="l">
                        <a:buNone/>
                      </a:pPr>
                      <a:r>
                        <a:rPr sz="1800" b="0">
                          <a:solidFill>
                            <a:srgbClr val="203440"/>
                          </a:solidFill>
                          <a:latin typeface="Arial"/>
                          <a:ea typeface="Arial"/>
                          <a:cs typeface="Arial"/>
                        </a:rPr>
                        <a:t>Overstated benefits</a:t>
                      </a:r>
                    </a:p>
                    <a:p>
                      <a:pPr algn="l">
                        <a:buNone/>
                      </a:pPr>
                      <a:r>
                        <a:rPr sz="1800" b="0">
                          <a:solidFill>
                            <a:srgbClr val="203440"/>
                          </a:solidFill>
                          <a:latin typeface="Arial"/>
                          <a:ea typeface="Arial"/>
                          <a:cs typeface="Arial"/>
                        </a:rPr>
                        <a:t>2 × 2 = 4</a:t>
                      </a:r>
                    </a:p>
                    <a:p>
                      <a:pPr algn="l">
                        <a:buNone/>
                      </a:pPr>
                      <a:r>
                        <a:rPr sz="1800" b="0">
                          <a:solidFill>
                            <a:srgbClr val="203440"/>
                          </a:solidFill>
                          <a:latin typeface="Arial"/>
                          <a:ea typeface="Arial"/>
                          <a:cs typeface="Arial"/>
                        </a:rPr>
                        <a:t>Humaid</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A saving lacks an avoided-purchase basis or a cost input.</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Exclude unsupported estimates and recalculate ROI using validated events.</a:t>
                      </a:r>
                    </a:p>
                  </a:txBody>
                  <a:tcPr marL="114300" marR="114300" marT="47625" marB="47625" anchor="ctr">
                    <a:solidFill>
                      <a:srgbClr val="EDF3F5"/>
                    </a:solidFill>
                  </a:tcPr>
                </a:tc>
              </a:tr>
            </a:tbl>
          </a:graphicData>
        </a:graphic>
      </p:graphicFrame>
    </p:spTree>
    <p:extLst>
      <p:ext uri="{BB962C8B-B14F-4D97-AF65-F5344CB8AC3E}">
        <p14:creationId xmlns:p14="http://schemas.microsoft.com/office/powerpoint/2010/main" val="182666720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AEBCC7C-D053-460A-B6B1-6D2C2C62B93F}"/>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Schedule and remaining capacity</a:t>
            </a:r>
          </a:p>
        </p:txBody>
      </p:sp>
      <p:sp>
        <p:nvSpPr>
          <p:cNvPr id="2" name="slide-number">
            <a:extLst xmlns:a="http://schemas.openxmlformats.org/drawingml/2006/main">
              <a:ext uri="{FF2B5EF4-FFF2-40B4-BE49-F238E27FC236}">
                <a16:creationId xmlns:a16="http://schemas.microsoft.com/office/drawing/2014/main" id="{4DDB3AED-F74C-462C-B670-42A70D0D5AB4}"/>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26</a:t>
            </a:r>
          </a:p>
        </p:txBody>
      </p:sp>
      <p:sp>
        <p:nvSpPr>
          <p:cNvPr id="3" name="lead">
            <a:extLst xmlns:a="http://schemas.openxmlformats.org/drawingml/2006/main">
              <a:ext uri="{FF2B5EF4-FFF2-40B4-BE49-F238E27FC236}">
                <a16:creationId xmlns:a16="http://schemas.microsoft.com/office/drawing/2014/main" id="{CEBF8F77-E1DE-4E46-92CA-17C4BB641493}"/>
              </a:ext>
            </a:extLst>
          </p:cNvPr>
          <p:cNvSpPr>
            <a:spLocks xmlns:a="http://schemas.openxmlformats.org/drawingml/2006/main" noGrp="1"/>
          </p:cNvSpPr>
          <p:nvPr/>
        </p:nvSpPr>
        <p:spPr>
          <a:xfrm xmlns:a="http://schemas.openxmlformats.org/drawingml/2006/main">
            <a:off x="533400" y="103822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007E80"/>
                </a:solidFill>
                <a:latin typeface="Arial"/>
                <a:ea typeface="Arial"/>
                <a:cs typeface="Arial"/>
              </a:defRPr>
            </a:pPr>
            <a:r>
              <a:rPr sz="1875" b="1">
                <a:solidFill>
                  <a:srgbClr val="007E80"/>
                </a:solidFill>
                <a:latin typeface="Arial"/>
                <a:ea typeface="Arial"/>
                <a:cs typeface="Arial"/>
              </a:rPr>
              <a:t>Original: 216 hours, with 180 baseline + 36 reserve. From 28 September: 192 assumed hours remain.</a:t>
            </a:r>
          </a:p>
        </p:txBody>
      </p:sp>
      <p:graphicFrame>
        <p:nvGraphicFramePr>
          <p:cNvPr id="11" name=""/>
          <p:cNvGraphicFramePr/>
          <p:nvPr/>
        </p:nvGraphicFramePr>
        <p:xfrm>
          <a:off xmlns:a="http://schemas.openxmlformats.org/drawingml/2006/main" x="533400" y="1762125"/>
          <a:ext xmlns:a="http://schemas.openxmlformats.org/drawingml/2006/main" cx="11125200" cy="4086225"/>
        </p:xfrm>
        <a:graphic xmlns:a="http://schemas.openxmlformats.org/drawingml/2006/main">
          <a:graphicData uri="http://schemas.openxmlformats.org/drawingml/2006/table">
            <a:tbl>
              <a:tblPr firstRow="1" bandRow="0"/>
              <a:tblGrid>
                <a:gridCol w="3003804"/>
                <a:gridCol w="1223772"/>
                <a:gridCol w="6897624"/>
              </a:tblGrid>
              <a:tr h="476250">
                <a:tc>
                  <a:txBody>
                    <a:bodyPr wrap="square">
                      <a:noAutofit/>
                    </a:bodyPr>
                    <a:lstStyle/>
                    <a:p>
                      <a:pPr algn="l">
                        <a:buNone/>
                      </a:pPr>
                      <a:r>
                        <a:rPr sz="1725" b="1">
                          <a:solidFill>
                            <a:srgbClr val="FFFFFF"/>
                          </a:solidFill>
                          <a:latin typeface="Arial"/>
                          <a:ea typeface="Arial"/>
                          <a:cs typeface="Arial"/>
                        </a:rPr>
                        <a:t>Work period in 2026</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Original hours</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Deliverable and milestone</a:t>
                      </a:r>
                    </a:p>
                  </a:txBody>
                  <a:tcPr marL="114300" marR="114300" marT="47625" marB="47625" anchor="ctr">
                    <a:solidFill>
                      <a:srgbClr val="142F43"/>
                    </a:solidFill>
                  </a:tcPr>
                </a:tc>
              </a:tr>
              <a:tr h="902494">
                <a:tc>
                  <a:txBody>
                    <a:bodyPr wrap="square">
                      <a:noAutofit/>
                    </a:bodyPr>
                    <a:lstStyle/>
                    <a:p>
                      <a:pPr algn="l">
                        <a:buNone/>
                      </a:pPr>
                      <a:r>
                        <a:rPr sz="1800" b="0">
                          <a:solidFill>
                            <a:srgbClr val="203440"/>
                          </a:solidFill>
                          <a:latin typeface="Arial"/>
                          <a:ea typeface="Arial"/>
                          <a:cs typeface="Arial"/>
                        </a:rPr>
                        <a:t>21 Sep to 4 Oct</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40</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Phase 2 PDF: 28 Sep, 6:00 p.m. UAE. Adaptation assessment, technical proof and requirements target: 4 Oct. Lab milestone: week of 5 Oct.</a:t>
                      </a:r>
                    </a:p>
                  </a:txBody>
                  <a:tcPr marL="114300" marR="114300" marT="47625" marB="47625" anchor="ctr">
                    <a:solidFill>
                      <a:srgbClr val="FFFFFF"/>
                    </a:solidFill>
                  </a:tcPr>
                </a:tc>
              </a:tr>
              <a:tr h="902494">
                <a:tc>
                  <a:txBody>
                    <a:bodyPr wrap="square">
                      <a:noAutofit/>
                    </a:bodyPr>
                    <a:lstStyle/>
                    <a:p>
                      <a:pPr algn="l">
                        <a:buNone/>
                      </a:pPr>
                      <a:r>
                        <a:rPr sz="1800" b="0">
                          <a:solidFill>
                            <a:srgbClr val="203440"/>
                          </a:solidFill>
                          <a:latin typeface="Arial"/>
                          <a:ea typeface="Arial"/>
                          <a:cs typeface="Arial"/>
                        </a:rPr>
                        <a:t>5 to 25 Oct</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60</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Architecture, data model, permissions and detailed design with component proofs. Design milestone: week of 26 Oct.</a:t>
                      </a:r>
                    </a:p>
                  </a:txBody>
                  <a:tcPr marL="114300" marR="114300" marT="47625" marB="47625" anchor="ctr">
                    <a:solidFill>
                      <a:srgbClr val="EDF3F5"/>
                    </a:solidFill>
                  </a:tcPr>
                </a:tc>
              </a:tr>
              <a:tr h="902494">
                <a:tc>
                  <a:txBody>
                    <a:bodyPr wrap="square">
                      <a:noAutofit/>
                    </a:bodyPr>
                    <a:lstStyle/>
                    <a:p>
                      <a:pPr algn="l">
                        <a:buNone/>
                      </a:pPr>
                      <a:r>
                        <a:rPr sz="1800" b="0">
                          <a:solidFill>
                            <a:srgbClr val="203440"/>
                          </a:solidFill>
                          <a:latin typeface="Arial"/>
                          <a:ea typeface="Arial"/>
                          <a:cs typeface="Arial"/>
                        </a:rPr>
                        <a:t>26 Oct to 15 Nov</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60</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Integrate the full workflow, AI and reporting with continuous tests. Draft implementation milestone: week of 16 Nov.</a:t>
                      </a:r>
                    </a:p>
                  </a:txBody>
                  <a:tcPr marL="114300" marR="114300" marT="47625" marB="47625" anchor="ctr">
                    <a:solidFill>
                      <a:srgbClr val="FFFFFF"/>
                    </a:solidFill>
                  </a:tcPr>
                </a:tc>
              </a:tr>
              <a:tr h="902494">
                <a:tc>
                  <a:txBody>
                    <a:bodyPr wrap="square">
                      <a:noAutofit/>
                    </a:bodyPr>
                    <a:lstStyle/>
                    <a:p>
                      <a:pPr algn="l">
                        <a:buNone/>
                      </a:pPr>
                      <a:r>
                        <a:rPr sz="1800" b="0">
                          <a:solidFill>
                            <a:srgbClr val="203440"/>
                          </a:solidFill>
                          <a:latin typeface="Arial"/>
                          <a:ea typeface="Arial"/>
                          <a:cs typeface="Arial"/>
                        </a:rPr>
                        <a:t>16 to 22 Nov</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20</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Regression, defect correction, documentation and demonstration preparation. Final milestone: week of 23 Nov.</a:t>
                      </a:r>
                    </a:p>
                  </a:txBody>
                  <a:tcPr marL="114300" marR="114300" marT="47625" marB="47625" anchor="ctr">
                    <a:solidFill>
                      <a:srgbClr val="EDF3F5"/>
                    </a:solidFill>
                  </a:tcPr>
                </a:tc>
              </a:tr>
            </a:tbl>
          </a:graphicData>
        </a:graphic>
      </p:graphicFrame>
      <p:sp>
        <p:nvSpPr>
          <p:cNvPr id="5" name="qualification">
            <a:extLst xmlns:a="http://schemas.openxmlformats.org/drawingml/2006/main">
              <a:ext uri="{FF2B5EF4-FFF2-40B4-BE49-F238E27FC236}">
                <a16:creationId xmlns:a16="http://schemas.microsoft.com/office/drawing/2014/main" id="{BCD1491A-5F4E-4F20-A0CE-1D36FD673FC6}"/>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Slide-based course dates, including the one-week Phase 2 extension. Eight weeks remain through 22 November. Actual effort and unused reserve are unverified.</a:t>
            </a:r>
          </a:p>
        </p:txBody>
      </p:sp>
    </p:spTree>
    <p:extLst>
      <p:ext uri="{BB962C8B-B14F-4D97-AF65-F5344CB8AC3E}">
        <p14:creationId xmlns:p14="http://schemas.microsoft.com/office/powerpoint/2010/main" val="92889764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9D792C10-0854-4C55-84B2-F91118788F7A}"/>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Proposed team allocation</a:t>
            </a:r>
          </a:p>
        </p:txBody>
      </p:sp>
      <p:sp>
        <p:nvSpPr>
          <p:cNvPr id="2" name="slide-number">
            <a:extLst xmlns:a="http://schemas.openxmlformats.org/drawingml/2006/main">
              <a:ext uri="{FF2B5EF4-FFF2-40B4-BE49-F238E27FC236}">
                <a16:creationId xmlns:a16="http://schemas.microsoft.com/office/drawing/2014/main" id="{3D4E5F6A-88D6-4CF6-B07E-50447E017A22}"/>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27</a:t>
            </a:r>
          </a:p>
        </p:txBody>
      </p:sp>
      <p:graphicFrame>
        <p:nvGraphicFramePr>
          <p:cNvPr id="9" name=""/>
          <p:cNvGraphicFramePr/>
          <p:nvPr/>
        </p:nvGraphicFramePr>
        <p:xfrm>
          <a:off xmlns:a="http://schemas.openxmlformats.org/drawingml/2006/main" x="533400" y="1266825"/>
          <a:ext xmlns:a="http://schemas.openxmlformats.org/drawingml/2006/main" cx="11125200" cy="4581525"/>
        </p:xfrm>
        <a:graphic xmlns:a="http://schemas.openxmlformats.org/drawingml/2006/main">
          <a:graphicData uri="http://schemas.openxmlformats.org/drawingml/2006/table">
            <a:tbl>
              <a:tblPr firstRow="1" bandRow="0"/>
              <a:tblGrid>
                <a:gridCol w="3448812"/>
                <a:gridCol w="5117592"/>
                <a:gridCol w="2558796"/>
              </a:tblGrid>
              <a:tr h="476250">
                <a:tc>
                  <a:txBody>
                    <a:bodyPr wrap="square">
                      <a:noAutofit/>
                    </a:bodyPr>
                    <a:lstStyle/>
                    <a:p>
                      <a:pPr algn="l">
                        <a:buNone/>
                      </a:pPr>
                      <a:r>
                        <a:rPr sz="1725" b="1">
                          <a:solidFill>
                            <a:srgbClr val="FFFFFF"/>
                          </a:solidFill>
                          <a:latin typeface="Arial"/>
                          <a:ea typeface="Arial"/>
                          <a:cs typeface="Arial"/>
                        </a:rPr>
                        <a:t>Member</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Primary work</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Original allocation</a:t>
                      </a:r>
                    </a:p>
                  </a:txBody>
                  <a:tcPr marL="114300" marR="114300" marT="47625" marB="47625" anchor="ctr">
                    <a:solidFill>
                      <a:srgbClr val="142F43"/>
                    </a:solidFill>
                  </a:tcPr>
                </a:tc>
              </a:tr>
              <a:tr h="1368425">
                <a:tc>
                  <a:txBody>
                    <a:bodyPr wrap="square">
                      <a:noAutofit/>
                    </a:bodyPr>
                    <a:lstStyle/>
                    <a:p>
                      <a:pPr algn="l">
                        <a:buNone/>
                      </a:pPr>
                      <a:r>
                        <a:rPr sz="1800" b="0">
                          <a:solidFill>
                            <a:srgbClr val="203440"/>
                          </a:solidFill>
                          <a:latin typeface="Arial"/>
                          <a:ea typeface="Arial"/>
                          <a:cs typeface="Arial"/>
                        </a:rPr>
                        <a:t>SAEED ALKAABI</a:t>
                      </a:r>
                    </a:p>
                    <a:p>
                      <a:pPr algn="l">
                        <a:buNone/>
                      </a:pPr>
                      <a:r>
                        <a:rPr sz="1800" b="0">
                          <a:solidFill>
                            <a:srgbClr val="203440"/>
                          </a:solidFill>
                          <a:latin typeface="Arial"/>
                          <a:ea typeface="Arial"/>
                          <a:cs typeface="Arial"/>
                        </a:rPr>
                        <a:t>100063100</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Platform decision, integration and asset transfers. Owns the 10 workflow tests.</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60 baseline hours</a:t>
                      </a:r>
                    </a:p>
                    <a:p>
                      <a:pPr algn="l">
                        <a:buNone/>
                      </a:pPr>
                      <a:r>
                        <a:rPr sz="1800" b="0">
                          <a:solidFill>
                            <a:srgbClr val="203440"/>
                          </a:solidFill>
                          <a:latin typeface="Arial"/>
                          <a:ea typeface="Arial"/>
                          <a:cs typeface="Arial"/>
                        </a:rPr>
                        <a:t>12 reserve hours</a:t>
                      </a:r>
                    </a:p>
                  </a:txBody>
                  <a:tcPr marL="114300" marR="114300" marT="47625" marB="47625" anchor="ctr">
                    <a:solidFill>
                      <a:srgbClr val="FFFFFF"/>
                    </a:solidFill>
                  </a:tcPr>
                </a:tc>
              </a:tr>
              <a:tr h="1368425">
                <a:tc>
                  <a:txBody>
                    <a:bodyPr wrap="square">
                      <a:noAutofit/>
                    </a:bodyPr>
                    <a:lstStyle/>
                    <a:p>
                      <a:pPr algn="l">
                        <a:buNone/>
                      </a:pPr>
                      <a:r>
                        <a:rPr sz="1800" b="0">
                          <a:solidFill>
                            <a:srgbClr val="203440"/>
                          </a:solidFill>
                          <a:latin typeface="Arial"/>
                          <a:ea typeface="Arial"/>
                          <a:cs typeface="Arial"/>
                        </a:rPr>
                        <a:t>ALI ALAWADHI</a:t>
                      </a:r>
                    </a:p>
                    <a:p>
                      <a:pPr algn="l">
                        <a:buNone/>
                      </a:pPr>
                      <a:r>
                        <a:rPr sz="1800" b="0">
                          <a:solidFill>
                            <a:srgbClr val="203440"/>
                          </a:solidFill>
                          <a:latin typeface="Arial"/>
                          <a:ea typeface="Arial"/>
                          <a:cs typeface="Arial"/>
                        </a:rPr>
                        <a:t>100063186</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Stakeholder research, data, permissions and forms. Owns permission and usability tests.</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60 baseline hours</a:t>
                      </a:r>
                    </a:p>
                    <a:p>
                      <a:pPr algn="l">
                        <a:buNone/>
                      </a:pPr>
                      <a:r>
                        <a:rPr sz="1800" b="0">
                          <a:solidFill>
                            <a:srgbClr val="203440"/>
                          </a:solidFill>
                          <a:latin typeface="Arial"/>
                          <a:ea typeface="Arial"/>
                          <a:cs typeface="Arial"/>
                        </a:rPr>
                        <a:t>12 reserve hours</a:t>
                      </a:r>
                    </a:p>
                  </a:txBody>
                  <a:tcPr marL="114300" marR="114300" marT="47625" marB="47625" anchor="ctr">
                    <a:solidFill>
                      <a:srgbClr val="EDF3F5"/>
                    </a:solidFill>
                  </a:tcPr>
                </a:tc>
              </a:tr>
              <a:tr h="1368425">
                <a:tc>
                  <a:txBody>
                    <a:bodyPr wrap="square">
                      <a:noAutofit/>
                    </a:bodyPr>
                    <a:lstStyle/>
                    <a:p>
                      <a:pPr algn="l">
                        <a:buNone/>
                      </a:pPr>
                      <a:r>
                        <a:rPr sz="1800" b="0">
                          <a:solidFill>
                            <a:srgbClr val="203440"/>
                          </a:solidFill>
                          <a:latin typeface="Arial"/>
                          <a:ea typeface="Arial"/>
                          <a:cs typeface="Arial"/>
                        </a:rPr>
                        <a:t>HUMAID AL ALI</a:t>
                      </a:r>
                    </a:p>
                    <a:p>
                      <a:pPr algn="l">
                        <a:buNone/>
                      </a:pPr>
                      <a:r>
                        <a:rPr sz="1800" b="0">
                          <a:solidFill>
                            <a:srgbClr val="203440"/>
                          </a:solidFill>
                          <a:latin typeface="Arial"/>
                          <a:ea typeface="Arial"/>
                          <a:cs typeface="Arial"/>
                        </a:rPr>
                        <a:t>100062914</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Matching, AI and benefit calculations. Owns search, matching and calculation tests.</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60 baseline hours</a:t>
                      </a:r>
                    </a:p>
                    <a:p>
                      <a:pPr algn="l">
                        <a:buNone/>
                      </a:pPr>
                      <a:r>
                        <a:rPr sz="1800" b="0">
                          <a:solidFill>
                            <a:srgbClr val="203440"/>
                          </a:solidFill>
                          <a:latin typeface="Arial"/>
                          <a:ea typeface="Arial"/>
                          <a:cs typeface="Arial"/>
                        </a:rPr>
                        <a:t>12 reserve hours</a:t>
                      </a:r>
                    </a:p>
                  </a:txBody>
                  <a:tcPr marL="114300" marR="114300" marT="47625" marB="47625" anchor="ctr">
                    <a:solidFill>
                      <a:srgbClr val="FFFFFF"/>
                    </a:solidFill>
                  </a:tcPr>
                </a:tc>
              </a:tr>
            </a:tbl>
          </a:graphicData>
        </a:graphic>
      </p:graphicFrame>
      <p:sp>
        <p:nvSpPr>
          <p:cNvPr id="4" name="qualification">
            <a:extLst xmlns:a="http://schemas.openxmlformats.org/drawingml/2006/main">
              <a:ext uri="{FF2B5EF4-FFF2-40B4-BE49-F238E27FC236}">
                <a16:creationId xmlns:a16="http://schemas.microsoft.com/office/drawing/2014/main" id="{43AE8311-AC03-4098-9157-4A2720E71A20}"/>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These are original planned hours, not verified remaining balances or completed contributions. Members review each other’s work and retain evidence.</a:t>
            </a:r>
          </a:p>
        </p:txBody>
      </p:sp>
    </p:spTree>
    <p:extLst>
      <p:ext uri="{BB962C8B-B14F-4D97-AF65-F5344CB8AC3E}">
        <p14:creationId xmlns:p14="http://schemas.microsoft.com/office/powerpoint/2010/main" val="102027822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734D70B1-23A5-45F6-9426-D7D44CB25CA2}"/>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Decision gates before progression</a:t>
            </a:r>
          </a:p>
        </p:txBody>
      </p:sp>
      <p:sp>
        <p:nvSpPr>
          <p:cNvPr id="2" name="slide-number">
            <a:extLst xmlns:a="http://schemas.openxmlformats.org/drawingml/2006/main">
              <a:ext uri="{FF2B5EF4-FFF2-40B4-BE49-F238E27FC236}">
                <a16:creationId xmlns:a16="http://schemas.microsoft.com/office/drawing/2014/main" id="{9D4052A0-DFC2-4C8F-8BFA-C6AE9C4972B7}"/>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28</a:t>
            </a:r>
          </a:p>
        </p:txBody>
      </p:sp>
      <p:graphicFrame>
        <p:nvGraphicFramePr>
          <p:cNvPr id="8" name=""/>
          <p:cNvGraphicFramePr/>
          <p:nvPr/>
        </p:nvGraphicFramePr>
        <p:xfrm>
          <a:off xmlns:a="http://schemas.openxmlformats.org/drawingml/2006/main" x="533400" y="1266825"/>
          <a:ext xmlns:a="http://schemas.openxmlformats.org/drawingml/2006/main" cx="11125200" cy="4895850"/>
        </p:xfrm>
        <a:graphic xmlns:a="http://schemas.openxmlformats.org/drawingml/2006/main">
          <a:graphicData uri="http://schemas.openxmlformats.org/drawingml/2006/table">
            <a:tbl>
              <a:tblPr firstRow="1" bandRow="0"/>
              <a:tblGrid>
                <a:gridCol w="2781300"/>
                <a:gridCol w="5006340"/>
                <a:gridCol w="3337560"/>
              </a:tblGrid>
              <a:tr h="476250">
                <a:tc>
                  <a:txBody>
                    <a:bodyPr wrap="square">
                      <a:noAutofit/>
                    </a:bodyPr>
                    <a:lstStyle/>
                    <a:p>
                      <a:pPr algn="l">
                        <a:buNone/>
                      </a:pPr>
                      <a:r>
                        <a:rPr sz="1725" b="1">
                          <a:solidFill>
                            <a:srgbClr val="FFFFFF"/>
                          </a:solidFill>
                          <a:latin typeface="Arial"/>
                          <a:ea typeface="Arial"/>
                          <a:cs typeface="Arial"/>
                        </a:rPr>
                        <a:t>Decision point</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Required evidence</a:t>
                      </a:r>
                    </a:p>
                  </a:txBody>
                  <a:tcPr marL="114300" marR="114300" marT="47625" marB="47625" anchor="ctr">
                    <a:solidFill>
                      <a:srgbClr val="142F43"/>
                    </a:solidFill>
                  </a:tcPr>
                </a:tc>
                <a:tc>
                  <a:txBody>
                    <a:bodyPr wrap="square">
                      <a:noAutofit/>
                    </a:bodyPr>
                    <a:lstStyle/>
                    <a:p>
                      <a:pPr algn="l">
                        <a:buNone/>
                      </a:pPr>
                      <a:r>
                        <a:rPr sz="1725" b="1">
                          <a:solidFill>
                            <a:srgbClr val="FFFFFF"/>
                          </a:solidFill>
                          <a:latin typeface="Arial"/>
                          <a:ea typeface="Arial"/>
                          <a:cs typeface="Arial"/>
                        </a:rPr>
                        <a:t>If the condition fails</a:t>
                      </a:r>
                    </a:p>
                  </a:txBody>
                  <a:tcPr marL="114300" marR="114300" marT="47625" marB="47625" anchor="ctr">
                    <a:solidFill>
                      <a:srgbClr val="142F43"/>
                    </a:solidFill>
                  </a:tcPr>
                </a:tc>
              </a:tr>
              <a:tr h="1104900">
                <a:tc>
                  <a:txBody>
                    <a:bodyPr wrap="square">
                      <a:noAutofit/>
                    </a:bodyPr>
                    <a:lstStyle/>
                    <a:p>
                      <a:pPr algn="l">
                        <a:buNone/>
                      </a:pPr>
                      <a:r>
                        <a:rPr sz="1800" b="0">
                          <a:solidFill>
                            <a:srgbClr val="203440"/>
                          </a:solidFill>
                          <a:latin typeface="Arial"/>
                          <a:ea typeface="Arial"/>
                          <a:cs typeface="Arial"/>
                        </a:rPr>
                        <a:t>Select implementation route</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Adaptation/custom requirements map, effort comparison, login-to-transfer proof, 20-asset search and available hours</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Revise the route, estimate or assignment.</a:t>
                      </a:r>
                    </a:p>
                  </a:txBody>
                  <a:tcPr marL="114300" marR="114300" marT="47625" marB="47625" anchor="ctr">
                    <a:solidFill>
                      <a:srgbClr val="FFFFFF"/>
                    </a:solidFill>
                  </a:tcPr>
                </a:tc>
              </a:tr>
              <a:tr h="1104900">
                <a:tc>
                  <a:txBody>
                    <a:bodyPr wrap="square">
                      <a:noAutofit/>
                    </a:bodyPr>
                    <a:lstStyle/>
                    <a:p>
                      <a:pPr algn="l">
                        <a:buNone/>
                      </a:pPr>
                      <a:r>
                        <a:rPr sz="1800" b="0">
                          <a:solidFill>
                            <a:srgbClr val="203440"/>
                          </a:solidFill>
                          <a:latin typeface="Arial"/>
                          <a:ea typeface="Arial"/>
                          <a:cs typeface="Arial"/>
                        </a:rPr>
                        <a:t>Complete the design</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Approval and reservation rules, required data, test cases and reviewed service terms</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Resolve the dependency or retain synthetic inputs.</a:t>
                      </a:r>
                    </a:p>
                  </a:txBody>
                  <a:tcPr marL="114300" marR="114300" marT="47625" marB="47625" anchor="ctr">
                    <a:solidFill>
                      <a:srgbClr val="EDF3F5"/>
                    </a:solidFill>
                  </a:tcPr>
                </a:tc>
              </a:tr>
              <a:tr h="1104900">
                <a:tc>
                  <a:txBody>
                    <a:bodyPr wrap="square">
                      <a:noAutofit/>
                    </a:bodyPr>
                    <a:lstStyle/>
                    <a:p>
                      <a:pPr algn="l">
                        <a:buNone/>
                      </a:pPr>
                      <a:r>
                        <a:rPr sz="1800" b="0">
                          <a:solidFill>
                            <a:srgbClr val="203440"/>
                          </a:solidFill>
                          <a:latin typeface="Arial"/>
                          <a:ea typeface="Arial"/>
                          <a:cs typeface="Arial"/>
                        </a:rPr>
                        <a:t>Final submission</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Demonstrate every required function. Pass 10 workflow and 10 calculation cases and evaluate all acceptance targets.</a:t>
                      </a:r>
                    </a:p>
                  </a:txBody>
                  <a:tcPr marL="114300" marR="114300" marT="47625" marB="47625" anchor="ctr">
                    <a:solidFill>
                      <a:srgbClr val="FFFFFF"/>
                    </a:solidFill>
                  </a:tcPr>
                </a:tc>
                <a:tc>
                  <a:txBody>
                    <a:bodyPr wrap="square">
                      <a:noAutofit/>
                    </a:bodyPr>
                    <a:lstStyle/>
                    <a:p>
                      <a:pPr algn="l">
                        <a:buNone/>
                      </a:pPr>
                      <a:r>
                        <a:rPr sz="1800" b="0">
                          <a:solidFill>
                            <a:srgbClr val="203440"/>
                          </a:solidFill>
                          <a:latin typeface="Arial"/>
                          <a:ea typeface="Arial"/>
                          <a:cs typeface="Arial"/>
                        </a:rPr>
                        <a:t>Correct defects and disclose unmet targets.</a:t>
                      </a:r>
                    </a:p>
                  </a:txBody>
                  <a:tcPr marL="114300" marR="114300" marT="47625" marB="47625" anchor="ctr">
                    <a:solidFill>
                      <a:srgbClr val="FFFFFF"/>
                    </a:solidFill>
                  </a:tcPr>
                </a:tc>
              </a:tr>
              <a:tr h="1104900">
                <a:tc>
                  <a:txBody>
                    <a:bodyPr wrap="square">
                      <a:noAutofit/>
                    </a:bodyPr>
                    <a:lstStyle/>
                    <a:p>
                      <a:pPr algn="l">
                        <a:buNone/>
                      </a:pPr>
                      <a:r>
                        <a:rPr sz="1800" b="0">
                          <a:solidFill>
                            <a:srgbClr val="203440"/>
                          </a:solidFill>
                          <a:latin typeface="Arial"/>
                          <a:ea typeface="Arial"/>
                          <a:cs typeface="Arial"/>
                        </a:rPr>
                        <a:t>Live university pilot</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Data and safety permission, named owners, validated demand, costs and hosting</a:t>
                      </a:r>
                    </a:p>
                  </a:txBody>
                  <a:tcPr marL="114300" marR="114300" marT="47625" marB="47625" anchor="ctr">
                    <a:solidFill>
                      <a:srgbClr val="EDF3F5"/>
                    </a:solidFill>
                  </a:tcPr>
                </a:tc>
                <a:tc>
                  <a:txBody>
                    <a:bodyPr wrap="square">
                      <a:noAutofit/>
                    </a:bodyPr>
                    <a:lstStyle/>
                    <a:p>
                      <a:pPr algn="l">
                        <a:buNone/>
                      </a:pPr>
                      <a:r>
                        <a:rPr sz="1800" b="0">
                          <a:solidFill>
                            <a:srgbClr val="203440"/>
                          </a:solidFill>
                          <a:latin typeface="Arial"/>
                          <a:ea typeface="Arial"/>
                          <a:cs typeface="Arial"/>
                        </a:rPr>
                        <a:t>Continue only the educational demonstration. Do not import live records or release assets.</a:t>
                      </a:r>
                    </a:p>
                  </a:txBody>
                  <a:tcPr marL="114300" marR="114300" marT="47625" marB="47625" anchor="ctr">
                    <a:solidFill>
                      <a:srgbClr val="EDF3F5"/>
                    </a:solidFill>
                  </a:tcPr>
                </a:tc>
              </a:tr>
            </a:tbl>
          </a:graphicData>
        </a:graphic>
      </p:graphicFrame>
    </p:spTree>
    <p:extLst>
      <p:ext uri="{BB962C8B-B14F-4D97-AF65-F5344CB8AC3E}">
        <p14:creationId xmlns:p14="http://schemas.microsoft.com/office/powerpoint/2010/main" val="11922588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C000AFF3-E0B1-4AEC-BB9E-C79931E26D76}"/>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Recommendation and AI assistance</a:t>
            </a:r>
          </a:p>
        </p:txBody>
      </p:sp>
      <p:sp>
        <p:nvSpPr>
          <p:cNvPr id="2" name="slide-number">
            <a:extLst xmlns:a="http://schemas.openxmlformats.org/drawingml/2006/main">
              <a:ext uri="{FF2B5EF4-FFF2-40B4-BE49-F238E27FC236}">
                <a16:creationId xmlns:a16="http://schemas.microsoft.com/office/drawing/2014/main" id="{531A818E-7509-46F8-96B4-2FC7DA864DA5}"/>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29</a:t>
            </a:r>
          </a:p>
        </p:txBody>
      </p:sp>
      <p:sp>
        <p:nvSpPr>
          <p:cNvPr id="3" name="lead">
            <a:extLst xmlns:a="http://schemas.openxmlformats.org/drawingml/2006/main">
              <a:ext uri="{FF2B5EF4-FFF2-40B4-BE49-F238E27FC236}">
                <a16:creationId xmlns:a16="http://schemas.microsoft.com/office/drawing/2014/main" id="{FA13A9DA-87CE-4155-8616-1AD50CA9AEAF}"/>
              </a:ext>
            </a:extLst>
          </p:cNvPr>
          <p:cNvSpPr>
            <a:spLocks xmlns:a="http://schemas.openxmlformats.org/drawingml/2006/main" noGrp="1"/>
          </p:cNvSpPr>
          <p:nvPr/>
        </p:nvSpPr>
        <p:spPr>
          <a:xfrm xmlns:a="http://schemas.openxmlformats.org/drawingml/2006/main">
            <a:off x="533400" y="1038225"/>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007E80"/>
                </a:solidFill>
                <a:latin typeface="Arial"/>
                <a:ea typeface="Arial"/>
                <a:cs typeface="Arial"/>
              </a:defRPr>
            </a:pPr>
            <a:r>
              <a:rPr sz="1875" b="1">
                <a:solidFill>
                  <a:srgbClr val="007E80"/>
                </a:solidFill>
                <a:latin typeface="Arial"/>
                <a:ea typeface="Arial"/>
                <a:cs typeface="Arial"/>
              </a:rPr>
              <a:t>Conditional go for a prototype, beginning with an adaptation assessment.</a:t>
            </a:r>
          </a:p>
        </p:txBody>
      </p:sp>
      <p:sp>
        <p:nvSpPr>
          <p:cNvPr id="4" name="column-title-0">
            <a:extLst xmlns:a="http://schemas.openxmlformats.org/drawingml/2006/main">
              <a:ext uri="{FF2B5EF4-FFF2-40B4-BE49-F238E27FC236}">
                <a16:creationId xmlns:a16="http://schemas.microsoft.com/office/drawing/2014/main" id="{0083C16B-1BC5-4200-8087-D19BC84D2E5F}"/>
              </a:ext>
            </a:extLst>
          </p:cNvPr>
          <p:cNvSpPr>
            <a:spLocks xmlns:a="http://schemas.openxmlformats.org/drawingml/2006/main" noGrp="1"/>
          </p:cNvSpPr>
          <p:nvPr/>
        </p:nvSpPr>
        <p:spPr>
          <a:xfrm xmlns:a="http://schemas.openxmlformats.org/drawingml/2006/main">
            <a:off x="533400" y="1838325"/>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7E80"/>
                </a:solidFill>
                <a:latin typeface="Arial"/>
                <a:ea typeface="Arial"/>
                <a:cs typeface="Arial"/>
              </a:defRPr>
            </a:pPr>
            <a:r>
              <a:rPr sz="2100" b="1">
                <a:solidFill>
                  <a:srgbClr val="007E80"/>
                </a:solidFill>
                <a:latin typeface="Arial"/>
                <a:ea typeface="Arial"/>
                <a:cs typeface="Arial"/>
              </a:rPr>
              <a:t>Immediate priorities</a:t>
            </a:r>
          </a:p>
        </p:txBody>
      </p:sp>
      <p:sp>
        <p:nvSpPr>
          <p:cNvPr id="5" name="column-body-0">
            <a:extLst xmlns:a="http://schemas.openxmlformats.org/drawingml/2006/main">
              <a:ext uri="{FF2B5EF4-FFF2-40B4-BE49-F238E27FC236}">
                <a16:creationId xmlns:a16="http://schemas.microsoft.com/office/drawing/2014/main" id="{206C4A9D-3AB1-4D5E-8353-D6AF728E59FB}"/>
              </a:ext>
            </a:extLst>
          </p:cNvPr>
          <p:cNvSpPr>
            <a:spLocks xmlns:a="http://schemas.openxmlformats.org/drawingml/2006/main" noGrp="1"/>
          </p:cNvSpPr>
          <p:nvPr/>
        </p:nvSpPr>
        <p:spPr>
          <a:xfrm xmlns:a="http://schemas.openxmlformats.org/drawingml/2006/main">
            <a:off x="533400" y="2371725"/>
            <a:ext cx="5295900" cy="3438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Address missing interviews within the proposed 4 October follow-up study.</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Reconcile actual effort, availability and the original capacity plan.</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Compare Snipe-IT adaptation with custom development and complete the technical proof.</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Finalize requirements and permission rules, then integrate and evaluate the complete workflow.</a:t>
            </a:r>
          </a:p>
        </p:txBody>
      </p:sp>
      <p:sp>
        <p:nvSpPr>
          <p:cNvPr id="6" name="column-title-1">
            <a:extLst xmlns:a="http://schemas.openxmlformats.org/drawingml/2006/main">
              <a:ext uri="{FF2B5EF4-FFF2-40B4-BE49-F238E27FC236}">
                <a16:creationId xmlns:a16="http://schemas.microsoft.com/office/drawing/2014/main" id="{E43D4C87-F397-4451-9410-AA14D006BD27}"/>
              </a:ext>
            </a:extLst>
          </p:cNvPr>
          <p:cNvSpPr>
            <a:spLocks xmlns:a="http://schemas.openxmlformats.org/drawingml/2006/main" noGrp="1"/>
          </p:cNvSpPr>
          <p:nvPr/>
        </p:nvSpPr>
        <p:spPr>
          <a:xfrm xmlns:a="http://schemas.openxmlformats.org/drawingml/2006/main">
            <a:off x="6305550" y="1838325"/>
            <a:ext cx="529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007E80"/>
                </a:solidFill>
                <a:latin typeface="Arial"/>
                <a:ea typeface="Arial"/>
                <a:cs typeface="Arial"/>
              </a:defRPr>
            </a:pPr>
            <a:r>
              <a:rPr sz="2100" b="1">
                <a:solidFill>
                  <a:srgbClr val="007E80"/>
                </a:solidFill>
                <a:latin typeface="Arial"/>
                <a:ea typeface="Arial"/>
                <a:cs typeface="Arial"/>
              </a:rPr>
              <a:t>AI assistance disclosure</a:t>
            </a:r>
          </a:p>
        </p:txBody>
      </p:sp>
      <p:sp>
        <p:nvSpPr>
          <p:cNvPr id="7" name="column-body-1">
            <a:extLst xmlns:a="http://schemas.openxmlformats.org/drawingml/2006/main">
              <a:ext uri="{FF2B5EF4-FFF2-40B4-BE49-F238E27FC236}">
                <a16:creationId xmlns:a16="http://schemas.microsoft.com/office/drawing/2014/main" id="{99CE194C-C659-46C0-848A-39BDA0E71CE6}"/>
              </a:ext>
            </a:extLst>
          </p:cNvPr>
          <p:cNvSpPr>
            <a:spLocks xmlns:a="http://schemas.openxmlformats.org/drawingml/2006/main" noGrp="1"/>
          </p:cNvSpPr>
          <p:nvPr/>
        </p:nvSpPr>
        <p:spPr>
          <a:xfrm xmlns:a="http://schemas.openxmlformats.org/drawingml/2006/main">
            <a:off x="6305550" y="2371725"/>
            <a:ext cx="5295900" cy="3438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We used OpenAI Codex to draft substantial portions of the report and prepare presentation material.</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Codex assisted source identification and checking, calculations, IEEE citations and feedback revisions.</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The three authors remain responsible for the sources, assumptions, understanding and final submission.</a:t>
            </a:r>
          </a:p>
          <a:p xmlns:a="http://schemas.openxmlformats.org/drawingml/2006/main">
            <a:pPr marL="215900" indent="-114300" algn="l">
              <a:spcAft>
                <a:spcPts val="1200"/>
              </a:spcAft>
              <a:buChar char="•"/>
              <a:defRPr sz="1875" b="0">
                <a:solidFill>
                  <a:srgbClr val="203440"/>
                </a:solidFill>
                <a:latin typeface="Arial"/>
                <a:ea typeface="Arial"/>
                <a:cs typeface="Arial"/>
              </a:defRPr>
            </a:pPr>
            <a:r>
              <a:rPr sz="1875" b="0">
                <a:solidFill>
                  <a:srgbClr val="203440"/>
                </a:solidFill>
                <a:latin typeface="Arial"/>
                <a:ea typeface="Arial"/>
                <a:cs typeface="Arial"/>
              </a:rPr>
              <a:t>AI assistance provides no interview evidence, measured savings or university approval.</a:t>
            </a:r>
          </a:p>
        </p:txBody>
      </p:sp>
      <p:sp>
        <p:nvSpPr>
          <p:cNvPr id="8" name="qualification">
            <a:extLst xmlns:a="http://schemas.openxmlformats.org/drawingml/2006/main">
              <a:ext uri="{FF2B5EF4-FFF2-40B4-BE49-F238E27FC236}">
                <a16:creationId xmlns:a16="http://schemas.microsoft.com/office/drawing/2014/main" id="{F72CE2F4-024E-4C68-899F-9440FF32AC43}"/>
              </a:ext>
            </a:extLst>
          </p:cNvPr>
          <p:cNvSpPr>
            <a:spLocks xmlns:a="http://schemas.openxmlformats.org/drawingml/2006/main" noGrp="1"/>
          </p:cNvSpPr>
          <p:nvPr/>
        </p:nvSpPr>
        <p:spPr>
          <a:xfrm xmlns:a="http://schemas.openxmlformats.org/drawingml/2006/main">
            <a:off x="533400" y="60579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4D616F"/>
                </a:solidFill>
                <a:latin typeface="Arial"/>
                <a:ea typeface="Arial"/>
                <a:cs typeface="Arial"/>
              </a:defRPr>
            </a:pPr>
            <a:r>
              <a:rPr sz="1425" b="0">
                <a:solidFill>
                  <a:srgbClr val="4D616F"/>
                </a:solidFill>
                <a:latin typeface="Arial"/>
                <a:ea typeface="Arial"/>
                <a:cs typeface="Arial"/>
              </a:rPr>
              <a:t>No interviews are complete. Live deployment remains separate and requires validated demand, economics, authorization and operational ownership.</a:t>
            </a:r>
          </a:p>
        </p:txBody>
      </p:sp>
    </p:spTree>
    <p:extLst>
      <p:ext uri="{BB962C8B-B14F-4D97-AF65-F5344CB8AC3E}">
        <p14:creationId xmlns:p14="http://schemas.microsoft.com/office/powerpoint/2010/main" val="141620476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3FBD913-27EC-49A8-B428-F730BE96791E}"/>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References 1 to 3</a:t>
            </a:r>
          </a:p>
        </p:txBody>
      </p:sp>
      <p:sp>
        <p:nvSpPr>
          <p:cNvPr id="2" name="slide-number">
            <a:extLst xmlns:a="http://schemas.openxmlformats.org/drawingml/2006/main">
              <a:ext uri="{FF2B5EF4-FFF2-40B4-BE49-F238E27FC236}">
                <a16:creationId xmlns:a16="http://schemas.microsoft.com/office/drawing/2014/main" id="{9B5AB090-17C3-4A83-9F8B-466A1ED7EE6F}"/>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30</a:t>
            </a:r>
          </a:p>
        </p:txBody>
      </p:sp>
      <p:sp>
        <p:nvSpPr>
          <p:cNvPr id="3" name="reference-1">
            <a:extLst xmlns:a="http://schemas.openxmlformats.org/drawingml/2006/main">
              <a:ext uri="{FF2B5EF4-FFF2-40B4-BE49-F238E27FC236}">
                <a16:creationId xmlns:a16="http://schemas.microsoft.com/office/drawing/2014/main" id="{BB12F8CA-7319-4BEC-903E-6F49107253C0}"/>
              </a:ext>
            </a:extLst>
          </p:cNvPr>
          <p:cNvSpPr>
            <a:spLocks xmlns:a="http://schemas.openxmlformats.org/drawingml/2006/main" noGrp="1"/>
          </p:cNvSpPr>
          <p:nvPr/>
        </p:nvSpPr>
        <p:spPr>
          <a:xfrm xmlns:a="http://schemas.openxmlformats.org/drawingml/2006/main">
            <a:off x="533400" y="1314450"/>
            <a:ext cx="111252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a:solidFill>
                  <a:srgbClr val="203440"/>
                </a:solidFill>
                <a:latin typeface="Arial"/>
                <a:ea typeface="Arial"/>
                <a:cs typeface="Arial"/>
              </a:defRPr>
            </a:pPr>
            <a:r>
              <a:rPr sz="1575">
                <a:solidFill>
                  <a:srgbClr val="203440"/>
                </a:solidFill>
                <a:latin typeface="Arial"/>
                <a:ea typeface="Arial"/>
                <a:cs typeface="Arial"/>
              </a:rPr>
              <a:t>[1] University College London, “Warp-it reuse platform,” Oct. 7, 2020. Accessed: Sep. 28, 2026. [Online]. Available: </a:t>
            </a:r>
            <a:r>
              <a:rPr sz="1575" u="sng">
                <a:solidFill>
                  <a:srgbClr val="203440"/>
                </a:solidFill>
                <a:latin typeface="Arial"/>
                <a:ea typeface="Arial"/>
                <a:cs typeface="Arial"/>
                <a:hlinkClick xmlns:r="http://schemas.openxmlformats.org/officeDocument/2006/relationships" r:id="R461bb67810904aa9"/>
              </a:rPr>
              <a:t>https://www.ucl.ac.uk/sustainable-development-goals/case-studies/2020/oct/warp-it-reuse-platform</a:t>
            </a:r>
          </a:p>
        </p:txBody>
      </p:sp>
      <p:sp>
        <p:nvSpPr>
          <p:cNvPr id="4" name="reference-2">
            <a:extLst xmlns:a="http://schemas.openxmlformats.org/drawingml/2006/main">
              <a:ext uri="{FF2B5EF4-FFF2-40B4-BE49-F238E27FC236}">
                <a16:creationId xmlns:a16="http://schemas.microsoft.com/office/drawing/2014/main" id="{AF593F16-D8D4-4C08-AFCE-9F71E8F83485}"/>
              </a:ext>
            </a:extLst>
          </p:cNvPr>
          <p:cNvSpPr>
            <a:spLocks xmlns:a="http://schemas.openxmlformats.org/drawingml/2006/main" noGrp="1"/>
          </p:cNvSpPr>
          <p:nvPr/>
        </p:nvSpPr>
        <p:spPr>
          <a:xfrm xmlns:a="http://schemas.openxmlformats.org/drawingml/2006/main">
            <a:off x="533400" y="2943225"/>
            <a:ext cx="111252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a:solidFill>
                  <a:srgbClr val="203440"/>
                </a:solidFill>
                <a:latin typeface="Arial"/>
                <a:ea typeface="Arial"/>
                <a:cs typeface="Arial"/>
              </a:defRPr>
            </a:pPr>
            <a:r>
              <a:rPr sz="1575">
                <a:solidFill>
                  <a:srgbClr val="203440"/>
                </a:solidFill>
                <a:latin typeface="Arial"/>
                <a:ea typeface="Arial"/>
                <a:cs typeface="Arial"/>
              </a:rPr>
              <a:t>[2] Snipe-IT, “Features and overview.” Accessed: Sep. 28, 2026. [Online]. Available: </a:t>
            </a:r>
            <a:r>
              <a:rPr sz="1575" u="sng">
                <a:solidFill>
                  <a:srgbClr val="203440"/>
                </a:solidFill>
                <a:latin typeface="Arial"/>
                <a:ea typeface="Arial"/>
                <a:cs typeface="Arial"/>
                <a:hlinkClick xmlns:r="http://schemas.openxmlformats.org/officeDocument/2006/relationships" r:id="Re709eaa356a344a3"/>
              </a:rPr>
              <a:t>https://snipeitapp.com/product</a:t>
            </a:r>
          </a:p>
        </p:txBody>
      </p:sp>
      <p:sp>
        <p:nvSpPr>
          <p:cNvPr id="5" name="reference-3">
            <a:extLst xmlns:a="http://schemas.openxmlformats.org/drawingml/2006/main">
              <a:ext uri="{FF2B5EF4-FFF2-40B4-BE49-F238E27FC236}">
                <a16:creationId xmlns:a16="http://schemas.microsoft.com/office/drawing/2014/main" id="{B6387054-A597-48C1-8588-03D87BE62FB5}"/>
              </a:ext>
            </a:extLst>
          </p:cNvPr>
          <p:cNvSpPr>
            <a:spLocks xmlns:a="http://schemas.openxmlformats.org/drawingml/2006/main" noGrp="1"/>
          </p:cNvSpPr>
          <p:nvPr/>
        </p:nvSpPr>
        <p:spPr>
          <a:xfrm xmlns:a="http://schemas.openxmlformats.org/drawingml/2006/main">
            <a:off x="533400" y="4572000"/>
            <a:ext cx="111252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a:solidFill>
                  <a:srgbClr val="203440"/>
                </a:solidFill>
                <a:latin typeface="Arial"/>
                <a:ea typeface="Arial"/>
                <a:cs typeface="Arial"/>
              </a:defRPr>
            </a:pPr>
            <a:r>
              <a:rPr sz="1575">
                <a:solidFill>
                  <a:srgbClr val="203440"/>
                </a:solidFill>
                <a:latin typeface="Arial"/>
                <a:ea typeface="Arial"/>
                <a:cs typeface="Arial"/>
              </a:rPr>
              <a:t>[3] Sentence Transformers, “all-MiniLM-L6-v2,” Hugging Face, model card. Accessed: Sep. 28, 2026. [Online]. Available: </a:t>
            </a:r>
            <a:r>
              <a:rPr sz="1575" u="sng">
                <a:solidFill>
                  <a:srgbClr val="203440"/>
                </a:solidFill>
                <a:latin typeface="Arial"/>
                <a:ea typeface="Arial"/>
                <a:cs typeface="Arial"/>
                <a:hlinkClick xmlns:r="http://schemas.openxmlformats.org/officeDocument/2006/relationships" r:id="R5e27577194ca49a0"/>
              </a:rPr>
              <a:t>https://huggingface.co/sentence-transformers/all-MiniLM-L6-v2</a:t>
            </a:r>
          </a:p>
        </p:txBody>
      </p:sp>
    </p:spTree>
    <p:extLst>
      <p:ext uri="{BB962C8B-B14F-4D97-AF65-F5344CB8AC3E}">
        <p14:creationId xmlns:p14="http://schemas.microsoft.com/office/powerpoint/2010/main" val="188496211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A39F7BA7-E771-4A00-AB20-E2A7EC418752}"/>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References 4 to 6</a:t>
            </a:r>
          </a:p>
        </p:txBody>
      </p:sp>
      <p:sp>
        <p:nvSpPr>
          <p:cNvPr id="2" name="slide-number">
            <a:extLst xmlns:a="http://schemas.openxmlformats.org/drawingml/2006/main">
              <a:ext uri="{FF2B5EF4-FFF2-40B4-BE49-F238E27FC236}">
                <a16:creationId xmlns:a16="http://schemas.microsoft.com/office/drawing/2014/main" id="{41C05F52-AF75-4660-ACA1-396B80A9650E}"/>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31</a:t>
            </a:r>
          </a:p>
        </p:txBody>
      </p:sp>
      <p:sp>
        <p:nvSpPr>
          <p:cNvPr id="3" name="reference-4">
            <a:extLst xmlns:a="http://schemas.openxmlformats.org/drawingml/2006/main">
              <a:ext uri="{FF2B5EF4-FFF2-40B4-BE49-F238E27FC236}">
                <a16:creationId xmlns:a16="http://schemas.microsoft.com/office/drawing/2014/main" id="{C284B228-7C02-4C2D-A33C-289003906F40}"/>
              </a:ext>
            </a:extLst>
          </p:cNvPr>
          <p:cNvSpPr>
            <a:spLocks xmlns:a="http://schemas.openxmlformats.org/drawingml/2006/main" noGrp="1"/>
          </p:cNvSpPr>
          <p:nvPr/>
        </p:nvSpPr>
        <p:spPr>
          <a:xfrm xmlns:a="http://schemas.openxmlformats.org/drawingml/2006/main">
            <a:off x="533400" y="1314450"/>
            <a:ext cx="111252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a:solidFill>
                  <a:srgbClr val="203440"/>
                </a:solidFill>
                <a:latin typeface="Arial"/>
                <a:ea typeface="Arial"/>
                <a:cs typeface="Arial"/>
              </a:defRPr>
            </a:pPr>
            <a:r>
              <a:rPr sz="1575">
                <a:solidFill>
                  <a:srgbClr val="203440"/>
                </a:solidFill>
                <a:latin typeface="Arial"/>
                <a:ea typeface="Arial"/>
                <a:cs typeface="Arial"/>
              </a:rPr>
              <a:t>[4] OWASP Foundation, “LLM prompt injection prevention cheat sheet,” OWASP Cheat Sheet Series. Accessed: Sep. 28, 2026. [Online]. Available: </a:t>
            </a:r>
            <a:r>
              <a:rPr sz="1575" u="sng">
                <a:solidFill>
                  <a:srgbClr val="203440"/>
                </a:solidFill>
                <a:latin typeface="Arial"/>
                <a:ea typeface="Arial"/>
                <a:cs typeface="Arial"/>
                <a:hlinkClick xmlns:r="http://schemas.openxmlformats.org/officeDocument/2006/relationships" r:id="R5723e01f776643de"/>
              </a:rPr>
              <a:t>https://cheatsheetseries.owasp.org/cheatsheets/LLM_Prompt_Injection_Prevention_Cheat_Sheet.html</a:t>
            </a:r>
          </a:p>
        </p:txBody>
      </p:sp>
      <p:sp>
        <p:nvSpPr>
          <p:cNvPr id="4" name="reference-5">
            <a:extLst xmlns:a="http://schemas.openxmlformats.org/drawingml/2006/main">
              <a:ext uri="{FF2B5EF4-FFF2-40B4-BE49-F238E27FC236}">
                <a16:creationId xmlns:a16="http://schemas.microsoft.com/office/drawing/2014/main" id="{CF8D35D2-E3F8-46B6-88D0-4F42C9DFDEF2}"/>
              </a:ext>
            </a:extLst>
          </p:cNvPr>
          <p:cNvSpPr>
            <a:spLocks xmlns:a="http://schemas.openxmlformats.org/drawingml/2006/main" noGrp="1"/>
          </p:cNvSpPr>
          <p:nvPr/>
        </p:nvSpPr>
        <p:spPr>
          <a:xfrm xmlns:a="http://schemas.openxmlformats.org/drawingml/2006/main">
            <a:off x="533400" y="2943225"/>
            <a:ext cx="111252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a:solidFill>
                  <a:srgbClr val="203440"/>
                </a:solidFill>
                <a:latin typeface="Arial"/>
                <a:ea typeface="Arial"/>
                <a:cs typeface="Arial"/>
              </a:defRPr>
            </a:pPr>
            <a:r>
              <a:rPr sz="1575">
                <a:solidFill>
                  <a:srgbClr val="203440"/>
                </a:solidFill>
                <a:latin typeface="Arial"/>
                <a:ea typeface="Arial"/>
                <a:cs typeface="Arial"/>
              </a:rPr>
              <a:t>[5] DigitalOcean, “Droplet pricing.” Accessed: Sep. 28, 2026. [Online]. Available: </a:t>
            </a:r>
            <a:r>
              <a:rPr sz="1575" u="sng">
                <a:solidFill>
                  <a:srgbClr val="203440"/>
                </a:solidFill>
                <a:latin typeface="Arial"/>
                <a:ea typeface="Arial"/>
                <a:cs typeface="Arial"/>
                <a:hlinkClick xmlns:r="http://schemas.openxmlformats.org/officeDocument/2006/relationships" r:id="Re1a114e4ec184f10"/>
              </a:rPr>
              <a:t>https://www.digitalocean.com/pricing/droplets</a:t>
            </a:r>
          </a:p>
        </p:txBody>
      </p:sp>
      <p:sp>
        <p:nvSpPr>
          <p:cNvPr id="5" name="reference-6">
            <a:extLst xmlns:a="http://schemas.openxmlformats.org/drawingml/2006/main">
              <a:ext uri="{FF2B5EF4-FFF2-40B4-BE49-F238E27FC236}">
                <a16:creationId xmlns:a16="http://schemas.microsoft.com/office/drawing/2014/main" id="{3AEC149F-E37C-4639-BB87-05988575610E}"/>
              </a:ext>
            </a:extLst>
          </p:cNvPr>
          <p:cNvSpPr>
            <a:spLocks xmlns:a="http://schemas.openxmlformats.org/drawingml/2006/main" noGrp="1"/>
          </p:cNvSpPr>
          <p:nvPr/>
        </p:nvSpPr>
        <p:spPr>
          <a:xfrm xmlns:a="http://schemas.openxmlformats.org/drawingml/2006/main">
            <a:off x="533400" y="4572000"/>
            <a:ext cx="111252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a:solidFill>
                  <a:srgbClr val="203440"/>
                </a:solidFill>
                <a:latin typeface="Arial"/>
                <a:ea typeface="Arial"/>
                <a:cs typeface="Arial"/>
              </a:defRPr>
            </a:pPr>
            <a:r>
              <a:rPr sz="1575">
                <a:solidFill>
                  <a:srgbClr val="203440"/>
                </a:solidFill>
                <a:latin typeface="Arial"/>
                <a:ea typeface="Arial"/>
                <a:cs typeface="Arial"/>
              </a:rPr>
              <a:t>[6] Central Bank of the United Arab Emirates, “Exchange rates against UAE Dirham for VAT related obligations.” Accessed: Sep. 28, 2026. [Online]. Available: </a:t>
            </a:r>
            <a:r>
              <a:rPr sz="1575" u="sng">
                <a:solidFill>
                  <a:srgbClr val="203440"/>
                </a:solidFill>
                <a:latin typeface="Arial"/>
                <a:ea typeface="Arial"/>
                <a:cs typeface="Arial"/>
                <a:hlinkClick xmlns:r="http://schemas.openxmlformats.org/officeDocument/2006/relationships" r:id="R660a59adca2641ca"/>
              </a:rPr>
              <a:t>https://centralbank.ae/umbraco/Surface/Exchange/GetExchangeRateAllCurrency</a:t>
            </a:r>
          </a:p>
        </p:txBody>
      </p:sp>
    </p:spTree>
    <p:extLst>
      <p:ext uri="{BB962C8B-B14F-4D97-AF65-F5344CB8AC3E}">
        <p14:creationId xmlns:p14="http://schemas.microsoft.com/office/powerpoint/2010/main" val="117026886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7E4C11FD-DF5D-4D73-8A8D-7A5A46F7A84E}"/>
              </a:ext>
            </a:extLst>
          </p:cNvPr>
          <p:cNvSpPr>
            <a:spLocks xmlns:a="http://schemas.openxmlformats.org/drawingml/2006/main" noGrp="1"/>
          </p:cNvSpPr>
          <p:nvPr/>
        </p:nvSpPr>
        <p:spPr>
          <a:xfrm xmlns:a="http://schemas.openxmlformats.org/drawingml/2006/main">
            <a:off x="533400" y="333375"/>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42F43"/>
                </a:solidFill>
                <a:latin typeface="Arial"/>
                <a:ea typeface="Arial"/>
                <a:cs typeface="Arial"/>
              </a:defRPr>
            </a:pPr>
            <a:r>
              <a:rPr sz="3300" b="1">
                <a:solidFill>
                  <a:srgbClr val="142F43"/>
                </a:solidFill>
                <a:latin typeface="Arial"/>
                <a:ea typeface="Arial"/>
                <a:cs typeface="Arial"/>
              </a:rPr>
              <a:t>References 7 to 8</a:t>
            </a:r>
          </a:p>
        </p:txBody>
      </p:sp>
      <p:sp>
        <p:nvSpPr>
          <p:cNvPr id="2" name="slide-number">
            <a:extLst xmlns:a="http://schemas.openxmlformats.org/drawingml/2006/main">
              <a:ext uri="{FF2B5EF4-FFF2-40B4-BE49-F238E27FC236}">
                <a16:creationId xmlns:a16="http://schemas.microsoft.com/office/drawing/2014/main" id="{67E7A3E3-6CCE-4C74-B774-911314171996}"/>
              </a:ext>
            </a:extLst>
          </p:cNvPr>
          <p:cNvSpPr>
            <a:spLocks xmlns:a="http://schemas.openxmlformats.org/drawingml/2006/main" noGrp="1"/>
          </p:cNvSpPr>
          <p:nvPr/>
        </p:nvSpPr>
        <p:spPr>
          <a:xfrm xmlns:a="http://schemas.openxmlformats.org/drawingml/2006/main">
            <a:off x="11334750" y="6410325"/>
            <a:ext cx="323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4D616F"/>
                </a:solidFill>
                <a:latin typeface="Arial"/>
                <a:ea typeface="Arial"/>
                <a:cs typeface="Arial"/>
              </a:defRPr>
            </a:pPr>
            <a:r>
              <a:rPr sz="1350" b="0">
                <a:solidFill>
                  <a:srgbClr val="4D616F"/>
                </a:solidFill>
                <a:latin typeface="Arial"/>
                <a:ea typeface="Arial"/>
                <a:cs typeface="Arial"/>
              </a:rPr>
              <a:t>32</a:t>
            </a:r>
          </a:p>
        </p:txBody>
      </p:sp>
      <p:sp>
        <p:nvSpPr>
          <p:cNvPr id="3" name="reference-7">
            <a:extLst xmlns:a="http://schemas.openxmlformats.org/drawingml/2006/main">
              <a:ext uri="{FF2B5EF4-FFF2-40B4-BE49-F238E27FC236}">
                <a16:creationId xmlns:a16="http://schemas.microsoft.com/office/drawing/2014/main" id="{8FC9E3E3-16B3-44A3-BEFA-FAB5506024CB}"/>
              </a:ext>
            </a:extLst>
          </p:cNvPr>
          <p:cNvSpPr>
            <a:spLocks xmlns:a="http://schemas.openxmlformats.org/drawingml/2006/main" noGrp="1"/>
          </p:cNvSpPr>
          <p:nvPr/>
        </p:nvSpPr>
        <p:spPr>
          <a:xfrm xmlns:a="http://schemas.openxmlformats.org/drawingml/2006/main">
            <a:off x="533400" y="1314450"/>
            <a:ext cx="111252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a:solidFill>
                  <a:srgbClr val="203440"/>
                </a:solidFill>
                <a:latin typeface="Arial"/>
                <a:ea typeface="Arial"/>
                <a:cs typeface="Arial"/>
              </a:defRPr>
            </a:pPr>
            <a:r>
              <a:rPr sz="1575">
                <a:solidFill>
                  <a:srgbClr val="203440"/>
                </a:solidFill>
                <a:latin typeface="Arial"/>
                <a:ea typeface="Arial"/>
                <a:cs typeface="Arial"/>
              </a:rPr>
              <a:t>[7] United Arab Emirates, “Federal Decree by Law No. (45) of 2021 Concerning the Protection of Personal Data,” UAE Legislation, 2021, arts. 2, 5, 15, 22–23. Accessed: Sep. 28, 2026. [Online]. Available: </a:t>
            </a:r>
            <a:r>
              <a:rPr sz="1575" u="sng">
                <a:solidFill>
                  <a:srgbClr val="203440"/>
                </a:solidFill>
                <a:latin typeface="Arial"/>
                <a:ea typeface="Arial"/>
                <a:cs typeface="Arial"/>
                <a:hlinkClick xmlns:r="http://schemas.openxmlformats.org/officeDocument/2006/relationships" r:id="R19166e45f5a94766"/>
              </a:rPr>
              <a:t>https://uaelegislation.gov.ae/en/legislations/1972</a:t>
            </a:r>
          </a:p>
        </p:txBody>
      </p:sp>
      <p:sp>
        <p:nvSpPr>
          <p:cNvPr id="4" name="reference-8">
            <a:extLst xmlns:a="http://schemas.openxmlformats.org/drawingml/2006/main">
              <a:ext uri="{FF2B5EF4-FFF2-40B4-BE49-F238E27FC236}">
                <a16:creationId xmlns:a16="http://schemas.microsoft.com/office/drawing/2014/main" id="{E54FF5D0-7373-4F8F-B7E6-4534A1693D9A}"/>
              </a:ext>
            </a:extLst>
          </p:cNvPr>
          <p:cNvSpPr>
            <a:spLocks xmlns:a="http://schemas.openxmlformats.org/drawingml/2006/main" noGrp="1"/>
          </p:cNvSpPr>
          <p:nvPr/>
        </p:nvSpPr>
        <p:spPr>
          <a:xfrm xmlns:a="http://schemas.openxmlformats.org/drawingml/2006/main">
            <a:off x="533400" y="2943225"/>
            <a:ext cx="111252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a:solidFill>
                  <a:srgbClr val="203440"/>
                </a:solidFill>
                <a:latin typeface="Arial"/>
                <a:ea typeface="Arial"/>
                <a:cs typeface="Arial"/>
              </a:defRPr>
            </a:pPr>
            <a:r>
              <a:rPr sz="1575">
                <a:solidFill>
                  <a:srgbClr val="203440"/>
                </a:solidFill>
                <a:latin typeface="Arial"/>
                <a:ea typeface="Arial"/>
                <a:cs typeface="Arial"/>
              </a:rPr>
              <a:t>[8] World Intellectual Property Organization, “Federal Decree-Law No. 38 of 2021 on Copyrights and Neighboring Rights, United Arab Emirates,” WIPO Lex, record AE060, 2021. Accessed: Sep. 28, 2026. [Online]. Available: </a:t>
            </a:r>
            <a:r>
              <a:rPr sz="1575" u="sng">
                <a:solidFill>
                  <a:srgbClr val="203440"/>
                </a:solidFill>
                <a:latin typeface="Arial"/>
                <a:ea typeface="Arial"/>
                <a:cs typeface="Arial"/>
                <a:hlinkClick xmlns:r="http://schemas.openxmlformats.org/officeDocument/2006/relationships" r:id="R8f70ac4ace134ef2"/>
              </a:rPr>
              <a:t>https://www.wipo.int/wipolex/en/legislation/details/21365</a:t>
            </a:r>
          </a:p>
        </p:txBody>
      </p:sp>
      <p:sp>
        <p:nvSpPr>
          <p:cNvPr id="5" name="reference-9">
            <a:extLst xmlns:a="http://schemas.openxmlformats.org/drawingml/2006/main">
              <a:ext uri="{FF2B5EF4-FFF2-40B4-BE49-F238E27FC236}">
                <a16:creationId xmlns:a16="http://schemas.microsoft.com/office/drawing/2014/main" id="{CD0766FD-8683-4A2D-9B41-C7753A7AC32A}"/>
              </a:ext>
            </a:extLst>
          </p:cNvPr>
          <p:cNvSpPr>
            <a:spLocks xmlns:a="http://schemas.openxmlformats.org/drawingml/2006/main" noGrp="1"/>
          </p:cNvSpPr>
          <p:nvPr/>
        </p:nvSpPr>
        <p:spPr>
          <a:xfrm xmlns:a="http://schemas.openxmlformats.org/drawingml/2006/main">
            <a:off x="533400" y="4572000"/>
            <a:ext cx="111252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203440"/>
                </a:solidFill>
                <a:latin typeface="Arial"/>
                <a:ea typeface="Arial"/>
                <a:cs typeface="Arial"/>
              </a:defRPr>
            </a:pPr>
            <a:r>
              <a:rPr sz="1575" b="0">
                <a:solidFill>
                  <a:srgbClr val="203440"/>
                </a:solidFill>
                <a:latin typeface="Arial"/>
                <a:ea typeface="Arial"/>
                <a:cs typeface="Arial"/>
              </a:rPr>
              <a:t/>
            </a:r>
          </a:p>
        </p:txBody>
      </p:sp>
    </p:spTree>
    <p:extLst>
      <p:ext uri="{BB962C8B-B14F-4D97-AF65-F5344CB8AC3E}">
        <p14:creationId xmlns:p14="http://schemas.microsoft.com/office/powerpoint/2010/main" val="9468989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2026-09-28T11:49:43.2170000Z</dcterms:created>
  <dcterms:modified xsi:type="dcterms:W3CDTF">2026-09-28T11:49:43.2170000Z</dcterms:modified>
</coreProperties>
</file>